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ppt/slides/charts/chart2.xml" ContentType="application/vnd.openxmlformats-officedocument.drawingml.chart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notesMasters/notesMaster1.xml" ContentType="application/vnd.openxmlformats-officedocument.presentationml.notesMaster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theme/theme1.xml" ContentType="application/vnd.openxmlformats-officedocument.theme+xml"/>
  <Override PartName="/ppt/slides/slide7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3.xml" ContentType="application/vnd.openxmlformats-officedocument.presentationml.slide+xml"/>
  <Override PartName="/ppt/theme/theme2.xml" ContentType="application/vnd.openxmlformats-officedocument.theme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2" Type="http://schemas.openxmlformats.org/officeDocument/2006/relationships/extended-properties" Target="docProps/app.xml" /><Relationship Id="rId1" Type="http://schemas.openxmlformats.org/package/2006/relationships/metadata/core-properties" Target="docProps/core.xml" /><Relationship Id="rId0" Type="http://schemas.openxmlformats.org/officeDocument/2006/relationships/officeDocument" Target="ppt/presentation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1">
  <p:sldMasterIdLst>
    <p:sldMasterId id="2147483648" r:id="rId0"/>
  </p:sldMasterIdLst>
  <p:notesMasterIdLst>
    <p:notesMasterId r:id="rId8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9" Type="http://schemas.openxmlformats.org/officeDocument/2006/relationships/presProps" Target="presProps.xml" /><Relationship Id="rId8" Type="http://schemas.openxmlformats.org/officeDocument/2006/relationships/notesMaster" Target="notesMasters/notesMaster1.xml" /><Relationship Id="rId6" Type="http://schemas.openxmlformats.org/officeDocument/2006/relationships/slide" Target="slides/slide6.xml" /><Relationship Id="rId5" Type="http://schemas.openxmlformats.org/officeDocument/2006/relationships/slide" Target="slides/slide5.xml" /><Relationship Id="rId4" Type="http://schemas.openxmlformats.org/officeDocument/2006/relationships/slide" Target="slides/slide4.xml" /><Relationship Id="rId1" Type="http://schemas.openxmlformats.org/officeDocument/2006/relationships/slide" Target="slides/slide1.xml" /><Relationship Id="rId2" Type="http://schemas.openxmlformats.org/officeDocument/2006/relationships/slide" Target="slides/slide2.xml" /><Relationship Id="rId0" Type="http://schemas.openxmlformats.org/officeDocument/2006/relationships/slideMaster" Target="slideMasters/slideMaster1.xml" /><Relationship Id="rId10" Type="http://schemas.openxmlformats.org/officeDocument/2006/relationships/tableStyles" Target="tableStyles.xml" /><Relationship Id="rId7" Type="http://schemas.openxmlformats.org/officeDocument/2006/relationships/slide" Target="slides/slide7.xml" /><Relationship Id="rId11" Type="http://schemas.openxmlformats.org/officeDocument/2006/relationships/viewProps" Target="viewProps.xml" /><Relationship Id="rId3" Type="http://schemas.openxmlformats.org/officeDocument/2006/relationships/slide" Target="slides/slide3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 /><Relationship Id="rId0" Type="http://schemas.openxmlformats.org/officeDocument/2006/relationships/slideLayout" Target="../slideLayouts/slideLayout1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0" Type="http://schemas.openxmlformats.org/officeDocument/2006/relationships/chart" Target="charts/chart1.xml" 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0" Type="http://schemas.openxmlformats.org/officeDocument/2006/relationships/chart" Target="charts/chart2.xml" /></Relationships>
</file>

<file path=ppt/slides/_rels/slide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charts/chart1.xml><?xml version="1.0" encoding="utf-8"?>
<c:chartSpace xmlns:c="http://schemas.openxmlformats.org/drawingml/2006/chart" xmlns:a="http://schemas.openxmlformats.org/drawingml/2006/main">
  <c:chart>
    <c:plotArea>
      <c:lineChart>
        <c:grouping val="stacked"/>
        <c:varyColors val="0"/>
        <c:ser>
          <c:idx val="0"/>
          <c:order val="0"/>
          <c:tx>
            <c:strRef>
              <c:f>sheet</c:f>
              <c:strCache>
                <c:ptCount val="1"/>
                <c:pt idx="0">
                  <c:v>实际负荷</c:v>
                </c:pt>
              </c:strCache>
            </c:strRef>
          </c:tx>
          <c:spPr>
            <a:ln w="19050" cap="flat">
              <a:solidFill>
                <a:srgbClr val="F8FAFC"/>
              </a:solidFill>
              <a:round/>
            </a:ln>
          </c:spPr>
          <c:cat>
            <c:strRef>
              <c:strCache>
                <c:ptCount val="24"/>
                <c:pt idx="0">
                  <c:v>00:00</c:v>
                </c:pt>
                <c:pt idx="1">
                  <c:v>01:00</c:v>
                </c:pt>
                <c:pt idx="2">
                  <c:v>02:00</c:v>
                </c:pt>
                <c:pt idx="3">
                  <c:v>03:00</c:v>
                </c:pt>
                <c:pt idx="4">
                  <c:v>04:00</c:v>
                </c:pt>
                <c:pt idx="5">
                  <c:v>05:00</c:v>
                </c:pt>
                <c:pt idx="6">
                  <c:v>06:00</c:v>
                </c:pt>
                <c:pt idx="7">
                  <c:v>07:00</c:v>
                </c:pt>
                <c:pt idx="8">
                  <c:v>08:00</c:v>
                </c:pt>
                <c:pt idx="9">
                  <c:v>09:00</c:v>
                </c:pt>
                <c:pt idx="10">
                  <c:v>10:00</c:v>
                </c:pt>
                <c:pt idx="11">
                  <c:v>11:00</c:v>
                </c:pt>
                <c:pt idx="12">
                  <c:v>12:00</c:v>
                </c:pt>
                <c:pt idx="13">
                  <c:v>13:00</c:v>
                </c:pt>
                <c:pt idx="14">
                  <c:v>14:00</c:v>
                </c:pt>
                <c:pt idx="15">
                  <c:v>15:00</c:v>
                </c:pt>
                <c:pt idx="16">
                  <c:v>16:00</c:v>
                </c:pt>
                <c:pt idx="17">
                  <c:v>17:00</c:v>
                </c:pt>
                <c:pt idx="18">
                  <c:v>18:00</c:v>
                </c:pt>
                <c:pt idx="19">
                  <c:v>19:00</c:v>
                </c:pt>
                <c:pt idx="20">
                  <c:v>20:00</c:v>
                </c:pt>
                <c:pt idx="21">
                  <c:v>21:00</c:v>
                </c:pt>
                <c:pt idx="22">
                  <c:v>22:00</c:v>
                </c:pt>
                <c:pt idx="23">
                  <c:v>23:00</c:v>
                </c:pt>
              </c:strCache>
            </c:strRef>
          </c:cat>
          <c:val>
            <c:numRef>
              <c:numCache>
                <c:formatCode>General</c:formatCode>
                <c:ptCount val="24"/>
                <c:pt idx="0">
                  <c:v>2280</c:v>
                </c:pt>
                <c:pt idx="1">
                  <c:v>2150</c:v>
                </c:pt>
                <c:pt idx="2">
                  <c:v>2090</c:v>
                </c:pt>
                <c:pt idx="3">
                  <c:v>2120</c:v>
                </c:pt>
                <c:pt idx="4">
                  <c:v>2260</c:v>
                </c:pt>
                <c:pt idx="5">
                  <c:v>2540</c:v>
                </c:pt>
                <c:pt idx="6">
                  <c:v>2850</c:v>
                </c:pt>
                <c:pt idx="7">
                  <c:v>3080</c:v>
                </c:pt>
                <c:pt idx="8">
                  <c:v>3180</c:v>
                </c:pt>
                <c:pt idx="9">
                  <c:v>3220</c:v>
                </c:pt>
                <c:pt idx="10">
                  <c:v>3300</c:v>
                </c:pt>
                <c:pt idx="11">
                  <c:v>3400</c:v>
                </c:pt>
                <c:pt idx="12">
                  <c:v>3460</c:v>
                </c:pt>
                <c:pt idx="13">
                  <c:v>3480</c:v>
                </c:pt>
                <c:pt idx="14">
                  <c:v>3520</c:v>
                </c:pt>
                <c:pt idx="15">
                  <c:v>3440</c:v>
                </c:pt>
                <c:pt idx="16">
                  <c:v>3380</c:v>
                </c:pt>
                <c:pt idx="17">
                  <c:v>3320</c:v>
                </c:pt>
                <c:pt idx="18">
                  <c:v>3260</c:v>
                </c:pt>
                <c:pt idx="19">
                  <c:v>3150</c:v>
                </c:pt>
                <c:pt idx="20">
                  <c:v>2980</c:v>
                </c:pt>
                <c:pt idx="21">
                  <c:v>2760</c:v>
                </c:pt>
                <c:pt idx="22">
                  <c:v>2540</c:v>
                </c:pt>
                <c:pt idx="23">
                  <c:v>2360</c:v>
                </c:pt>
              </c:numCache>
            </c:numRef>
          </c:val>
        </c:ser>
        <c:ser>
          <c:idx val="1"/>
          <c:order val="1"/>
          <c:tx>
            <c:strRef>
              <c:f>sheet</c:f>
              <c:strCache>
                <c:ptCount val="1"/>
                <c:pt idx="0">
                  <c:v>预测负荷</c:v>
                </c:pt>
              </c:strCache>
            </c:strRef>
          </c:tx>
          <c:spPr>
            <a:ln w="19050" cap="flat">
              <a:solidFill>
                <a:srgbClr val="22D3EE"/>
              </a:solidFill>
              <a:round/>
            </a:ln>
          </c:spPr>
          <c:cat>
            <c:strRef>
              <c:strCache>
                <c:ptCount val="24"/>
                <c:pt idx="0">
                  <c:v>00:00</c:v>
                </c:pt>
                <c:pt idx="1">
                  <c:v>01:00</c:v>
                </c:pt>
                <c:pt idx="2">
                  <c:v>02:00</c:v>
                </c:pt>
                <c:pt idx="3">
                  <c:v>03:00</c:v>
                </c:pt>
                <c:pt idx="4">
                  <c:v>04:00</c:v>
                </c:pt>
                <c:pt idx="5">
                  <c:v>05:00</c:v>
                </c:pt>
                <c:pt idx="6">
                  <c:v>06:00</c:v>
                </c:pt>
                <c:pt idx="7">
                  <c:v>07:00</c:v>
                </c:pt>
                <c:pt idx="8">
                  <c:v>08:00</c:v>
                </c:pt>
                <c:pt idx="9">
                  <c:v>09:00</c:v>
                </c:pt>
                <c:pt idx="10">
                  <c:v>10:00</c:v>
                </c:pt>
                <c:pt idx="11">
                  <c:v>11:00</c:v>
                </c:pt>
                <c:pt idx="12">
                  <c:v>12:00</c:v>
                </c:pt>
                <c:pt idx="13">
                  <c:v>13:00</c:v>
                </c:pt>
                <c:pt idx="14">
                  <c:v>14:00</c:v>
                </c:pt>
                <c:pt idx="15">
                  <c:v>15:00</c:v>
                </c:pt>
                <c:pt idx="16">
                  <c:v>16:00</c:v>
                </c:pt>
                <c:pt idx="17">
                  <c:v>17:00</c:v>
                </c:pt>
                <c:pt idx="18">
                  <c:v>18:00</c:v>
                </c:pt>
                <c:pt idx="19">
                  <c:v>19:00</c:v>
                </c:pt>
                <c:pt idx="20">
                  <c:v>20:00</c:v>
                </c:pt>
                <c:pt idx="21">
                  <c:v>21:00</c:v>
                </c:pt>
                <c:pt idx="22">
                  <c:v>22:00</c:v>
                </c:pt>
                <c:pt idx="23">
                  <c:v>23:00</c:v>
                </c:pt>
              </c:strCache>
            </c:strRef>
          </c:cat>
          <c:val>
            <c:numRef>
              <c:numCache>
                <c:formatCode>General</c:formatCode>
                <c:ptCount val="24"/>
                <c:pt idx="0">
                  <c:v>2180</c:v>
                </c:pt>
                <c:pt idx="1">
                  <c:v>2080</c:v>
                </c:pt>
                <c:pt idx="2">
                  <c:v>2020</c:v>
                </c:pt>
                <c:pt idx="3">
                  <c:v>2050</c:v>
                </c:pt>
                <c:pt idx="4">
                  <c:v>2160</c:v>
                </c:pt>
                <c:pt idx="5">
                  <c:v>2420</c:v>
                </c:pt>
                <c:pt idx="6">
                  <c:v>2720</c:v>
                </c:pt>
                <c:pt idx="7">
                  <c:v>2950</c:v>
                </c:pt>
                <c:pt idx="8">
                  <c:v>3060</c:v>
                </c:pt>
                <c:pt idx="9">
                  <c:v>3120</c:v>
                </c:pt>
                <c:pt idx="10">
                  <c:v>3180</c:v>
                </c:pt>
                <c:pt idx="11">
                  <c:v>3240</c:v>
                </c:pt>
                <c:pt idx="12">
                  <c:v>3300</c:v>
                </c:pt>
                <c:pt idx="13">
                  <c:v>3320</c:v>
                </c:pt>
                <c:pt idx="14">
                  <c:v>3260</c:v>
                </c:pt>
                <c:pt idx="15">
                  <c:v>3200</c:v>
                </c:pt>
                <c:pt idx="16">
                  <c:v>3160</c:v>
                </c:pt>
                <c:pt idx="17">
                  <c:v>3120</c:v>
                </c:pt>
                <c:pt idx="18">
                  <c:v>3080</c:v>
                </c:pt>
                <c:pt idx="19">
                  <c:v>2980</c:v>
                </c:pt>
                <c:pt idx="20">
                  <c:v>2860</c:v>
                </c:pt>
                <c:pt idx="21">
                  <c:v>2680</c:v>
                </c:pt>
                <c:pt idx="22">
                  <c:v>2460</c:v>
                </c:pt>
                <c:pt idx="23">
                  <c:v>2300</c:v>
                </c:pt>
              </c:numCache>
            </c:numRef>
          </c:val>
        </c:ser>
        <c:marker/>
        <c:axId val="89736801"/>
        <c:axId val="89736802"/>
      </c:lineChart>
      <c:catAx>
        <c:axId val="8973680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 w="9525" cap="flat">
            <a:solidFill>
              <a:srgbClr val="D9D9D9"/>
            </a:solidFill>
            <a:round/>
          </a:ln>
          <a:effectLst/>
        </c:spPr>
        <c:txPr>
          <a:bodyPr/>
          <a:p>
            <a:pPr>
              <a:defRPr sz="900">
                <a:solidFill>
                  <a:srgbClr val="64748B"/>
                </a:solidFill>
              </a:defRPr>
            </a:pPr>
          </a:p>
        </c:txPr>
        <c:crossAx val="89736802"/>
      </c:catAx>
      <c:valAx>
        <c:axId val="89736802"/>
        <c:scaling>
          <c:orientation val="minMax"/>
        </c:scaling>
        <c:delete val="0"/>
        <c:axPos val="l"/>
        <c:majorGridlines>
          <c:spPr>
            <a:noFill/>
            <a:ln w="9525" cap="flat">
              <a:solidFill>
                <a:srgbClr val="D9D9D9"/>
              </a:solidFill>
              <a:round/>
            </a:ln>
            <a:effectLst/>
          </c:spPr>
        </c:majorGridlines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/>
          <a:p>
            <a:pPr>
              <a:defRPr sz="900">
                <a:solidFill>
                  <a:srgbClr val="64748B"/>
                </a:solidFill>
              </a:defRPr>
            </a:pPr>
          </a:p>
        </c:txPr>
        <c:crossAx val="89736801"/>
        <c:crossBetween val="between"/>
      </c:valAx>
      <c:spPr>
        <a:solidFill>
          <a:srgbClr val="0A1D37"/>
        </a:solidFill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/>
        <a:p>
          <a:pPr>
            <a:defRPr sz="900">
              <a:solidFill>
                <a:srgbClr val="94A3B8"/>
              </a:solidFill>
            </a:defRPr>
          </a:pPr>
        </a:p>
      </c:txPr>
    </c:legend>
    <c:dispBlanksAs val="gap"/>
  </c:chart>
</c:chartSpace>
</file>

<file path=ppt/slides/charts/chart2.xml><?xml version="1.0" encoding="utf-8"?>
<c:chartSpace xmlns:c="http://schemas.openxmlformats.org/drawingml/2006/chart" xmlns:a="http://schemas.openxmlformats.org/drawingml/2006/main">
  <c:chart>
    <c:plotArea>
      <c:lineChart>
        <c:grouping val="stacked"/>
        <c:varyColors val="0"/>
        <c:ser>
          <c:idx val="0"/>
          <c:order val="0"/>
          <c:tx>
            <c:strRef>
              <c:f>sheet</c:f>
              <c:strCache>
                <c:ptCount val="1"/>
                <c:pt idx="0">
                  <c:v>静态 WAPE</c:v>
                </c:pt>
              </c:strCache>
            </c:strRef>
          </c:tx>
          <c:spPr>
            <a:ln w="19050" cap="flat">
              <a:solidFill>
                <a:srgbClr val="94A3B8"/>
              </a:solidFill>
              <a:round/>
            </a:ln>
          </c:spPr>
          <c:cat>
            <c:strRef>
              <c:strCache>
                <c:ptCount val="32"/>
                <c:pt idx="0">
                  <c:v>16-01</c:v>
                </c:pt>
                <c:pt idx="1">
                  <c:v>16-02</c:v>
                </c:pt>
                <c:pt idx="2">
                  <c:v>16-03</c:v>
                </c:pt>
                <c:pt idx="3">
                  <c:v>16-04</c:v>
                </c:pt>
                <c:pt idx="4">
                  <c:v>16-05</c:v>
                </c:pt>
                <c:pt idx="5">
                  <c:v>16-06</c:v>
                </c:pt>
                <c:pt idx="6">
                  <c:v>16-07</c:v>
                </c:pt>
                <c:pt idx="7">
                  <c:v>16-08</c:v>
                </c:pt>
                <c:pt idx="8">
                  <c:v>16-09</c:v>
                </c:pt>
                <c:pt idx="9">
                  <c:v>16-10</c:v>
                </c:pt>
                <c:pt idx="10">
                  <c:v>16-11</c:v>
                </c:pt>
                <c:pt idx="11">
                  <c:v>16-12</c:v>
                </c:pt>
                <c:pt idx="12">
                  <c:v>17-01</c:v>
                </c:pt>
                <c:pt idx="13">
                  <c:v>17-02</c:v>
                </c:pt>
                <c:pt idx="14">
                  <c:v>17-03</c:v>
                </c:pt>
                <c:pt idx="15">
                  <c:v>17-04</c:v>
                </c:pt>
                <c:pt idx="16">
                  <c:v>17-05</c:v>
                </c:pt>
                <c:pt idx="17">
                  <c:v>17-06</c:v>
                </c:pt>
                <c:pt idx="18">
                  <c:v>17-07</c:v>
                </c:pt>
                <c:pt idx="19">
                  <c:v>17-08</c:v>
                </c:pt>
                <c:pt idx="20">
                  <c:v>17-09</c:v>
                </c:pt>
                <c:pt idx="21">
                  <c:v>17-10</c:v>
                </c:pt>
                <c:pt idx="22">
                  <c:v>17-11</c:v>
                </c:pt>
                <c:pt idx="23">
                  <c:v>17-12</c:v>
                </c:pt>
                <c:pt idx="24">
                  <c:v>18-01</c:v>
                </c:pt>
                <c:pt idx="25">
                  <c:v>18-02</c:v>
                </c:pt>
                <c:pt idx="26">
                  <c:v>18-03</c:v>
                </c:pt>
                <c:pt idx="27">
                  <c:v>18-04</c:v>
                </c:pt>
                <c:pt idx="28">
                  <c:v>18-05</c:v>
                </c:pt>
                <c:pt idx="29">
                  <c:v>18-06</c:v>
                </c:pt>
                <c:pt idx="30">
                  <c:v>18-07</c:v>
                </c:pt>
                <c:pt idx="31">
                  <c:v>18-08</c:v>
                </c:pt>
              </c:strCache>
            </c:strRef>
          </c:cat>
          <c:val>
            <c:numRef>
              <c:numCache>
                <c:formatCode>General</c:formatCode>
                <c:ptCount val="32"/>
                <c:pt idx="0">
                  <c:v>4.5448</c:v>
                </c:pt>
                <c:pt idx="1">
                  <c:v>4.4292</c:v>
                </c:pt>
                <c:pt idx="2">
                  <c:v>3.2708</c:v>
                </c:pt>
                <c:pt idx="3">
                  <c:v>3.3004</c:v>
                </c:pt>
                <c:pt idx="4">
                  <c:v>2.8832</c:v>
                </c:pt>
                <c:pt idx="5">
                  <c:v>3.9656</c:v>
                </c:pt>
                <c:pt idx="6">
                  <c:v>3.5909</c:v>
                </c:pt>
                <c:pt idx="7">
                  <c:v>3.5359</c:v>
                </c:pt>
                <c:pt idx="8">
                  <c:v>4.2052</c:v>
                </c:pt>
                <c:pt idx="9">
                  <c:v>2.8927</c:v>
                </c:pt>
                <c:pt idx="10">
                  <c:v>3.2834</c:v>
                </c:pt>
                <c:pt idx="11">
                  <c:v>4.0062</c:v>
                </c:pt>
                <c:pt idx="12">
                  <c:v>4.305</c:v>
                </c:pt>
                <c:pt idx="13">
                  <c:v>4.592</c:v>
                </c:pt>
                <c:pt idx="14">
                  <c:v>3.8754</c:v>
                </c:pt>
                <c:pt idx="15">
                  <c:v>3.479</c:v>
                </c:pt>
                <c:pt idx="16">
                  <c:v>3.9822</c:v>
                </c:pt>
                <c:pt idx="17">
                  <c:v>3.7651</c:v>
                </c:pt>
                <c:pt idx="18">
                  <c:v>3.7563</c:v>
                </c:pt>
                <c:pt idx="19">
                  <c:v>3.2999</c:v>
                </c:pt>
                <c:pt idx="20">
                  <c:v>3.6859</c:v>
                </c:pt>
                <c:pt idx="21">
                  <c:v>3.2119</c:v>
                </c:pt>
                <c:pt idx="22">
                  <c:v>3.6483</c:v>
                </c:pt>
                <c:pt idx="23">
                  <c:v>4.1561</c:v>
                </c:pt>
                <c:pt idx="24">
                  <c:v>4.8647</c:v>
                </c:pt>
                <c:pt idx="25">
                  <c:v>4.2964</c:v>
                </c:pt>
                <c:pt idx="26">
                  <c:v>4.3352</c:v>
                </c:pt>
                <c:pt idx="27">
                  <c:v>4.1911</c:v>
                </c:pt>
                <c:pt idx="28">
                  <c:v>4.3633</c:v>
                </c:pt>
                <c:pt idx="29">
                  <c:v>4.2547</c:v>
                </c:pt>
                <c:pt idx="30">
                  <c:v>3.8659</c:v>
                </c:pt>
                <c:pt idx="31">
                  <c:v>3.5641</c:v>
                </c:pt>
              </c:numCache>
            </c:numRef>
          </c:val>
        </c:ser>
        <c:ser>
          <c:idx val="1"/>
          <c:order val="1"/>
          <c:tx>
            <c:strRef>
              <c:f>sheet</c:f>
              <c:strCache>
                <c:ptCount val="1"/>
                <c:pt idx="0">
                  <c:v>动态 WAPE</c:v>
                </c:pt>
              </c:strCache>
            </c:strRef>
          </c:tx>
          <c:spPr>
            <a:ln w="19050" cap="flat">
              <a:solidFill>
                <a:srgbClr val="22D3EE"/>
              </a:solidFill>
              <a:round/>
            </a:ln>
          </c:spPr>
          <c:cat>
            <c:strRef>
              <c:strCache>
                <c:ptCount val="32"/>
                <c:pt idx="0">
                  <c:v>16-01</c:v>
                </c:pt>
                <c:pt idx="1">
                  <c:v>16-02</c:v>
                </c:pt>
                <c:pt idx="2">
                  <c:v>16-03</c:v>
                </c:pt>
                <c:pt idx="3">
                  <c:v>16-04</c:v>
                </c:pt>
                <c:pt idx="4">
                  <c:v>16-05</c:v>
                </c:pt>
                <c:pt idx="5">
                  <c:v>16-06</c:v>
                </c:pt>
                <c:pt idx="6">
                  <c:v>16-07</c:v>
                </c:pt>
                <c:pt idx="7">
                  <c:v>16-08</c:v>
                </c:pt>
                <c:pt idx="8">
                  <c:v>16-09</c:v>
                </c:pt>
                <c:pt idx="9">
                  <c:v>16-10</c:v>
                </c:pt>
                <c:pt idx="10">
                  <c:v>16-11</c:v>
                </c:pt>
                <c:pt idx="11">
                  <c:v>16-12</c:v>
                </c:pt>
                <c:pt idx="12">
                  <c:v>17-01</c:v>
                </c:pt>
                <c:pt idx="13">
                  <c:v>17-02</c:v>
                </c:pt>
                <c:pt idx="14">
                  <c:v>17-03</c:v>
                </c:pt>
                <c:pt idx="15">
                  <c:v>17-04</c:v>
                </c:pt>
                <c:pt idx="16">
                  <c:v>17-05</c:v>
                </c:pt>
                <c:pt idx="17">
                  <c:v>17-06</c:v>
                </c:pt>
                <c:pt idx="18">
                  <c:v>17-07</c:v>
                </c:pt>
                <c:pt idx="19">
                  <c:v>17-08</c:v>
                </c:pt>
                <c:pt idx="20">
                  <c:v>17-09</c:v>
                </c:pt>
                <c:pt idx="21">
                  <c:v>17-10</c:v>
                </c:pt>
                <c:pt idx="22">
                  <c:v>17-11</c:v>
                </c:pt>
                <c:pt idx="23">
                  <c:v>17-12</c:v>
                </c:pt>
                <c:pt idx="24">
                  <c:v>18-01</c:v>
                </c:pt>
                <c:pt idx="25">
                  <c:v>18-02</c:v>
                </c:pt>
                <c:pt idx="26">
                  <c:v>18-03</c:v>
                </c:pt>
                <c:pt idx="27">
                  <c:v>18-04</c:v>
                </c:pt>
                <c:pt idx="28">
                  <c:v>18-05</c:v>
                </c:pt>
                <c:pt idx="29">
                  <c:v>18-06</c:v>
                </c:pt>
                <c:pt idx="30">
                  <c:v>18-07</c:v>
                </c:pt>
                <c:pt idx="31">
                  <c:v>18-08</c:v>
                </c:pt>
              </c:strCache>
            </c:strRef>
          </c:cat>
          <c:val>
            <c:numRef>
              <c:numCache>
                <c:formatCode>General</c:formatCode>
                <c:ptCount val="32"/>
                <c:pt idx="0">
                  <c:v>4.5448</c:v>
                </c:pt>
                <c:pt idx="1">
                  <c:v>4.2311</c:v>
                </c:pt>
                <c:pt idx="2">
                  <c:v>3.0051</c:v>
                </c:pt>
                <c:pt idx="3">
                  <c:v>3.1009</c:v>
                </c:pt>
                <c:pt idx="4">
                  <c:v>2.7354</c:v>
                </c:pt>
                <c:pt idx="5">
                  <c:v>3.6806</c:v>
                </c:pt>
                <c:pt idx="6">
                  <c:v>3.61</c:v>
                </c:pt>
                <c:pt idx="7">
                  <c:v>3.3589</c:v>
                </c:pt>
                <c:pt idx="8">
                  <c:v>4.0221</c:v>
                </c:pt>
                <c:pt idx="9">
                  <c:v>2.6459</c:v>
                </c:pt>
                <c:pt idx="10">
                  <c:v>2.8776</c:v>
                </c:pt>
                <c:pt idx="11">
                  <c:v>3.9155</c:v>
                </c:pt>
                <c:pt idx="12">
                  <c:v>4.0186</c:v>
                </c:pt>
                <c:pt idx="13">
                  <c:v>4.2749</c:v>
                </c:pt>
                <c:pt idx="14">
                  <c:v>3.6176</c:v>
                </c:pt>
                <c:pt idx="15">
                  <c:v>3.1714</c:v>
                </c:pt>
                <c:pt idx="16">
                  <c:v>3.6762</c:v>
                </c:pt>
                <c:pt idx="17">
                  <c:v>3.6524</c:v>
                </c:pt>
                <c:pt idx="18">
                  <c:v>3.4687</c:v>
                </c:pt>
                <c:pt idx="19">
                  <c:v>3.2072</c:v>
                </c:pt>
                <c:pt idx="20">
                  <c:v>3.3214</c:v>
                </c:pt>
                <c:pt idx="21">
                  <c:v>2.9114</c:v>
                </c:pt>
                <c:pt idx="22">
                  <c:v>3.315</c:v>
                </c:pt>
                <c:pt idx="23">
                  <c:v>3.9405</c:v>
                </c:pt>
                <c:pt idx="24">
                  <c:v>4.8506</c:v>
                </c:pt>
                <c:pt idx="25">
                  <c:v>4.1074</c:v>
                </c:pt>
                <c:pt idx="26">
                  <c:v>4.0496</c:v>
                </c:pt>
                <c:pt idx="27">
                  <c:v>3.8786</c:v>
                </c:pt>
                <c:pt idx="28">
                  <c:v>4.0013</c:v>
                </c:pt>
                <c:pt idx="29">
                  <c:v>3.8982</c:v>
                </c:pt>
                <c:pt idx="30">
                  <c:v>3.7938</c:v>
                </c:pt>
                <c:pt idx="31">
                  <c:v>3.1085</c:v>
                </c:pt>
              </c:numCache>
            </c:numRef>
          </c:val>
        </c:ser>
        <c:marker/>
        <c:axId val="89736801"/>
        <c:axId val="89736802"/>
      </c:lineChart>
      <c:catAx>
        <c:axId val="8973680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 w="9525" cap="flat">
            <a:solidFill>
              <a:srgbClr val="D9D9D9"/>
            </a:solidFill>
            <a:round/>
          </a:ln>
          <a:effectLst/>
        </c:spPr>
        <c:txPr>
          <a:bodyPr/>
          <a:p>
            <a:pPr>
              <a:defRPr sz="900">
                <a:solidFill>
                  <a:srgbClr val="64748B"/>
                </a:solidFill>
              </a:defRPr>
            </a:pPr>
          </a:p>
        </c:txPr>
        <c:crossAx val="89736802"/>
      </c:catAx>
      <c:valAx>
        <c:axId val="89736802"/>
        <c:scaling>
          <c:orientation val="minMax"/>
        </c:scaling>
        <c:delete val="0"/>
        <c:axPos val="l"/>
        <c:majorGridlines>
          <c:spPr>
            <a:noFill/>
            <a:ln w="9525" cap="flat">
              <a:solidFill>
                <a:srgbClr val="D9D9D9"/>
              </a:solidFill>
              <a:round/>
            </a:ln>
            <a:effectLst/>
          </c:spPr>
        </c:majorGridlines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/>
          <a:p>
            <a:pPr>
              <a:defRPr sz="900">
                <a:solidFill>
                  <a:srgbClr val="64748B"/>
                </a:solidFill>
              </a:defRPr>
            </a:pPr>
          </a:p>
        </c:txPr>
        <c:crossAx val="89736801"/>
        <c:crossBetween val="between"/>
      </c:valAx>
      <c:spPr>
        <a:solidFill>
          <a:srgbClr val="123B63"/>
        </a:solidFill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/>
        <a:p>
          <a:pPr>
            <a:defRPr sz="900">
              <a:solidFill>
                <a:srgbClr val="94A3B8"/>
              </a:solidFill>
            </a:defRPr>
          </a:pPr>
        </a:p>
      </c:txPr>
    </c:legend>
    <c:dispBlanksAs val="gap"/>
  </c:chart>
</c:chartSpace>
</file>

<file path=ppt/slides/slide1.xml><?xml version="1.0" encoding="utf-8"?>
<p:sld xmlns:c="http://schemas.openxmlformats.org/drawingml/2006/chart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1280, height: 720, background: '#0A1D37', position: 'relative', overflow: 'hidden' }}&gt;&#10;    &lt;Box style={{ position: 'absolute', right: -120, top: -180, width: 440, height: 440, borderRadius: 220, background: 'rgba(34,211,238,0.05)' }} /&gt;&#10;    &lt;Box style={{ position: 'absolute', left: 340, bottom: -220, width: 380, height: 380, borderRadius: 190, background: 'rgba(34,211,238,0.04)' }} /&gt;&#10;&#10;    &lt;Box style={{ position: 'absolute', left: 64, top: 42, flexDirection: 'row', alignItems: 'center', gap: 10 }}&gt;&#10;        &lt;Box style={{ padding: '5px 12px', border: '1px solid #123B63', borderRadius: 6 }}&gt;&#10;            &lt;Text style={{ fontSize: 12.5, color: '#94A3B8' }}&gt;AI Agent&lt;/Text&gt;&#10;        &lt;/Box&gt;&#10;        &lt;Box style={{ padding: '5px 12px', border: '1px solid #123B63', borderRadius: 6 }}&gt;&#10;            &lt;Text style={{ fontSize: 12.5, color: '#94A3B8' }}&gt;持续学习闭环&lt;/Text&gt;&#10;        &lt;/Box&gt;&#10;        &lt;Box style={{ padding: '5px 12px', border: '1px solid #123B63', borderRadius: 6 }}&gt;&#10;            &lt;Text style={{ fontSize: 12.5, color: '#94A3B8' }}&gt;电力时序预测&lt;/Text&gt;&#10;        &lt;/Box&gt;&#10;    &lt;/Box&gt;&#10;    &lt;Box style={{ position: 'absolute', right: 64, top: 42, flexDirection: 'row', alignItems: 'center', gap: 8 }}&gt;&#10;        &lt;Box style={{ width: 8, height: 8, background: '#22D3EE' }} /&gt;&#10;        &lt;Text style={{ fontSize: 12.5, color: '#94A3B8' }}&gt;投资人 × 产业客户 · 路演版 · 2026&lt;/Text&gt;&#10;    &lt;/Box&gt;&#10;&#10;    &lt;Chart&#10;        style={{ position: 'absolute', left: 470, top: 116, width: 740, height: 430 }}&#10;        chartType='lineChart'&#10;        background='#0A1D37'&#10;        showLegend={true}&#10;        legendColor='#94A3B8'&#10;        axisColor='#64748B'&#10;        colors={['#F8FAFC', '#22D3EE']}&#10;        data={[&#10;            ['小时', '实际负荷', '预测负荷'],&#10;            ['00:00', 2280, 2180],&#10;            ['01:00', 2150, 2080],&#10;            ['02:00', 2090, 2020],&#10;            ['03:00', 2120, 2050],&#10;            ['04:00', 2260, 2160],&#10;            ['05:00', 2540, 2420],&#10;            ['06:00', 2850, 2720],&#10;            ['07:00', 3080, 2950],&#10;            ['08:00', 3180, 3060],&#10;            ['09:00', 3220, 3120],&#10;            ['10:00', 3300, 3180],&#10;            ['11:00', 3400, 3240],&#10;            ['12:00', 3460, 3300],&#10;            ['13:00', 3480, 3320],&#10;            ['14:00', 3520, 3260],&#10;            ['15:00', 3440, 3200],&#10;            ['16:00', 3380, 3160],&#10;            ['17:00', 3320, 3120],&#10;            ['18:00', 3260, 3080],&#10;            ['19:00', 3150, 2980],&#10;            ['20:00', 2980, 2860],&#10;            ['21:00', 2760, 2680],&#10;            ['22:00', 2540, 2460],&#10;            ['23:00', 2360, 2300],&#10;        ]}&#10;    /&gt;&#10;    &lt;Box style={{ position: 'absolute', left: 828, top: 168, width: 164, height: 286, background: '#F59E0B', opacity: 0.06 }} /&gt;&#10;    &lt;Box style={{ position: 'absolute', left: 910, top: 168, width: 2, height: 286, background: '#F59E0B', opacity: 0.7 }} /&gt;&#10;    &lt;Text style={{ position: 'absolute', left: 480, top: 552, fontSize: 13, color: '#64748B' }}&gt;未来 24 小时负荷曲线 · 实际 vs 预测&lt;/Text&gt;&#10;    &lt;Text style={{ position: 'absolute', left: 925, top: 140, fontSize: 15, fontWeight: 'bold', color: '#F8FAFC' }}&gt;实际峰值&lt;/Text&gt;&#10;    &lt;Text style={{ position: 'absolute', left: 925, top: 188, fontSize: 15, fontWeight: 'bold', color: '#F59E0B' }}&gt;未预见峰值&lt;/Text&gt;&#10;    &lt;Text style={{ position: 'absolute', left: 925, top: 236, fontSize: 15, color: '#22D3EE' }}&gt;预测负荷&lt;/Text&gt;&#10;&#10;    &lt;Text style={{ position: 'absolute', left: 64, top: 116, fontSize: 14, color: '#22D3EE', letterSpacing: 3, fontFamily: 'Space Grotesk, Inter, sans-serif' }}&gt;AGENT · CONTINUAL LEARNING ENGINE&lt;/Text&gt;&#10;    &lt;Text style={{ position: 'absolute', left: 64, top: 154, fontSize: 50, fontWeight: 'bold', color: '#F8FAFC', lineHeight: 1.25 }}&gt;面向电力负荷预测&lt;/Text&gt;&#10;    &lt;Text style={{ position: 'absolute', left: 64, top: 218, fontSize: 50, fontWeight: 'bold', color: '#F8FAFC', lineHeight: 1.25 }}&gt;持续学习的智能引擎&lt;/Text&gt;&#10;    &lt;Box style={{ position: 'absolute', left: 64, top: 294, width: 48, height: 5, background: '#22D3EE' }} /&gt;&#10;    &lt;Text style={{ position: 'absolute', left: 64, top: 318, fontSize: 23, color: '#F8FAFC' }}&gt;让 &lt;span style={{ color: '#22D3EE', fontWeight: 'bold' }}&gt;Agent&lt;/span&gt; 指导小模型持续学习&lt;/Text&gt;&#10;    &lt;Text style={{ position: 'absolute', left: 64, top: 376, width: 390, fontSize: 15.5, color: '#94A3B8', lineHeight: 1.8 }}&gt;如果无法准确预测用电负荷峰值何时到来，就无法及时安排应对措施，变压器可能持续重过载，进而造成设备损坏。&lt;/Text&gt;&#10;&#10;    &lt;Box style={{ position: 'absolute', left: 64, top: 502, width: 396, flexDirection: 'row', alignItems: 'stretch' }}&gt;&#10;        &lt;Box style={{ flex: 1 }}&gt;&#10;            &lt;Text style={{ fontSize: 24, fontWeight: 'bold', color: '#22D3EE', fontFamily: 'Space Grotesk, Inter, sans-serif' }}&gt;5.6%&lt;/Text&gt;&#10;            &lt;Text style={{ fontSize: 11.5, color: '#94A3B8', marginTop: 4 }}&gt;WAPE 相对改善&lt;/Text&gt;&#10;        &lt;/Box&gt;&#10;        &lt;Box style={{ width: 1, background: '#123B63', margin: '0 14px' }} /&gt;&#10;        &lt;Box style={{ flex: 1 }}&gt;&#10;            &lt;Text style={{ fontSize: 24, fontWeight: 'bold', color: '#22D3EE', fontFamily: 'Space Grotesk, Inter, sans-serif' }}&gt;31/32&lt;/Text&gt;&#10;            &lt;Text style={{ fontSize: 11.5, color: '#94A3B8', marginTop: 4 }}&gt;个月动态模型更优&lt;/Text&gt;&#10;        &lt;/Box&gt;&#10;        &lt;Box style={{ width: 1, background: '#123B63', margin: '0 14px' }} /&gt;&#10;        &lt;Box style={{ flex: 1 }}&gt;&#10;            &lt;Text style={{ fontSize: 24, fontWeight: 'bold', color: '#22D3EE', fontFamily: 'Space Grotesk, Inter, sans-serif' }}&gt;−20.34&lt;/Text&gt;&#10;            &lt;Text style={{ fontSize: 11.5, color: '#94A3B8', marginTop: 4 }}&gt;MW · MAE 绝对降幅&lt;/Text&gt;&#10;        &lt;/Box&gt;&#10;    &lt;/Box&gt;&#10;&#10;    &lt;Box style={{ position: 'absolute', left: 64, bottom: 92, flexDirection: 'row', alignItems: 'center', gap: 10 }}&gt;&#10;        &lt;Text style={{ fontSize: 11.5, color: '#64748B', marginRight: 2 }}&gt;风险链&lt;/Text&gt;&#10;        &lt;Box style={{ padding: '6px 14px', border: '1px solid #123B63', borderRadius: 6 }}&gt;&#10;            &lt;Text style={{ fontSize: 15, color: '#F59E0B' }}&gt;未预见峰值&lt;/Text&gt;&#10;        &lt;/Box&gt;&#10;        &lt;Text style={{ fontSize: 18, color: '#64748B' }}&gt;→&lt;/Text&gt;&#10;        &lt;Box style={{ padding: '6px 14px', border: '1px solid #123B63', borderRadius: 6 }}&gt;&#10;            &lt;Text style={{ fontSize: 15, color: '#F59E0B' }}&gt;持续重过载&lt;/Text&gt;&#10;        &lt;/Box&gt;&#10;        &lt;Text style={{ fontSize: 18, color: '#64748B' }}&gt;→&lt;/Text&gt;&#10;        &lt;Box style={{ padding: '6px 14px', border: '1px solid #123B63', borderRadius: 6 }}&gt;&#10;            &lt;Text style={{ fontSize: 15, color: '#F59E0B' }}&gt;设备损坏&lt;/Text&gt;&#10;        &lt;/Box&gt;&#10;    &lt;/Box&gt;&#10;&#10;    &lt;Text style={{ position: 'absolute', left: 64, bottom: 30, fontSize: 12, color: '#64748B' }}&gt;面向电力负荷预测持续学习的智能引擎 · 投资人 × 产业客户路演 · 2026&lt;/Text&gt;&#10;    &lt;Box style={{ position: 'absolute', right: 64, bottom: 26, flexDirection: 'row', alignItems: 'center', gap: 8 }}&gt;&#10;        &lt;Box style={{ width: 10, height: 10, background: '#22D3EE' }} /&gt;&#10;        &lt;Text style={{ fontSize: 13, color: '#94A3B8' }}&gt;CLE · 01 / 07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A1D37"/>
          </a:solidFill>
          <a:ln/>
        </p:spPr>
        <p:txBody>
          <a:bodyPr/>
          <a:p/>
        </p:txBody>
      </p:sp>
      <p:sp>
        <p:nvSpPr>
          <p:cNvPr id="3" name=""/>
          <p:cNvSpPr/>
          <p:nvPr/>
        </p:nvSpPr>
        <p:spPr>
          <a:xfrm rot="0" flipH="0" flipV="0">
            <a:off x="9144000" y="-1714500"/>
            <a:ext cx="4191000" cy="4191000"/>
          </a:xfrm>
          <a:custGeom>
            <a:pathLst>
              <a:path w="440" h="440">
                <a:moveTo>
                  <a:pt x="320" y="416"/>
                </a:moveTo>
                <a:lnTo>
                  <a:pt x="315" y="418"/>
                </a:lnTo>
                <a:lnTo>
                  <a:pt x="311" y="421"/>
                </a:lnTo>
                <a:lnTo>
                  <a:pt x="306" y="423"/>
                </a:lnTo>
                <a:lnTo>
                  <a:pt x="301" y="425"/>
                </a:lnTo>
                <a:lnTo>
                  <a:pt x="296" y="427"/>
                </a:lnTo>
                <a:lnTo>
                  <a:pt x="291" y="428"/>
                </a:lnTo>
                <a:lnTo>
                  <a:pt x="285" y="430"/>
                </a:lnTo>
                <a:lnTo>
                  <a:pt x="280" y="432"/>
                </a:lnTo>
                <a:lnTo>
                  <a:pt x="275" y="433"/>
                </a:lnTo>
                <a:lnTo>
                  <a:pt x="270" y="434"/>
                </a:lnTo>
                <a:lnTo>
                  <a:pt x="264" y="436"/>
                </a:lnTo>
                <a:lnTo>
                  <a:pt x="259" y="437"/>
                </a:lnTo>
                <a:lnTo>
                  <a:pt x="253" y="437"/>
                </a:lnTo>
                <a:lnTo>
                  <a:pt x="248" y="438"/>
                </a:lnTo>
                <a:lnTo>
                  <a:pt x="242" y="439"/>
                </a:lnTo>
                <a:lnTo>
                  <a:pt x="237" y="439"/>
                </a:lnTo>
                <a:lnTo>
                  <a:pt x="231" y="440"/>
                </a:lnTo>
                <a:lnTo>
                  <a:pt x="226" y="440"/>
                </a:lnTo>
                <a:lnTo>
                  <a:pt x="220" y="440"/>
                </a:lnTo>
                <a:lnTo>
                  <a:pt x="214" y="440"/>
                </a:lnTo>
                <a:lnTo>
                  <a:pt x="209" y="440"/>
                </a:lnTo>
                <a:lnTo>
                  <a:pt x="203" y="439"/>
                </a:lnTo>
                <a:lnTo>
                  <a:pt x="198" y="439"/>
                </a:lnTo>
                <a:lnTo>
                  <a:pt x="192" y="438"/>
                </a:lnTo>
                <a:lnTo>
                  <a:pt x="187" y="437"/>
                </a:lnTo>
                <a:lnTo>
                  <a:pt x="181" y="437"/>
                </a:lnTo>
                <a:lnTo>
                  <a:pt x="176" y="436"/>
                </a:lnTo>
                <a:lnTo>
                  <a:pt x="170" y="434"/>
                </a:lnTo>
                <a:lnTo>
                  <a:pt x="165" y="433"/>
                </a:lnTo>
                <a:lnTo>
                  <a:pt x="160" y="432"/>
                </a:lnTo>
                <a:lnTo>
                  <a:pt x="155" y="430"/>
                </a:lnTo>
                <a:lnTo>
                  <a:pt x="149" y="428"/>
                </a:lnTo>
                <a:lnTo>
                  <a:pt x="144" y="427"/>
                </a:lnTo>
                <a:lnTo>
                  <a:pt x="139" y="425"/>
                </a:lnTo>
                <a:lnTo>
                  <a:pt x="134" y="423"/>
                </a:lnTo>
                <a:lnTo>
                  <a:pt x="129" y="421"/>
                </a:lnTo>
                <a:lnTo>
                  <a:pt x="125" y="418"/>
                </a:lnTo>
                <a:lnTo>
                  <a:pt x="120" y="416"/>
                </a:lnTo>
                <a:lnTo>
                  <a:pt x="115" y="413"/>
                </a:lnTo>
                <a:lnTo>
                  <a:pt x="111" y="411"/>
                </a:lnTo>
                <a:lnTo>
                  <a:pt x="106" y="408"/>
                </a:lnTo>
                <a:lnTo>
                  <a:pt x="101" y="405"/>
                </a:lnTo>
                <a:lnTo>
                  <a:pt x="97" y="402"/>
                </a:lnTo>
                <a:lnTo>
                  <a:pt x="93" y="399"/>
                </a:lnTo>
                <a:lnTo>
                  <a:pt x="88" y="396"/>
                </a:lnTo>
                <a:lnTo>
                  <a:pt x="84" y="393"/>
                </a:lnTo>
                <a:lnTo>
                  <a:pt x="80" y="390"/>
                </a:lnTo>
                <a:lnTo>
                  <a:pt x="76" y="386"/>
                </a:lnTo>
                <a:lnTo>
                  <a:pt x="72" y="383"/>
                </a:lnTo>
                <a:lnTo>
                  <a:pt x="68" y="379"/>
                </a:lnTo>
                <a:lnTo>
                  <a:pt x="64" y="376"/>
                </a:lnTo>
                <a:lnTo>
                  <a:pt x="61" y="372"/>
                </a:lnTo>
                <a:lnTo>
                  <a:pt x="57" y="368"/>
                </a:lnTo>
                <a:lnTo>
                  <a:pt x="54" y="364"/>
                </a:lnTo>
                <a:lnTo>
                  <a:pt x="50" y="360"/>
                </a:lnTo>
                <a:lnTo>
                  <a:pt x="47" y="356"/>
                </a:lnTo>
                <a:lnTo>
                  <a:pt x="44" y="352"/>
                </a:lnTo>
                <a:lnTo>
                  <a:pt x="41" y="347"/>
                </a:lnTo>
                <a:lnTo>
                  <a:pt x="38" y="343"/>
                </a:lnTo>
                <a:lnTo>
                  <a:pt x="35" y="339"/>
                </a:lnTo>
                <a:lnTo>
                  <a:pt x="32" y="334"/>
                </a:lnTo>
                <a:lnTo>
                  <a:pt x="29" y="329"/>
                </a:lnTo>
                <a:lnTo>
                  <a:pt x="27" y="325"/>
                </a:lnTo>
                <a:lnTo>
                  <a:pt x="24" y="320"/>
                </a:lnTo>
                <a:lnTo>
                  <a:pt x="22" y="315"/>
                </a:lnTo>
                <a:lnTo>
                  <a:pt x="19" y="311"/>
                </a:lnTo>
                <a:lnTo>
                  <a:pt x="17" y="306"/>
                </a:lnTo>
                <a:lnTo>
                  <a:pt x="15" y="301"/>
                </a:lnTo>
                <a:lnTo>
                  <a:pt x="13" y="296"/>
                </a:lnTo>
                <a:lnTo>
                  <a:pt x="12" y="291"/>
                </a:lnTo>
                <a:lnTo>
                  <a:pt x="10" y="285"/>
                </a:lnTo>
                <a:lnTo>
                  <a:pt x="8" y="280"/>
                </a:lnTo>
                <a:lnTo>
                  <a:pt x="7" y="275"/>
                </a:lnTo>
                <a:lnTo>
                  <a:pt x="6" y="270"/>
                </a:lnTo>
                <a:lnTo>
                  <a:pt x="4" y="264"/>
                </a:lnTo>
                <a:lnTo>
                  <a:pt x="3" y="259"/>
                </a:lnTo>
                <a:lnTo>
                  <a:pt x="3" y="253"/>
                </a:lnTo>
                <a:lnTo>
                  <a:pt x="2" y="248"/>
                </a:lnTo>
                <a:lnTo>
                  <a:pt x="1" y="242"/>
                </a:lnTo>
                <a:lnTo>
                  <a:pt x="1" y="237"/>
                </a:lnTo>
                <a:lnTo>
                  <a:pt x="0" y="231"/>
                </a:lnTo>
                <a:lnTo>
                  <a:pt x="0" y="226"/>
                </a:lnTo>
                <a:lnTo>
                  <a:pt x="0" y="220"/>
                </a:lnTo>
                <a:lnTo>
                  <a:pt x="0" y="214"/>
                </a:lnTo>
                <a:lnTo>
                  <a:pt x="0" y="209"/>
                </a:lnTo>
                <a:lnTo>
                  <a:pt x="1" y="203"/>
                </a:lnTo>
                <a:lnTo>
                  <a:pt x="1" y="198"/>
                </a:lnTo>
                <a:lnTo>
                  <a:pt x="2" y="192"/>
                </a:lnTo>
                <a:lnTo>
                  <a:pt x="3" y="187"/>
                </a:lnTo>
                <a:lnTo>
                  <a:pt x="3" y="181"/>
                </a:lnTo>
                <a:lnTo>
                  <a:pt x="4" y="180"/>
                </a:lnTo>
                <a:lnTo>
                  <a:pt x="320" y="180"/>
                </a:lnTo>
                <a:close/>
              </a:path>
            </a:pathLst>
          </a:custGeom>
          <a:solidFill>
            <a:srgbClr val="22D3EE">
              <a:alpha val="5000"/>
            </a:srgbClr>
          </a:solidFill>
          <a:ln/>
        </p:spPr>
        <p:txBody>
          <a:bodyPr/>
          <a:p/>
        </p:txBody>
      </p:sp>
      <p:sp>
        <p:nvSpPr>
          <p:cNvPr id="4" name=""/>
          <p:cNvSpPr/>
          <p:nvPr/>
        </p:nvSpPr>
        <p:spPr>
          <a:xfrm rot="0" flipH="0" flipV="0">
            <a:off x="3238500" y="5334000"/>
            <a:ext cx="3619500" cy="3619500"/>
          </a:xfrm>
          <a:custGeom>
            <a:pathLst>
              <a:path w="380" h="380">
                <a:moveTo>
                  <a:pt x="195" y="0"/>
                </a:moveTo>
                <a:cubicBezTo>
                  <a:pt x="286" y="2"/>
                  <a:pt x="363" y="70"/>
                  <a:pt x="378" y="160"/>
                </a:cubicBezTo>
                <a:lnTo>
                  <a:pt x="2" y="160"/>
                </a:lnTo>
                <a:cubicBezTo>
                  <a:pt x="17" y="68"/>
                  <a:pt x="97" y="0"/>
                  <a:pt x="190" y="0"/>
                </a:cubicBezTo>
                <a:close/>
              </a:path>
            </a:pathLst>
          </a:custGeom>
          <a:solidFill>
            <a:srgbClr val="22D3EE">
              <a:alpha val="4000"/>
            </a:srgbClr>
          </a:solidFill>
          <a:ln/>
        </p:spPr>
        <p:txBody>
          <a:bodyPr/>
          <a:p/>
        </p:txBody>
      </p:sp>
      <p:sp>
        <p:nvSpPr>
          <p:cNvPr id="5" name=""/>
          <p:cNvSpPr/>
          <p:nvPr/>
        </p:nvSpPr>
        <p:spPr>
          <a:xfrm rot="0" flipH="0" flipV="0">
            <a:off x="609600" y="400050"/>
            <a:ext cx="685800" cy="238125"/>
          </a:xfrm>
          <a:prstGeom prst="roundRect">
            <a:avLst>
              <a:gd name="adj" fmla="val 24000"/>
            </a:avLst>
          </a:prstGeom>
          <a:ln w="12700">
            <a:solidFill>
              <a:srgbClr val="123B63"/>
            </a:solidFill>
            <a:prstDash val="solid"/>
          </a:ln>
        </p:spPr>
        <p:txBody>
          <a:bodyPr/>
          <a:p/>
        </p:txBody>
      </p:sp>
      <p:sp>
        <p:nvSpPr>
          <p:cNvPr id="6" name="" descr="{&quot;isTemplate&quot;:true,&quot;type&quot;:&quot;text&quot;}"/>
          <p:cNvSpPr txBox="1"/>
          <p:nvPr/>
        </p:nvSpPr>
        <p:spPr>
          <a:xfrm rot="0" flipH="0" flipV="0">
            <a:off x="723900" y="447675"/>
            <a:ext cx="457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38">
                <a:solidFill>
                  <a:srgbClr val="94A3B8"/>
                </a:solidFill>
                <a:latin typeface="Microsoft YaHei"/>
                <a:ea typeface="Microsoft YaHei"/>
              </a:rPr>
              <a:t>AI Agent</a:t>
            </a:r>
            <a:endParaRPr/>
          </a:p>
        </p:txBody>
      </p:sp>
      <p:sp>
        <p:nvSpPr>
          <p:cNvPr id="7" name=""/>
          <p:cNvSpPr/>
          <p:nvPr/>
        </p:nvSpPr>
        <p:spPr>
          <a:xfrm rot="0" flipH="0" flipV="0">
            <a:off x="1390650" y="400050"/>
            <a:ext cx="942975" cy="238125"/>
          </a:xfrm>
          <a:prstGeom prst="roundRect">
            <a:avLst>
              <a:gd name="adj" fmla="val 24000"/>
            </a:avLst>
          </a:prstGeom>
          <a:ln w="12700">
            <a:solidFill>
              <a:srgbClr val="123B63"/>
            </a:solidFill>
            <a:prstDash val="solid"/>
          </a:ln>
        </p:spPr>
        <p:txBody>
          <a:bodyPr/>
          <a:p/>
        </p:txBody>
      </p:sp>
      <p:sp>
        <p:nvSpPr>
          <p:cNvPr id="8" name="" descr="{&quot;isTemplate&quot;:true,&quot;type&quot;:&quot;text&quot;}"/>
          <p:cNvSpPr txBox="1"/>
          <p:nvPr/>
        </p:nvSpPr>
        <p:spPr>
          <a:xfrm rot="0" flipH="0" flipV="0">
            <a:off x="1504950" y="447675"/>
            <a:ext cx="7143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>
                <a:solidFill>
                  <a:srgbClr val="94A3B8"/>
                </a:solidFill>
                <a:latin typeface="Microsoft YaHei"/>
                <a:ea typeface="Microsoft YaHei"/>
              </a:rPr>
              <a:t>持续学习闭环</a:t>
            </a:r>
            <a:endParaRPr/>
          </a:p>
        </p:txBody>
      </p:sp>
      <p:sp>
        <p:nvSpPr>
          <p:cNvPr id="9" name=""/>
          <p:cNvSpPr/>
          <p:nvPr/>
        </p:nvSpPr>
        <p:spPr>
          <a:xfrm rot="0" flipH="0" flipV="0">
            <a:off x="2428875" y="400050"/>
            <a:ext cx="942975" cy="238125"/>
          </a:xfrm>
          <a:prstGeom prst="roundRect">
            <a:avLst>
              <a:gd name="adj" fmla="val 24000"/>
            </a:avLst>
          </a:prstGeom>
          <a:ln w="12700">
            <a:solidFill>
              <a:srgbClr val="123B63"/>
            </a:solidFill>
            <a:prstDash val="solid"/>
          </a:ln>
        </p:spPr>
        <p:txBody>
          <a:bodyPr/>
          <a:p/>
        </p:txBody>
      </p:sp>
      <p:sp>
        <p:nvSpPr>
          <p:cNvPr id="10" name="" descr="{&quot;isTemplate&quot;:true,&quot;type&quot;:&quot;text&quot;}"/>
          <p:cNvSpPr txBox="1"/>
          <p:nvPr/>
        </p:nvSpPr>
        <p:spPr>
          <a:xfrm rot="0" flipH="0" flipV="0">
            <a:off x="2543175" y="447675"/>
            <a:ext cx="7143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>
                <a:solidFill>
                  <a:srgbClr val="94A3B8"/>
                </a:solidFill>
                <a:latin typeface="Microsoft YaHei"/>
                <a:ea typeface="Microsoft YaHei"/>
              </a:rPr>
              <a:t>电力时序预测</a:t>
            </a:r>
            <a:endParaRPr/>
          </a:p>
        </p:txBody>
      </p:sp>
      <p:sp>
        <p:nvSpPr>
          <p:cNvPr id="11" name=""/>
          <p:cNvSpPr/>
          <p:nvPr/>
        </p:nvSpPr>
        <p:spPr>
          <a:xfrm rot="0" flipH="0" flipV="0">
            <a:off x="9620250" y="438150"/>
            <a:ext cx="76200" cy="76200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p/>
        </p:txBody>
      </p:sp>
      <p:sp>
        <p:nvSpPr>
          <p:cNvPr id="12" name="" descr="{&quot;isTemplate&quot;:true,&quot;type&quot;:&quot;text&quot;}"/>
          <p:cNvSpPr txBox="1"/>
          <p:nvPr/>
        </p:nvSpPr>
        <p:spPr>
          <a:xfrm rot="0" flipH="0" flipV="0">
            <a:off x="9772650" y="400050"/>
            <a:ext cx="18097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>
                <a:solidFill>
                  <a:srgbClr val="94A3B8"/>
                </a:solidFill>
                <a:latin typeface="Microsoft YaHei"/>
                <a:ea typeface="Microsoft YaHei"/>
              </a:rPr>
              <a:t>投资人</a:t>
            </a:r>
            <a:r>
              <a:rPr lang="en-US" sz="938">
                <a:solidFill>
                  <a:srgbClr val="94A3B8"/>
                </a:solidFill>
                <a:latin typeface="Microsoft YaHei"/>
                <a:ea typeface="Microsoft YaHei"/>
              </a:rPr>
              <a:t> × </a:t>
            </a:r>
            <a:r>
              <a:rPr lang="zh-CN" sz="938">
                <a:solidFill>
                  <a:srgbClr val="94A3B8"/>
                </a:solidFill>
                <a:latin typeface="Microsoft YaHei"/>
                <a:ea typeface="Microsoft YaHei"/>
              </a:rPr>
              <a:t>产业客户</a:t>
            </a:r>
            <a:r>
              <a:rPr lang="en-US" sz="938">
                <a:solidFill>
                  <a:srgbClr val="94A3B8"/>
                </a:solidFill>
                <a:latin typeface="Microsoft YaHei"/>
                <a:ea typeface="Microsoft YaHei"/>
              </a:rPr>
              <a:t> · </a:t>
            </a:r>
            <a:r>
              <a:rPr lang="zh-CN" sz="938">
                <a:solidFill>
                  <a:srgbClr val="94A3B8"/>
                </a:solidFill>
                <a:latin typeface="Microsoft YaHei"/>
                <a:ea typeface="Microsoft YaHei"/>
              </a:rPr>
              <a:t>路演版</a:t>
            </a:r>
            <a:r>
              <a:rPr lang="en-US" sz="938">
                <a:solidFill>
                  <a:srgbClr val="94A3B8"/>
                </a:solidFill>
                <a:latin typeface="Microsoft YaHei"/>
                <a:ea typeface="Microsoft YaHei"/>
              </a:rPr>
              <a:t> · 2026</a:t>
            </a:r>
            <a:endParaRPr/>
          </a:p>
        </p:txBody>
      </p:sp>
      <p:graphicFrame>
        <p:nvGraphicFramePr>
          <p:cNvPr id="13" name="13"/>
          <p:cNvGraphicFramePr/>
          <p:nvPr/>
        </p:nvGraphicFramePr>
        <p:xfrm rot="0" flipH="0" flipV="0">
          <a:off x="4476750" y="1104900"/>
          <a:ext cx="7048500" cy="4095750"/>
        </p:xfrm>
        <a:graphic>
          <a:graphicData uri="http://schemas.openxmlformats.org/drawingml/2006/chart">
            <c:chart r:id="rId0"/>
          </a:graphicData>
        </a:graphic>
      </p:graphicFrame>
      <p:sp>
        <p:nvSpPr>
          <p:cNvPr id="14" name=""/>
          <p:cNvSpPr/>
          <p:nvPr/>
        </p:nvSpPr>
        <p:spPr>
          <a:xfrm rot="0" flipH="0" flipV="0">
            <a:off x="7886700" y="1600200"/>
            <a:ext cx="1562100" cy="2724150"/>
          </a:xfrm>
          <a:prstGeom prst="rect">
            <a:avLst/>
          </a:prstGeom>
          <a:solidFill>
            <a:srgbClr val="F59E0B">
              <a:alpha val="6000"/>
            </a:srgbClr>
          </a:solidFill>
          <a:ln/>
        </p:spPr>
        <p:txBody>
          <a:bodyPr/>
          <a:p/>
        </p:txBody>
      </p:sp>
      <p:sp>
        <p:nvSpPr>
          <p:cNvPr id="15" name=""/>
          <p:cNvSpPr/>
          <p:nvPr/>
        </p:nvSpPr>
        <p:spPr>
          <a:xfrm rot="0" flipH="0" flipV="0">
            <a:off x="8667750" y="1600200"/>
            <a:ext cx="19050" cy="2724150"/>
          </a:xfrm>
          <a:prstGeom prst="rect">
            <a:avLst/>
          </a:prstGeom>
          <a:solidFill>
            <a:srgbClr val="F59E0B">
              <a:alpha val="70000"/>
            </a:srgbClr>
          </a:solidFill>
          <a:ln/>
        </p:spPr>
        <p:txBody>
          <a:bodyPr/>
          <a:p/>
        </p:txBody>
      </p:sp>
      <p:sp>
        <p:nvSpPr>
          <p:cNvPr id="16" name="" descr="{&quot;isTemplate&quot;:true,&quot;type&quot;:&quot;text&quot;}"/>
          <p:cNvSpPr txBox="1"/>
          <p:nvPr/>
        </p:nvSpPr>
        <p:spPr>
          <a:xfrm rot="0" flipH="0" flipV="0">
            <a:off x="4572000" y="5257800"/>
            <a:ext cx="20002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未来</a:t>
            </a:r>
            <a:r>
              <a:rPr lang="en-US" sz="975">
                <a:solidFill>
                  <a:srgbClr val="64748B"/>
                </a:solidFill>
                <a:latin typeface="Microsoft YaHei"/>
                <a:ea typeface="Microsoft YaHei"/>
              </a:rPr>
              <a:t> 24 </a:t>
            </a: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小时负荷曲线</a:t>
            </a:r>
            <a:r>
              <a:rPr lang="en-US" sz="975">
                <a:solidFill>
                  <a:srgbClr val="64748B"/>
                </a:solidFill>
                <a:latin typeface="Microsoft YaHei"/>
                <a:ea typeface="Microsoft YaHei"/>
              </a:rPr>
              <a:t> · </a:t>
            </a: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实际</a:t>
            </a:r>
            <a:r>
              <a:rPr lang="en-US" sz="975">
                <a:solidFill>
                  <a:srgbClr val="64748B"/>
                </a:solidFill>
                <a:latin typeface="Microsoft YaHei"/>
                <a:ea typeface="Microsoft YaHei"/>
              </a:rPr>
              <a:t> vs </a:t>
            </a: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预测</a:t>
            </a:r>
            <a:endParaRPr/>
          </a:p>
        </p:txBody>
      </p:sp>
      <p:sp>
        <p:nvSpPr>
          <p:cNvPr id="17" name="" descr="{&quot;isTemplate&quot;:true,&quot;type&quot;:&quot;text&quot;}"/>
          <p:cNvSpPr txBox="1"/>
          <p:nvPr/>
        </p:nvSpPr>
        <p:spPr>
          <a:xfrm rot="0" flipH="0" flipV="0">
            <a:off x="8810625" y="1333500"/>
            <a:ext cx="571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8FAFC"/>
                </a:solidFill>
                <a:latin typeface="Microsoft YaHei"/>
                <a:ea typeface="Microsoft YaHei"/>
              </a:rPr>
              <a:t>实际峰值</a:t>
            </a:r>
            <a:endParaRPr/>
          </a:p>
        </p:txBody>
      </p:sp>
      <p:sp>
        <p:nvSpPr>
          <p:cNvPr id="18" name="" descr="{&quot;isTemplate&quot;:true,&quot;type&quot;:&quot;text&quot;}"/>
          <p:cNvSpPr txBox="1"/>
          <p:nvPr/>
        </p:nvSpPr>
        <p:spPr>
          <a:xfrm rot="0" flipH="0" flipV="0">
            <a:off x="8810625" y="1790700"/>
            <a:ext cx="7143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59E0B"/>
                </a:solidFill>
                <a:latin typeface="Microsoft YaHei"/>
                <a:ea typeface="Microsoft YaHei"/>
              </a:rPr>
              <a:t>未预见峰值</a:t>
            </a:r>
            <a:endParaRPr/>
          </a:p>
        </p:txBody>
      </p:sp>
      <p:sp>
        <p:nvSpPr>
          <p:cNvPr id="19" name="" descr="{&quot;isTemplate&quot;:true,&quot;type&quot;:&quot;text&quot;}"/>
          <p:cNvSpPr txBox="1"/>
          <p:nvPr/>
        </p:nvSpPr>
        <p:spPr>
          <a:xfrm rot="0" flipH="0" flipV="0">
            <a:off x="8810625" y="2247900"/>
            <a:ext cx="571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2D3EE"/>
                </a:solidFill>
                <a:latin typeface="Microsoft YaHei"/>
                <a:ea typeface="Microsoft YaHei"/>
              </a:rPr>
              <a:t>预测负荷</a:t>
            </a:r>
            <a:endParaRPr/>
          </a:p>
        </p:txBody>
      </p:sp>
      <p:sp>
        <p:nvSpPr>
          <p:cNvPr id="20" name="" descr="{&quot;isTemplate&quot;:true,&quot;type&quot;:&quot;text&quot;}"/>
          <p:cNvSpPr txBox="1"/>
          <p:nvPr/>
        </p:nvSpPr>
        <p:spPr>
          <a:xfrm rot="0" flipH="0" flipV="0">
            <a:off x="609600" y="1104900"/>
            <a:ext cx="35528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225">
                <a:solidFill>
                  <a:srgbClr val="22D3EE"/>
                </a:solidFill>
                <a:latin typeface="Space Grotesk"/>
                <a:ea typeface="Space Grotesk"/>
              </a:rPr>
              <a:t>AGENT · CONTINUAL LEARNING ENGINE</a:t>
            </a:r>
            <a:endParaRPr/>
          </a:p>
        </p:txBody>
      </p:sp>
      <p:sp>
        <p:nvSpPr>
          <p:cNvPr id="21" name="" descr="{&quot;isTemplate&quot;:true,&quot;type&quot;:&quot;text&quot;}"/>
          <p:cNvSpPr txBox="1"/>
          <p:nvPr/>
        </p:nvSpPr>
        <p:spPr>
          <a:xfrm rot="0" flipH="0" flipV="0">
            <a:off x="609600" y="1466850"/>
            <a:ext cx="3810000" cy="714375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3750" b="1">
                <a:solidFill>
                  <a:srgbClr val="F8FAFC"/>
                </a:solidFill>
                <a:latin typeface="Microsoft YaHei"/>
                <a:ea typeface="Microsoft YaHei"/>
              </a:rPr>
              <a:t>面向电力负荷预测</a:t>
            </a:r>
            <a:endParaRPr/>
          </a:p>
        </p:txBody>
      </p:sp>
      <p:sp>
        <p:nvSpPr>
          <p:cNvPr id="22" name="" descr="{&quot;isTemplate&quot;:true,&quot;type&quot;:&quot;text&quot;}"/>
          <p:cNvSpPr txBox="1"/>
          <p:nvPr/>
        </p:nvSpPr>
        <p:spPr>
          <a:xfrm rot="0" flipH="0" flipV="0">
            <a:off x="609600" y="2076450"/>
            <a:ext cx="4286250" cy="714375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3750" b="1">
                <a:solidFill>
                  <a:srgbClr val="F8FAFC"/>
                </a:solidFill>
                <a:latin typeface="Microsoft YaHei"/>
                <a:ea typeface="Microsoft YaHei"/>
              </a:rPr>
              <a:t>持续学习的智能引擎</a:t>
            </a:r>
            <a:endParaRPr/>
          </a:p>
        </p:txBody>
      </p:sp>
      <p:sp>
        <p:nvSpPr>
          <p:cNvPr id="23" name=""/>
          <p:cNvSpPr/>
          <p:nvPr/>
        </p:nvSpPr>
        <p:spPr>
          <a:xfrm rot="0" flipH="0" flipV="0">
            <a:off x="609600" y="2800350"/>
            <a:ext cx="457200" cy="47625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p/>
        </p:txBody>
      </p:sp>
      <p:sp>
        <p:nvSpPr>
          <p:cNvPr id="24" name="" descr="{&quot;isTemplate&quot;:true,&quot;type&quot;:&quot;text&quot;}"/>
          <p:cNvSpPr txBox="1"/>
          <p:nvPr/>
        </p:nvSpPr>
        <p:spPr>
          <a:xfrm rot="0" flipH="0" flipV="0">
            <a:off x="609600" y="3028950"/>
            <a:ext cx="2933700" cy="266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725">
                <a:solidFill>
                  <a:srgbClr val="F8FAFC"/>
                </a:solidFill>
                <a:latin typeface="Microsoft YaHei"/>
                <a:ea typeface="Microsoft YaHei"/>
              </a:rPr>
              <a:t>让</a:t>
            </a:r>
            <a:r>
              <a:rPr lang="en-US" sz="1725">
                <a:solidFill>
                  <a:srgbClr val="F8FAFC"/>
                </a:solidFill>
                <a:latin typeface="Microsoft YaHei"/>
                <a:ea typeface="Microsoft YaHei"/>
              </a:rPr>
              <a:t> </a:t>
            </a:r>
            <a:r>
              <a:rPr lang="en-US" sz="1725" b="1">
                <a:solidFill>
                  <a:srgbClr val="22D3EE"/>
                </a:solidFill>
                <a:latin typeface="Microsoft YaHei"/>
                <a:ea typeface="Microsoft YaHei"/>
              </a:rPr>
              <a:t>Agent</a:t>
            </a:r>
            <a:r>
              <a:rPr lang="en-US" sz="1725">
                <a:solidFill>
                  <a:srgbClr val="F8FAFC"/>
                </a:solidFill>
                <a:latin typeface="Microsoft YaHei"/>
                <a:ea typeface="Microsoft YaHei"/>
              </a:rPr>
              <a:t> </a:t>
            </a:r>
            <a:r>
              <a:rPr lang="zh-CN" sz="1725">
                <a:solidFill>
                  <a:srgbClr val="F8FAFC"/>
                </a:solidFill>
                <a:latin typeface="Microsoft YaHei"/>
                <a:ea typeface="Microsoft YaHei"/>
              </a:rPr>
              <a:t>指导小模型持续学习</a:t>
            </a:r>
            <a:endParaRPr/>
          </a:p>
        </p:txBody>
      </p:sp>
      <p:sp>
        <p:nvSpPr>
          <p:cNvPr id="25" name="" descr="{&quot;isTemplate&quot;:true,&quot;type&quot;:&quot;text&quot;}"/>
          <p:cNvSpPr txBox="1"/>
          <p:nvPr/>
        </p:nvSpPr>
        <p:spPr>
          <a:xfrm rot="0" flipH="0" flipV="0">
            <a:off x="609600" y="3581400"/>
            <a:ext cx="3714750" cy="9620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zh-CN" sz="1163">
                <a:solidFill>
                  <a:srgbClr val="94A3B8"/>
                </a:solidFill>
                <a:latin typeface="Microsoft YaHei"/>
                <a:ea typeface="Microsoft YaHei"/>
              </a:rPr>
              <a:t>如果无法准确预测用电负荷峰值何时到来，就无法及时安排应对措施，变压器可能持续重过载，进而造成设备损坏。</a:t>
            </a:r>
            <a:endParaRPr/>
          </a:p>
        </p:txBody>
      </p:sp>
      <p:sp>
        <p:nvSpPr>
          <p:cNvPr id="26" name="" descr="{&quot;isTemplate&quot;:true,&quot;type&quot;:&quot;text&quot;}"/>
          <p:cNvSpPr txBox="1"/>
          <p:nvPr/>
        </p:nvSpPr>
        <p:spPr>
          <a:xfrm rot="0" flipH="0" flipV="0">
            <a:off x="609600" y="4781550"/>
            <a:ext cx="10763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22D3EE"/>
                </a:solidFill>
                <a:latin typeface="Space Grotesk"/>
                <a:ea typeface="Space Grotesk"/>
              </a:rPr>
              <a:t>5.6%</a:t>
            </a:r>
            <a:endParaRPr/>
          </a:p>
        </p:txBody>
      </p:sp>
      <p:sp>
        <p:nvSpPr>
          <p:cNvPr id="27" name="" descr="{&quot;isTemplate&quot;:true,&quot;type&quot;:&quot;text&quot;}"/>
          <p:cNvSpPr txBox="1"/>
          <p:nvPr/>
        </p:nvSpPr>
        <p:spPr>
          <a:xfrm rot="0" flipH="0" flipV="0">
            <a:off x="609600" y="5095875"/>
            <a:ext cx="10763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63">
                <a:solidFill>
                  <a:srgbClr val="94A3B8"/>
                </a:solidFill>
                <a:latin typeface="Microsoft YaHei"/>
                <a:ea typeface="Microsoft YaHei"/>
              </a:rPr>
              <a:t>WAPE </a:t>
            </a:r>
            <a:r>
              <a:rPr lang="zh-CN" sz="863">
                <a:solidFill>
                  <a:srgbClr val="94A3B8"/>
                </a:solidFill>
                <a:latin typeface="Microsoft YaHei"/>
                <a:ea typeface="Microsoft YaHei"/>
              </a:rPr>
              <a:t>相对改善</a:t>
            </a:r>
            <a:endParaRPr/>
          </a:p>
        </p:txBody>
      </p:sp>
      <p:sp>
        <p:nvSpPr>
          <p:cNvPr id="28" name=""/>
          <p:cNvSpPr/>
          <p:nvPr/>
        </p:nvSpPr>
        <p:spPr>
          <a:xfrm rot="0" flipH="0" flipV="0">
            <a:off x="1819275" y="4781550"/>
            <a:ext cx="9525" cy="447675"/>
          </a:xfrm>
          <a:prstGeom prst="rect">
            <a:avLst/>
          </a:prstGeom>
          <a:solidFill>
            <a:srgbClr val="123B63"/>
          </a:solidFill>
          <a:ln/>
        </p:spPr>
        <p:txBody>
          <a:bodyPr/>
          <a:p/>
        </p:txBody>
      </p:sp>
      <p:sp>
        <p:nvSpPr>
          <p:cNvPr id="29" name="" descr="{&quot;isTemplate&quot;:true,&quot;type&quot;:&quot;text&quot;}"/>
          <p:cNvSpPr txBox="1"/>
          <p:nvPr/>
        </p:nvSpPr>
        <p:spPr>
          <a:xfrm rot="0" flipH="0" flipV="0">
            <a:off x="1962150" y="4781550"/>
            <a:ext cx="10668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22D3EE"/>
                </a:solidFill>
                <a:latin typeface="Space Grotesk"/>
                <a:ea typeface="Space Grotesk"/>
              </a:rPr>
              <a:t>31/32</a:t>
            </a:r>
            <a:endParaRPr/>
          </a:p>
        </p:txBody>
      </p:sp>
      <p:sp>
        <p:nvSpPr>
          <p:cNvPr id="30" name="" descr="{&quot;isTemplate&quot;:true,&quot;type&quot;:&quot;text&quot;}"/>
          <p:cNvSpPr txBox="1"/>
          <p:nvPr/>
        </p:nvSpPr>
        <p:spPr>
          <a:xfrm rot="0" flipH="0" flipV="0">
            <a:off x="1962150" y="5095875"/>
            <a:ext cx="10668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>
                <a:solidFill>
                  <a:srgbClr val="94A3B8"/>
                </a:solidFill>
                <a:latin typeface="Microsoft YaHei"/>
                <a:ea typeface="Microsoft YaHei"/>
              </a:rPr>
              <a:t>个月动态模型更优</a:t>
            </a:r>
            <a:endParaRPr/>
          </a:p>
        </p:txBody>
      </p:sp>
      <p:sp>
        <p:nvSpPr>
          <p:cNvPr id="31" name=""/>
          <p:cNvSpPr/>
          <p:nvPr/>
        </p:nvSpPr>
        <p:spPr>
          <a:xfrm rot="0" flipH="0" flipV="0">
            <a:off x="3162300" y="4781550"/>
            <a:ext cx="9525" cy="447675"/>
          </a:xfrm>
          <a:prstGeom prst="rect">
            <a:avLst/>
          </a:prstGeom>
          <a:solidFill>
            <a:srgbClr val="123B63"/>
          </a:solidFill>
          <a:ln/>
        </p:spPr>
        <p:txBody>
          <a:bodyPr/>
          <a:p/>
        </p:txBody>
      </p:sp>
      <p:sp>
        <p:nvSpPr>
          <p:cNvPr id="32" name="" descr="{&quot;isTemplate&quot;:true,&quot;type&quot;:&quot;text&quot;}"/>
          <p:cNvSpPr txBox="1"/>
          <p:nvPr/>
        </p:nvSpPr>
        <p:spPr>
          <a:xfrm rot="0" flipH="0" flipV="0">
            <a:off x="3305175" y="4781550"/>
            <a:ext cx="10763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22D3EE"/>
                </a:solidFill>
                <a:latin typeface="Space Grotesk"/>
                <a:ea typeface="Space Grotesk"/>
              </a:rPr>
              <a:t>−20.34</a:t>
            </a:r>
            <a:endParaRPr/>
          </a:p>
        </p:txBody>
      </p:sp>
      <p:sp>
        <p:nvSpPr>
          <p:cNvPr id="33" name="" descr="{&quot;isTemplate&quot;:true,&quot;type&quot;:&quot;text&quot;}"/>
          <p:cNvSpPr txBox="1"/>
          <p:nvPr/>
        </p:nvSpPr>
        <p:spPr>
          <a:xfrm rot="0" flipH="0" flipV="0">
            <a:off x="3305175" y="5095875"/>
            <a:ext cx="10763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63">
                <a:solidFill>
                  <a:srgbClr val="94A3B8"/>
                </a:solidFill>
                <a:latin typeface="Microsoft YaHei"/>
                <a:ea typeface="Microsoft YaHei"/>
              </a:rPr>
              <a:t>MW · MAE </a:t>
            </a:r>
            <a:r>
              <a:rPr lang="zh-CN" sz="863">
                <a:solidFill>
                  <a:srgbClr val="94A3B8"/>
                </a:solidFill>
                <a:latin typeface="Microsoft YaHei"/>
                <a:ea typeface="Microsoft YaHei"/>
              </a:rPr>
              <a:t>绝对降幅</a:t>
            </a:r>
            <a:endParaRPr/>
          </a:p>
        </p:txBody>
      </p:sp>
      <p:sp>
        <p:nvSpPr>
          <p:cNvPr id="34" name="" descr="{&quot;isTemplate&quot;:true,&quot;type&quot;:&quot;text&quot;}"/>
          <p:cNvSpPr txBox="1"/>
          <p:nvPr/>
        </p:nvSpPr>
        <p:spPr>
          <a:xfrm rot="0" flipH="0" flipV="0">
            <a:off x="609600" y="5772150"/>
            <a:ext cx="3333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>
                <a:solidFill>
                  <a:srgbClr val="64748B"/>
                </a:solidFill>
                <a:latin typeface="Microsoft YaHei"/>
                <a:ea typeface="Microsoft YaHei"/>
              </a:rPr>
              <a:t>风险链</a:t>
            </a:r>
            <a:endParaRPr/>
          </a:p>
        </p:txBody>
      </p:sp>
      <p:sp>
        <p:nvSpPr>
          <p:cNvPr id="35" name=""/>
          <p:cNvSpPr/>
          <p:nvPr/>
        </p:nvSpPr>
        <p:spPr>
          <a:xfrm rot="0" flipH="0" flipV="0">
            <a:off x="1057275" y="5695950"/>
            <a:ext cx="981075" cy="285750"/>
          </a:xfrm>
          <a:prstGeom prst="roundRect">
            <a:avLst>
              <a:gd name="adj" fmla="val 20000"/>
            </a:avLst>
          </a:prstGeom>
          <a:ln w="12700">
            <a:solidFill>
              <a:srgbClr val="123B63"/>
            </a:solidFill>
            <a:prstDash val="solid"/>
          </a:ln>
        </p:spPr>
        <p:txBody>
          <a:bodyPr/>
          <a:p/>
        </p:txBody>
      </p:sp>
      <p:sp>
        <p:nvSpPr>
          <p:cNvPr id="36" name="" descr="{&quot;isTemplate&quot;:true,&quot;type&quot;:&quot;text&quot;}"/>
          <p:cNvSpPr txBox="1"/>
          <p:nvPr/>
        </p:nvSpPr>
        <p:spPr>
          <a:xfrm rot="0" flipH="0" flipV="0">
            <a:off x="1190625" y="5753100"/>
            <a:ext cx="7143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F59E0B"/>
                </a:solidFill>
                <a:latin typeface="Microsoft YaHei"/>
                <a:ea typeface="Microsoft YaHei"/>
              </a:rPr>
              <a:t>未预见峰值</a:t>
            </a:r>
            <a:endParaRPr/>
          </a:p>
        </p:txBody>
      </p:sp>
      <p:sp>
        <p:nvSpPr>
          <p:cNvPr id="37" name="" descr="{&quot;isTemplate&quot;:true,&quot;type&quot;:&quot;text&quot;}"/>
          <p:cNvSpPr txBox="1"/>
          <p:nvPr/>
        </p:nvSpPr>
        <p:spPr>
          <a:xfrm rot="0" flipH="0" flipV="0">
            <a:off x="2133600" y="5734050"/>
            <a:ext cx="1714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350">
                <a:solidFill>
                  <a:srgbClr val="64748B"/>
                </a:solidFill>
                <a:latin typeface="Microsoft YaHei"/>
                <a:ea typeface="Microsoft YaHei"/>
              </a:rPr>
              <a:t>→</a:t>
            </a:r>
            <a:endParaRPr/>
          </a:p>
        </p:txBody>
      </p:sp>
      <p:sp>
        <p:nvSpPr>
          <p:cNvPr id="38" name=""/>
          <p:cNvSpPr/>
          <p:nvPr/>
        </p:nvSpPr>
        <p:spPr>
          <a:xfrm rot="0" flipH="0" flipV="0">
            <a:off x="2400300" y="5695950"/>
            <a:ext cx="981075" cy="285750"/>
          </a:xfrm>
          <a:prstGeom prst="roundRect">
            <a:avLst>
              <a:gd name="adj" fmla="val 20000"/>
            </a:avLst>
          </a:prstGeom>
          <a:ln w="12700">
            <a:solidFill>
              <a:srgbClr val="123B63"/>
            </a:solidFill>
            <a:prstDash val="solid"/>
          </a:ln>
        </p:spPr>
        <p:txBody>
          <a:bodyPr/>
          <a:p/>
        </p:txBody>
      </p:sp>
      <p:sp>
        <p:nvSpPr>
          <p:cNvPr id="39" name="" descr="{&quot;isTemplate&quot;:true,&quot;type&quot;:&quot;text&quot;}"/>
          <p:cNvSpPr txBox="1"/>
          <p:nvPr/>
        </p:nvSpPr>
        <p:spPr>
          <a:xfrm rot="0" flipH="0" flipV="0">
            <a:off x="2533650" y="5753100"/>
            <a:ext cx="7143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F59E0B"/>
                </a:solidFill>
                <a:latin typeface="Microsoft YaHei"/>
                <a:ea typeface="Microsoft YaHei"/>
              </a:rPr>
              <a:t>持续重过载</a:t>
            </a:r>
            <a:endParaRPr/>
          </a:p>
        </p:txBody>
      </p:sp>
      <p:sp>
        <p:nvSpPr>
          <p:cNvPr id="40" name="" descr="{&quot;isTemplate&quot;:true,&quot;type&quot;:&quot;text&quot;}"/>
          <p:cNvSpPr txBox="1"/>
          <p:nvPr/>
        </p:nvSpPr>
        <p:spPr>
          <a:xfrm rot="0" flipH="0" flipV="0">
            <a:off x="3476625" y="5734050"/>
            <a:ext cx="1714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350">
                <a:solidFill>
                  <a:srgbClr val="64748B"/>
                </a:solidFill>
                <a:latin typeface="Microsoft YaHei"/>
                <a:ea typeface="Microsoft YaHei"/>
              </a:rPr>
              <a:t>→</a:t>
            </a:r>
            <a:endParaRPr/>
          </a:p>
        </p:txBody>
      </p:sp>
      <p:sp>
        <p:nvSpPr>
          <p:cNvPr id="41" name=""/>
          <p:cNvSpPr/>
          <p:nvPr/>
        </p:nvSpPr>
        <p:spPr>
          <a:xfrm rot="0" flipH="0" flipV="0">
            <a:off x="3743325" y="5695950"/>
            <a:ext cx="838200" cy="285750"/>
          </a:xfrm>
          <a:prstGeom prst="roundRect">
            <a:avLst>
              <a:gd name="adj" fmla="val 20000"/>
            </a:avLst>
          </a:prstGeom>
          <a:ln w="12700">
            <a:solidFill>
              <a:srgbClr val="123B63"/>
            </a:solidFill>
            <a:prstDash val="solid"/>
          </a:ln>
        </p:spPr>
        <p:txBody>
          <a:bodyPr/>
          <a:p/>
        </p:txBody>
      </p:sp>
      <p:sp>
        <p:nvSpPr>
          <p:cNvPr id="42" name="" descr="{&quot;isTemplate&quot;:true,&quot;type&quot;:&quot;text&quot;}"/>
          <p:cNvSpPr txBox="1"/>
          <p:nvPr/>
        </p:nvSpPr>
        <p:spPr>
          <a:xfrm rot="0" flipH="0" flipV="0">
            <a:off x="3876675" y="5753100"/>
            <a:ext cx="571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F59E0B"/>
                </a:solidFill>
                <a:latin typeface="Microsoft YaHei"/>
                <a:ea typeface="Microsoft YaHei"/>
              </a:rPr>
              <a:t>设备损坏</a:t>
            </a:r>
            <a:endParaRPr/>
          </a:p>
        </p:txBody>
      </p:sp>
      <p:sp>
        <p:nvSpPr>
          <p:cNvPr id="43" name="" descr="{&quot;isTemplate&quot;:true,&quot;type&quot;:&quot;text&quot;}"/>
          <p:cNvSpPr txBox="1"/>
          <p:nvPr/>
        </p:nvSpPr>
        <p:spPr>
          <a:xfrm rot="0" flipH="0" flipV="0">
            <a:off x="609600" y="6429375"/>
            <a:ext cx="35623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64748B"/>
                </a:solidFill>
                <a:latin typeface="Microsoft YaHei"/>
                <a:ea typeface="Microsoft YaHei"/>
              </a:rPr>
              <a:t>面向电力负荷预测持续学习的智能引擎</a:t>
            </a:r>
            <a:r>
              <a:rPr lang="en-US" sz="900">
                <a:solidFill>
                  <a:srgbClr val="64748B"/>
                </a:solidFill>
                <a:latin typeface="Microsoft YaHei"/>
                <a:ea typeface="Microsoft YaHei"/>
              </a:rPr>
              <a:t> · </a:t>
            </a:r>
            <a:r>
              <a:rPr lang="zh-CN" sz="900">
                <a:solidFill>
                  <a:srgbClr val="64748B"/>
                </a:solidFill>
                <a:latin typeface="Microsoft YaHei"/>
                <a:ea typeface="Microsoft YaHei"/>
              </a:rPr>
              <a:t>投资人</a:t>
            </a:r>
            <a:r>
              <a:rPr lang="en-US" sz="900">
                <a:solidFill>
                  <a:srgbClr val="64748B"/>
                </a:solidFill>
                <a:latin typeface="Microsoft YaHei"/>
                <a:ea typeface="Microsoft YaHei"/>
              </a:rPr>
              <a:t> × </a:t>
            </a:r>
            <a:r>
              <a:rPr lang="zh-CN" sz="900">
                <a:solidFill>
                  <a:srgbClr val="64748B"/>
                </a:solidFill>
                <a:latin typeface="Microsoft YaHei"/>
                <a:ea typeface="Microsoft YaHei"/>
              </a:rPr>
              <a:t>产业客户路演</a:t>
            </a:r>
            <a:r>
              <a:rPr lang="en-US" sz="900">
                <a:solidFill>
                  <a:srgbClr val="64748B"/>
                </a:solidFill>
                <a:latin typeface="Microsoft YaHei"/>
                <a:ea typeface="Microsoft YaHei"/>
              </a:rPr>
              <a:t> · 2026</a:t>
            </a:r>
            <a:endParaRPr/>
          </a:p>
        </p:txBody>
      </p:sp>
      <p:sp>
        <p:nvSpPr>
          <p:cNvPr id="44" name=""/>
          <p:cNvSpPr/>
          <p:nvPr/>
        </p:nvSpPr>
        <p:spPr>
          <a:xfrm rot="0" flipH="0" flipV="0">
            <a:off x="10677525" y="6486525"/>
            <a:ext cx="95250" cy="95250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p/>
        </p:txBody>
      </p:sp>
      <p:sp>
        <p:nvSpPr>
          <p:cNvPr id="45" name="" descr="{&quot;isTemplate&quot;:true,&quot;type&quot;:&quot;text&quot;}"/>
          <p:cNvSpPr txBox="1"/>
          <p:nvPr/>
        </p:nvSpPr>
        <p:spPr>
          <a:xfrm rot="0" flipH="0" flipV="0">
            <a:off x="10848975" y="6457950"/>
            <a:ext cx="7334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94A3B8"/>
                </a:solidFill>
                <a:latin typeface="Microsoft YaHei"/>
                <a:ea typeface="Microsoft YaHei"/>
              </a:rPr>
              <a:t>CLE · 01 / 07</a:t>
            </a:r>
            <a:endParaRPr/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>
  <p:cSld>
    <p:spTree>
      <p:nvGrpSpPr>
        <p:cNvPr id="46" name="" descr="&lt;Slide style={{ width: 1280, height: 720, background: '#FFFFFF', display: 'flex', flexDirection: 'column', padding: '22px 64px 16px 64px' }}&gt;&#10;    &lt;Box&gt;&#10;        &lt;Text style={{ fontSize: 32, fontWeight: 'bold', color: '#0A1D37' }}&gt;预测不准时，王工只能用经验预测补救&lt;/Text&gt;&#10;        &lt;Text style={{ fontSize: 16, color: '#64748B', marginTop: 6 }}&gt;省级电网公司生技部专责王工的一天 · 旅游旺季与返乡潮的用电高峰&lt;/Text&gt;&#10;    &lt;/Box&gt;&#10;&#10;    &lt;Box style={{ flexDirection: 'row', gap: 24, flex: 1, marginTop: 16 }}&gt;&#10;        &lt;Box style={{ width: 330, background: '#0A1D37', borderRadius: 12, padding: 24, display: 'flex', flexDirection: 'column' }}&gt;&#10;            &lt;Text style={{ fontSize: 12.5, color: '#22D3EE', letterSpacing: 3 }}&gt;客户 · 王工&lt;/Text&gt;&#10;            &lt;Text style={{ fontSize: 19, fontWeight: 'bold', color: '#F8FAFC', marginTop: 10 }}&gt;省级电网公司 · 生技部专责&lt;/Text&gt;&#10;            &lt;Text style={{ fontSize: 14, color: '#94A3B8', lineHeight: 1.8, marginTop: 10 }}&gt;旅游旺季、返乡潮等因素可能带来用电高峰。他需要据此研判峰值风险，并安排重过载应对措施。&lt;/Text&gt;&#10;            &lt;Box style={{ height: 1, background: '#123B63', marginTop: 16 }} /&gt;&#10;            &lt;Text style={{ fontSize: 12.5, color: '#22D3EE', marginTop: 14, letterSpacing: 2 }}&gt;一天三刻&lt;/Text&gt;&#10;            &lt;Box style={{ flexDirection: 'row', gap: 10, marginTop: 10 }}&gt;&#10;                &lt;Text style={{ width: 44, fontSize: 13, fontWeight: 'bold', color: '#22D3EE' }}&gt;08:00&lt;/Text&gt;&#10;                &lt;Text style={{ flex: 1, fontSize: 13, color: '#CBD5E1', lineHeight: 1.6 }}&gt;例行查看预测，发现高峰时段明显偏低&lt;/Text&gt;&#10;            &lt;/Box&gt;&#10;            &lt;Box style={{ flexDirection: 'row', gap: 10, marginTop: 10 }}&gt;&#10;                &lt;Text style={{ width: 44, fontSize: 13, fontWeight: 'bold', color: '#22D3EE' }}&gt;09:30&lt;/Text&gt;&#10;                &lt;Text style={{ flex: 1, fontSize: 13, color: '#CBD5E1', lineHeight: 1.6 }}&gt;调出往年同期曲线，乘以经验修正因子&lt;/Text&gt;&#10;            &lt;/Box&gt;&#10;            &lt;Box style={{ flexDirection: 'row', gap: 10, marginTop: 10 }}&gt;&#10;                &lt;Text style={{ width: 44, fontSize: 13, fontWeight: 'bold', color: '#22D3EE' }}&gt;14:00&lt;/Text&gt;&#10;                &lt;Text style={{ flex: 1, fontSize: 13, color: '#CBD5E1', lineHeight: 1.6 }}&gt;提交临时预测，紧急安排重过载应对&lt;/Text&gt;&#10;            &lt;/Box&gt;&#10;            &lt;Text style={{ fontSize: 16, color: '#F8FAFC', lineHeight: 1.8, marginTop: 'auto' }}&gt;「预测不准的那天，我只能拿往年同期，乘一个经验修正系数。」&lt;/Text&gt;&#10;            &lt;Text style={{ fontSize: 12, color: '#64748B', marginTop: 10 }}&gt;—— 一次性交付模式的日常&lt;/Text&gt;&#10;        &lt;/Box&gt;&#10;&#10;        &lt;Box style={{ flex: 1, display: 'flex', flexDirection: 'column' }}&gt;&#10;            &lt;Box style={{ display: 'flex', flexDirection: 'column' }}&gt;&#10;                &lt;Box style={{ flexDirection: 'row', alignItems: 'center', gap: 16, paddingBottom: 12, borderBottom: '1px solid #E2E8F0' }}&gt;&#10;                    &lt;Text style={{ width: 56, fontSize: 25, fontWeight: 'bold', color: '#0A1D37', fontFamily: 'Space Grotesk, Inter, sans-serif' }}&gt;01&lt;/Text&gt;&#10;                    &lt;Box style={{ flex: 1 }}&gt;&#10;                        &lt;Text style={{ fontSize: 19, fontWeight: 'bold', color: '#0F2039' }}&gt;预测偏差&lt;/Text&gt;&#10;                        &lt;Text style={{ fontSize: 13.5, color: '#64748B', marginTop: 2 }}&gt;模型预测低于实际负荷，峰值时间点与幅度同时偏移&lt;/Text&gt;&#10;                    &lt;/Box&gt;&#10;                    &lt;Box style={{ padding: '4px 10px', background: '#F1F5F9', borderRadius: 6 }}&gt;&#10;                        &lt;Text style={{ fontSize: 12, color: '#64748B' }}&gt;旺季被低估&lt;/Text&gt;&#10;                    &lt;/Box&gt;&#10;                &lt;/Box&gt;&#10;                &lt;Box style={{ flexDirection: 'row', alignItems: 'center', gap: 16, paddingBottom: 12, paddingTop: 12, borderBottom: '1px solid #E2E8F0' }}&gt;&#10;                    &lt;Text style={{ width: 56, fontSize: 25, fontWeight: 'bold', color: '#0A1D37', fontFamily: 'Space Grotesk, Inter, sans-serif' }}&gt;02&lt;/Text&gt;&#10;                    &lt;Box style={{ flex: 1 }}&gt;&#10;                        &lt;Text style={{ fontSize: 19, fontWeight: 'bold', color: '#0F2039' }}&gt;经验补救&lt;/Text&gt;&#10;                        &lt;Text style={{ fontSize: 13.5, color: '#64748B', marginTop: 2 }}&gt;参考往年同期负荷，乘以基于经验估计的修正因子&lt;/Text&gt;&#10;                    &lt;/Box&gt;&#10;                    &lt;Box style={{ padding: '4px 10px', background: '#F1F5F9', borderRadius: 6 }}&gt;&#10;                        &lt;Text style={{ fontSize: 12, color: '#64748B' }}&gt;依赖个人&lt;/Text&gt;&#10;                    &lt;/Box&gt;&#10;                &lt;/Box&gt;&#10;                &lt;Box style={{ flexDirection: 'row', alignItems: 'center', gap: 16, paddingBottom: 12, paddingTop: 12, borderBottom: '1px solid #E2E8F0' }}&gt;&#10;                    &lt;Text style={{ width: 56, fontSize: 25, fontWeight: 'bold', color: '#0A1D37', fontFamily: 'Space Grotesk, Inter, sans-serif' }}&gt;03&lt;/Text&gt;&#10;                    &lt;Box style={{ flex: 1 }}&gt;&#10;                        &lt;Text style={{ fontSize: 19, fontWeight: 'bold', color: '#0F2039' }}&gt;临时预测&lt;/Text&gt;&#10;                        &lt;Text style={{ fontSize: 13.5, color: '#64748B', marginTop: 2 }}&gt;结果仅够支撑当日的峰值风险研判，无法沉淀复用&lt;/Text&gt;&#10;                    &lt;/Box&gt;&#10;                    &lt;Box style={{ padding: '4px 10px', background: '#F1F5F9', borderRadius: 6 }}&gt;&#10;                        &lt;Text style={{ fontSize: 12, color: '#64748B' }}&gt;一次性&lt;/Text&gt;&#10;                    &lt;/Box&gt;&#10;                &lt;/Box&gt;&#10;                &lt;Box style={{ flexDirection: 'row', alignItems: 'center', gap: 16, paddingTop: 12 }}&gt;&#10;                    &lt;Text style={{ width: 56, fontSize: 25, fontWeight: 'bold', color: '#0A1D37', fontFamily: 'Space Grotesk, Inter, sans-serif' }}&gt;04&lt;/Text&gt;&#10;                    &lt;Box style={{ flex: 1 }}&gt;&#10;                        &lt;Text style={{ fontSize: 19, fontWeight: 'bold', color: '#0F2039' }}&gt;被动应对&lt;/Text&gt;&#10;                        &lt;Text style={{ fontSize: 13.5, color: '#64748B', marginTop: 2 }}&gt;重过载应对窗口被压缩，措施滞后于风险&lt;/Text&gt;&#10;                    &lt;/Box&gt;&#10;                    &lt;Box style={{ padding: '4px 10px', background: '#F1F5F9', borderRadius: 6 }}&gt;&#10;                        &lt;Text style={{ fontSize: 12, color: '#64748B' }}&gt;窗口受限&lt;/Text&gt;&#10;                    &lt;/Box&gt;&#10;                &lt;/Box&gt;&#10;            &lt;/Box&gt;&#10;&#10;            &lt;Box style={{ marginTop: 16, background: '#0A1D37', borderRadius: 12, padding: '18px 24px', display: 'flex', flexDirection: 'column' }}&gt;&#10;                &lt;Box style={{ flexDirection: 'row', alignItems: 'center', gap: 24 }}&gt;&#10;                    &lt;Box style={{ flex: 1 }}&gt;&#10;                        &lt;Text style={{ fontSize: 17.5, fontWeight: 'bold', color: '#F8FAFC' }}&gt;想从模型层面及时介入？&lt;/Text&gt;&#10;                        &lt;Text style={{ fontSize: 13.5, color: '#94A3B8', marginTop: 6, lineHeight: 1.7 }}&gt;合同结束后没有算法团队与权限，重新优化要走立项、采购或运维流程&lt;/Text&gt;&#10;                    &lt;/Box&gt;&#10;                    &lt;Box style={{ alignItems: 'flex-end' }}&gt;&#10;                        &lt;Text style={{ fontSize: 40, fontWeight: 'bold', color: '#22D3EE', fontFamily: 'Space Grotesk, Inter, sans-serif' }}&gt;1–2 个月&lt;/Text&gt;&#10;                        &lt;Text style={{ fontSize: 12, color: '#94A3B8', marginTop: 2 }}&gt;重新优化的典型耗时&lt;/Text&gt;&#10;                    &lt;/Box&gt;&#10;                &lt;/Box&gt;&#10;                &lt;Box style={{ flexDirection: 'row', gap: 10, marginTop: 14 }}&gt;&#10;                    &lt;Box style={{ padding: '4px 12px', border: '1px solid #123B63', borderRadius: 6 }}&gt;&#10;                        &lt;Text style={{ fontSize: 12.5, color: '#94A3B8' }}&gt;无算法团队&lt;/Text&gt;&#10;                    &lt;/Box&gt;&#10;                    &lt;Box style={{ padding: '4px 12px', border: '1px solid #123B63', borderRadius: 6 }}&gt;&#10;                        &lt;Text style={{ fontSize: 12.5, color: '#94A3B8' }}&gt;无迭代权限&lt;/Text&gt;&#10;                    &lt;/Box&gt;&#10;                    &lt;Box style={{ padding: '4px 12px', border: '1px solid #123B63', borderRadius: 6 }}&gt;&#10;                        &lt;Text style={{ fontSize: 12.5, color: '#94A3B8' }}&gt;只能走立项 / 采购 / 运维流程&lt;/Text&gt;&#10;                    &lt;/Box&gt;&#10;                &lt;/Box&gt;&#10;            &lt;/Box&gt;&#10;        &lt;/Box&gt;&#10;    &lt;/Box&gt;&#10;&#10;    &lt;Box style={{ marginTop: 14, background: 'rgba(34,211,238,0.07)', borderLeft: '4px solid #22D3EE', borderRadius: '0 8px 8px 0', padding: '10px 18px' }}&gt;&#10;        &lt;Text style={{ fontSize: 15, color: '#0F2039' }}&gt;根源：&lt;span style={{ fontWeight: 'bold' }}&gt;一次性交付模式&lt;/span&gt; —— 模型上线之日，就是它开始过时之时。&lt;/Text&gt;&#10;    &lt;/Box&gt;&#10;&#10;    &lt;Box style={{ flexDirection: 'row', marginTop: 12, alignItems: 'center' }}&gt;&#10;        &lt;Text style={{ fontSize: 12, color: '#94A3B8' }}&gt;负荷预测持续学习引擎 · 客户痛点&lt;/Text&gt;&#10;        &lt;Box style={{ marginLeft: 'auto', flexDirection: 'row', alignItems: 'center', gap: 8 }}&gt;&#10;            &lt;Box style={{ width: 10, height: 10, background: '#22D3EE' }} /&gt;&#10;            &lt;Text style={{ fontSize: 13, color: '#64748B' }}&gt;CLE · 02 / 07&lt;/Text&gt;&#10;        &lt;/Box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8" name="" descr="{&quot;isTemplate&quot;:true,&quot;type&quot;:&quot;text&quot;}"/>
          <p:cNvSpPr txBox="1"/>
          <p:nvPr/>
        </p:nvSpPr>
        <p:spPr>
          <a:xfrm rot="0" flipH="0" flipV="0">
            <a:off x="609600" y="20955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A1D37"/>
                </a:solidFill>
                <a:latin typeface="Microsoft YaHei"/>
                <a:ea typeface="Microsoft YaHei"/>
              </a:rPr>
              <a:t>预测不准时，王工只能用经验预测补救</a:t>
            </a:r>
            <a:endParaRPr/>
          </a:p>
        </p:txBody>
      </p:sp>
      <p:sp>
        <p:nvSpPr>
          <p:cNvPr id="49" name="" descr="{&quot;isTemplate&quot;:true,&quot;type&quot;:&quot;text&quot;}"/>
          <p:cNvSpPr txBox="1"/>
          <p:nvPr/>
        </p:nvSpPr>
        <p:spPr>
          <a:xfrm rot="0" flipH="0" flipV="0">
            <a:off x="609600" y="638175"/>
            <a:ext cx="10972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省级电网公司生技部专责王工的一天</a:t>
            </a:r>
            <a:r>
              <a:rPr lang="en-US" sz="1200">
                <a:solidFill>
                  <a:srgbClr val="64748B"/>
                </a:solidFill>
                <a:latin typeface="Microsoft YaHei"/>
                <a:ea typeface="Microsoft YaHei"/>
              </a:rPr>
              <a:t> · </a:t>
            </a: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旅游旺季与返乡潮的用电高峰</a:t>
            </a:r>
            <a:endParaRPr/>
          </a:p>
        </p:txBody>
      </p:sp>
      <p:sp>
        <p:nvSpPr>
          <p:cNvPr id="50" name=""/>
          <p:cNvSpPr/>
          <p:nvPr/>
        </p:nvSpPr>
        <p:spPr>
          <a:xfrm rot="0" flipH="0" flipV="0">
            <a:off x="609600" y="981075"/>
            <a:ext cx="3143250" cy="4962525"/>
          </a:xfrm>
          <a:prstGeom prst="roundRect">
            <a:avLst>
              <a:gd name="adj" fmla="val 3636"/>
            </a:avLst>
          </a:prstGeom>
          <a:solidFill>
            <a:srgbClr val="0A1D37"/>
          </a:solidFill>
          <a:ln/>
        </p:spPr>
        <p:txBody>
          <a:bodyPr/>
          <a:p/>
        </p:txBody>
      </p:sp>
      <p:sp>
        <p:nvSpPr>
          <p:cNvPr id="51" name="" descr="{&quot;isTemplate&quot;:true,&quot;type&quot;:&quot;text&quot;}"/>
          <p:cNvSpPr txBox="1"/>
          <p:nvPr/>
        </p:nvSpPr>
        <p:spPr>
          <a:xfrm rot="0" flipH="0" flipV="0">
            <a:off x="838200" y="1209675"/>
            <a:ext cx="26860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spc="225">
                <a:solidFill>
                  <a:srgbClr val="22D3EE"/>
                </a:solidFill>
                <a:latin typeface="Microsoft YaHei"/>
                <a:ea typeface="Microsoft YaHei"/>
              </a:rPr>
              <a:t>客户</a:t>
            </a:r>
            <a:r>
              <a:rPr lang="en-US" sz="938" spc="225">
                <a:solidFill>
                  <a:srgbClr val="22D3EE"/>
                </a:solidFill>
                <a:latin typeface="Microsoft YaHei"/>
                <a:ea typeface="Microsoft YaHei"/>
              </a:rPr>
              <a:t> · </a:t>
            </a:r>
            <a:r>
              <a:rPr lang="zh-CN" sz="938" spc="225">
                <a:solidFill>
                  <a:srgbClr val="22D3EE"/>
                </a:solidFill>
                <a:latin typeface="Microsoft YaHei"/>
                <a:ea typeface="Microsoft YaHei"/>
              </a:rPr>
              <a:t>王工</a:t>
            </a:r>
            <a:endParaRPr/>
          </a:p>
        </p:txBody>
      </p:sp>
      <p:sp>
        <p:nvSpPr>
          <p:cNvPr id="52" name="" descr="{&quot;isTemplate&quot;:true,&quot;type&quot;:&quot;text&quot;}"/>
          <p:cNvSpPr txBox="1"/>
          <p:nvPr/>
        </p:nvSpPr>
        <p:spPr>
          <a:xfrm rot="0" flipH="0" flipV="0">
            <a:off x="838200" y="1447800"/>
            <a:ext cx="26860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F8FAFC"/>
                </a:solidFill>
                <a:latin typeface="Microsoft YaHei"/>
                <a:ea typeface="Microsoft YaHei"/>
              </a:rPr>
              <a:t>省级电网公司</a:t>
            </a:r>
            <a:r>
              <a:rPr lang="en-US" sz="1425" b="1">
                <a:solidFill>
                  <a:srgbClr val="F8FAFC"/>
                </a:solidFill>
                <a:latin typeface="Microsoft YaHei"/>
                <a:ea typeface="Microsoft YaHei"/>
              </a:rPr>
              <a:t> · </a:t>
            </a:r>
            <a:r>
              <a:rPr lang="zh-CN" sz="1425" b="1">
                <a:solidFill>
                  <a:srgbClr val="F8FAFC"/>
                </a:solidFill>
                <a:latin typeface="Microsoft YaHei"/>
                <a:ea typeface="Microsoft YaHei"/>
              </a:rPr>
              <a:t>生技部专责</a:t>
            </a:r>
            <a:endParaRPr/>
          </a:p>
        </p:txBody>
      </p:sp>
      <p:sp>
        <p:nvSpPr>
          <p:cNvPr id="53" name="" descr="{&quot;isTemplate&quot;:true,&quot;type&quot;:&quot;text&quot;}"/>
          <p:cNvSpPr txBox="1"/>
          <p:nvPr/>
        </p:nvSpPr>
        <p:spPr>
          <a:xfrm rot="0" flipH="0" flipV="0">
            <a:off x="838200" y="1762125"/>
            <a:ext cx="2686050" cy="8667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旅游旺季、返乡潮等因素可能带来用电高峰。他需要据此研判峰值风险，并安排重过载应对措施。</a:t>
            </a:r>
            <a:endParaRPr/>
          </a:p>
        </p:txBody>
      </p:sp>
      <p:sp>
        <p:nvSpPr>
          <p:cNvPr id="54" name=""/>
          <p:cNvSpPr/>
          <p:nvPr/>
        </p:nvSpPr>
        <p:spPr>
          <a:xfrm rot="0" flipH="0" flipV="0">
            <a:off x="838200" y="2781300"/>
            <a:ext cx="2686050" cy="9525"/>
          </a:xfrm>
          <a:prstGeom prst="rect">
            <a:avLst/>
          </a:prstGeom>
          <a:solidFill>
            <a:srgbClr val="123B63"/>
          </a:solidFill>
          <a:ln/>
        </p:spPr>
        <p:txBody>
          <a:bodyPr/>
          <a:p/>
        </p:txBody>
      </p:sp>
      <p:sp>
        <p:nvSpPr>
          <p:cNvPr id="55" name="" descr="{&quot;isTemplate&quot;:true,&quot;type&quot;:&quot;text&quot;}"/>
          <p:cNvSpPr txBox="1"/>
          <p:nvPr/>
        </p:nvSpPr>
        <p:spPr>
          <a:xfrm rot="0" flipH="0" flipV="0">
            <a:off x="838200" y="2924175"/>
            <a:ext cx="26860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spc="150">
                <a:solidFill>
                  <a:srgbClr val="22D3EE"/>
                </a:solidFill>
                <a:latin typeface="Microsoft YaHei"/>
                <a:ea typeface="Microsoft YaHei"/>
              </a:rPr>
              <a:t>一天三刻</a:t>
            </a:r>
            <a:endParaRPr/>
          </a:p>
        </p:txBody>
      </p:sp>
      <p:sp>
        <p:nvSpPr>
          <p:cNvPr id="56" name="" descr="{&quot;isTemplate&quot;:true,&quot;type&quot;:&quot;text&quot;}"/>
          <p:cNvSpPr txBox="1"/>
          <p:nvPr/>
        </p:nvSpPr>
        <p:spPr>
          <a:xfrm rot="0" flipH="0" flipV="0">
            <a:off x="838200" y="3162300"/>
            <a:ext cx="419100" cy="2381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22D3EE"/>
                </a:solidFill>
                <a:latin typeface="Microsoft YaHei"/>
                <a:ea typeface="Microsoft YaHei"/>
              </a:rPr>
              <a:t>08:00</a:t>
            </a:r>
            <a:endParaRPr/>
          </a:p>
        </p:txBody>
      </p:sp>
      <p:sp>
        <p:nvSpPr>
          <p:cNvPr id="57" name="" descr="{&quot;isTemplate&quot;:true,&quot;type&quot;:&quot;text&quot;}"/>
          <p:cNvSpPr txBox="1"/>
          <p:nvPr/>
        </p:nvSpPr>
        <p:spPr>
          <a:xfrm rot="0" flipH="0" flipV="0">
            <a:off x="1352550" y="3162300"/>
            <a:ext cx="2171700" cy="2381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975">
                <a:solidFill>
                  <a:srgbClr val="CBD5E1"/>
                </a:solidFill>
                <a:latin typeface="Microsoft YaHei"/>
                <a:ea typeface="Microsoft YaHei"/>
              </a:rPr>
              <a:t>例行查看预测，发现高峰时段明显偏低</a:t>
            </a:r>
            <a:endParaRPr/>
          </a:p>
        </p:txBody>
      </p:sp>
      <p:sp>
        <p:nvSpPr>
          <p:cNvPr id="58" name="" descr="{&quot;isTemplate&quot;:true,&quot;type&quot;:&quot;text&quot;}"/>
          <p:cNvSpPr txBox="1"/>
          <p:nvPr/>
        </p:nvSpPr>
        <p:spPr>
          <a:xfrm rot="0" flipH="0" flipV="0">
            <a:off x="838200" y="3495675"/>
            <a:ext cx="419100" cy="2381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22D3EE"/>
                </a:solidFill>
                <a:latin typeface="Microsoft YaHei"/>
                <a:ea typeface="Microsoft YaHei"/>
              </a:rPr>
              <a:t>09:30</a:t>
            </a:r>
            <a:endParaRPr/>
          </a:p>
        </p:txBody>
      </p:sp>
      <p:sp>
        <p:nvSpPr>
          <p:cNvPr id="59" name="" descr="{&quot;isTemplate&quot;:true,&quot;type&quot;:&quot;text&quot;}"/>
          <p:cNvSpPr txBox="1"/>
          <p:nvPr/>
        </p:nvSpPr>
        <p:spPr>
          <a:xfrm rot="0" flipH="0" flipV="0">
            <a:off x="1352550" y="3495675"/>
            <a:ext cx="2171700" cy="2381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975">
                <a:solidFill>
                  <a:srgbClr val="CBD5E1"/>
                </a:solidFill>
                <a:latin typeface="Microsoft YaHei"/>
                <a:ea typeface="Microsoft YaHei"/>
              </a:rPr>
              <a:t>调出往年同期曲线，乘以经验修正因子</a:t>
            </a:r>
            <a:endParaRPr/>
          </a:p>
        </p:txBody>
      </p:sp>
      <p:sp>
        <p:nvSpPr>
          <p:cNvPr id="60" name="" descr="{&quot;isTemplate&quot;:true,&quot;type&quot;:&quot;text&quot;}"/>
          <p:cNvSpPr txBox="1"/>
          <p:nvPr/>
        </p:nvSpPr>
        <p:spPr>
          <a:xfrm rot="0" flipH="0" flipV="0">
            <a:off x="838200" y="3829050"/>
            <a:ext cx="419100" cy="2381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22D3EE"/>
                </a:solidFill>
                <a:latin typeface="Microsoft YaHei"/>
                <a:ea typeface="Microsoft YaHei"/>
              </a:rPr>
              <a:t>14:00</a:t>
            </a:r>
            <a:endParaRPr/>
          </a:p>
        </p:txBody>
      </p:sp>
      <p:sp>
        <p:nvSpPr>
          <p:cNvPr id="61" name="" descr="{&quot;isTemplate&quot;:true,&quot;type&quot;:&quot;text&quot;}"/>
          <p:cNvSpPr txBox="1"/>
          <p:nvPr/>
        </p:nvSpPr>
        <p:spPr>
          <a:xfrm rot="0" flipH="0" flipV="0">
            <a:off x="1352550" y="3829050"/>
            <a:ext cx="2171700" cy="2381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975">
                <a:solidFill>
                  <a:srgbClr val="CBD5E1"/>
                </a:solidFill>
                <a:latin typeface="Microsoft YaHei"/>
                <a:ea typeface="Microsoft YaHei"/>
              </a:rPr>
              <a:t>提交临时预测，紧急安排重过载应对</a:t>
            </a:r>
            <a:endParaRPr/>
          </a:p>
        </p:txBody>
      </p:sp>
      <p:sp>
        <p:nvSpPr>
          <p:cNvPr id="62" name="" descr="{&quot;isTemplate&quot;:true,&quot;type&quot;:&quot;text&quot;}"/>
          <p:cNvSpPr txBox="1"/>
          <p:nvPr/>
        </p:nvSpPr>
        <p:spPr>
          <a:xfrm rot="0" flipH="0" flipV="0">
            <a:off x="838200" y="4810125"/>
            <a:ext cx="2686050" cy="6667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zh-CN" sz="1200">
                <a:solidFill>
                  <a:srgbClr val="F8FAFC"/>
                </a:solidFill>
                <a:latin typeface="Microsoft YaHei"/>
                <a:ea typeface="Microsoft YaHei"/>
              </a:rPr>
              <a:t>「预测不准的那天，我只能拿往年同期，乘一个经验修正系数。」</a:t>
            </a:r>
            <a:endParaRPr/>
          </a:p>
        </p:txBody>
      </p:sp>
      <p:sp>
        <p:nvSpPr>
          <p:cNvPr id="63" name="" descr="{&quot;isTemplate&quot;:true,&quot;type&quot;:&quot;text&quot;}"/>
          <p:cNvSpPr txBox="1"/>
          <p:nvPr/>
        </p:nvSpPr>
        <p:spPr>
          <a:xfrm rot="0" flipH="0" flipV="0">
            <a:off x="838200" y="5572125"/>
            <a:ext cx="26860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64748B"/>
                </a:solidFill>
                <a:latin typeface="Microsoft YaHei"/>
                <a:ea typeface="Microsoft YaHei"/>
              </a:rPr>
              <a:t>—— </a:t>
            </a:r>
            <a:r>
              <a:rPr lang="zh-CN" sz="900">
                <a:solidFill>
                  <a:srgbClr val="64748B"/>
                </a:solidFill>
                <a:latin typeface="Microsoft YaHei"/>
                <a:ea typeface="Microsoft YaHei"/>
              </a:rPr>
              <a:t>一次性交付模式的日常</a:t>
            </a:r>
            <a:endParaRPr/>
          </a:p>
        </p:txBody>
      </p:sp>
      <p:sp>
        <p:nvSpPr>
          <p:cNvPr id="64" name=""/>
          <p:cNvSpPr/>
          <p:nvPr/>
        </p:nvSpPr>
        <p:spPr>
          <a:xfrm rot="0" flipH="0" flipV="0">
            <a:off x="3981450" y="981075"/>
            <a:ext cx="7600950" cy="533400"/>
          </a:xfrm>
          <a:custGeom>
            <a:pathLst>
              <a:path w="798" h="56">
                <a:moveTo>
                  <a:pt x="0" y="55"/>
                </a:moveTo>
                <a:lnTo>
                  <a:pt x="798" y="55"/>
                </a:lnTo>
                <a:lnTo>
                  <a:pt x="798" y="56"/>
                </a:lnTo>
                <a:lnTo>
                  <a:pt x="0" y="56"/>
                </a:lnTo>
                <a:close/>
              </a:path>
            </a:pathLst>
          </a:custGeom>
          <a:solidFill>
            <a:srgbClr val="E2E8F0"/>
          </a:solidFill>
          <a:ln/>
        </p:spPr>
        <p:txBody>
          <a:bodyPr/>
          <a:p/>
        </p:txBody>
      </p:sp>
      <p:sp>
        <p:nvSpPr>
          <p:cNvPr id="65" name="" descr="{&quot;isTemplate&quot;:true,&quot;type&quot;:&quot;text&quot;}"/>
          <p:cNvSpPr txBox="1"/>
          <p:nvPr/>
        </p:nvSpPr>
        <p:spPr>
          <a:xfrm rot="0" flipH="0" flipV="0">
            <a:off x="3981450" y="1038225"/>
            <a:ext cx="533400" cy="2857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75" b="1">
                <a:solidFill>
                  <a:srgbClr val="0A1D37"/>
                </a:solidFill>
                <a:latin typeface="Space Grotesk"/>
                <a:ea typeface="Space Grotesk"/>
              </a:rPr>
              <a:t>01</a:t>
            </a:r>
            <a:endParaRPr/>
          </a:p>
        </p:txBody>
      </p:sp>
      <p:sp>
        <p:nvSpPr>
          <p:cNvPr id="66" name="" descr="{&quot;isTemplate&quot;:true,&quot;type&quot;:&quot;text&quot;}"/>
          <p:cNvSpPr txBox="1"/>
          <p:nvPr/>
        </p:nvSpPr>
        <p:spPr>
          <a:xfrm rot="0" flipH="0" flipV="0">
            <a:off x="4667250" y="981075"/>
            <a:ext cx="60007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F2039"/>
                </a:solidFill>
                <a:latin typeface="Microsoft YaHei"/>
                <a:ea typeface="Microsoft YaHei"/>
              </a:rPr>
              <a:t>预测偏差</a:t>
            </a:r>
            <a:endParaRPr/>
          </a:p>
        </p:txBody>
      </p:sp>
      <p:sp>
        <p:nvSpPr>
          <p:cNvPr id="67" name="" descr="{&quot;isTemplate&quot;:true,&quot;type&quot;:&quot;text&quot;}"/>
          <p:cNvSpPr txBox="1"/>
          <p:nvPr/>
        </p:nvSpPr>
        <p:spPr>
          <a:xfrm rot="0" flipH="0" flipV="0">
            <a:off x="4667250" y="1219200"/>
            <a:ext cx="6000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13">
                <a:solidFill>
                  <a:srgbClr val="64748B"/>
                </a:solidFill>
                <a:latin typeface="Microsoft YaHei"/>
                <a:ea typeface="Microsoft YaHei"/>
              </a:rPr>
              <a:t>模型预测低于实际负荷，峰值时间点与幅度同时偏移</a:t>
            </a:r>
            <a:endParaRPr/>
          </a:p>
        </p:txBody>
      </p:sp>
      <p:sp>
        <p:nvSpPr>
          <p:cNvPr id="68" name=""/>
          <p:cNvSpPr/>
          <p:nvPr/>
        </p:nvSpPr>
        <p:spPr>
          <a:xfrm rot="0" flipH="0" flipV="0">
            <a:off x="10820400" y="1076325"/>
            <a:ext cx="762000" cy="219075"/>
          </a:xfrm>
          <a:prstGeom prst="roundRect">
            <a:avLst>
              <a:gd name="adj" fmla="val 26087"/>
            </a:avLst>
          </a:prstGeom>
          <a:solidFill>
            <a:srgbClr val="F1F5F9"/>
          </a:solidFill>
          <a:ln/>
        </p:spPr>
        <p:txBody>
          <a:bodyPr/>
          <a:p/>
        </p:txBody>
      </p:sp>
      <p:sp>
        <p:nvSpPr>
          <p:cNvPr id="69" name="" descr="{&quot;isTemplate&quot;:true,&quot;type&quot;:&quot;text&quot;}"/>
          <p:cNvSpPr txBox="1"/>
          <p:nvPr/>
        </p:nvSpPr>
        <p:spPr>
          <a:xfrm rot="0" flipH="0" flipV="0">
            <a:off x="10915650" y="1114425"/>
            <a:ext cx="5715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64748B"/>
                </a:solidFill>
                <a:latin typeface="Microsoft YaHei"/>
                <a:ea typeface="Microsoft YaHei"/>
              </a:rPr>
              <a:t>旺季被低估</a:t>
            </a:r>
            <a:endParaRPr/>
          </a:p>
        </p:txBody>
      </p:sp>
      <p:sp>
        <p:nvSpPr>
          <p:cNvPr id="70" name=""/>
          <p:cNvSpPr/>
          <p:nvPr/>
        </p:nvSpPr>
        <p:spPr>
          <a:xfrm rot="0" flipH="0" flipV="0">
            <a:off x="3981450" y="1504950"/>
            <a:ext cx="7600950" cy="647700"/>
          </a:xfrm>
          <a:custGeom>
            <a:pathLst>
              <a:path w="798" h="68">
                <a:moveTo>
                  <a:pt x="0" y="67"/>
                </a:moveTo>
                <a:lnTo>
                  <a:pt x="798" y="67"/>
                </a:lnTo>
                <a:lnTo>
                  <a:pt x="798" y="68"/>
                </a:lnTo>
                <a:lnTo>
                  <a:pt x="0" y="68"/>
                </a:lnTo>
                <a:close/>
              </a:path>
            </a:pathLst>
          </a:custGeom>
          <a:solidFill>
            <a:srgbClr val="E2E8F0"/>
          </a:solidFill>
          <a:ln/>
        </p:spPr>
        <p:txBody>
          <a:bodyPr/>
          <a:p/>
        </p:txBody>
      </p:sp>
      <p:sp>
        <p:nvSpPr>
          <p:cNvPr id="71" name="" descr="{&quot;isTemplate&quot;:true,&quot;type&quot;:&quot;text&quot;}"/>
          <p:cNvSpPr txBox="1"/>
          <p:nvPr/>
        </p:nvSpPr>
        <p:spPr>
          <a:xfrm rot="0" flipH="0" flipV="0">
            <a:off x="3981450" y="1676400"/>
            <a:ext cx="533400" cy="2857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75" b="1">
                <a:solidFill>
                  <a:srgbClr val="0A1D37"/>
                </a:solidFill>
                <a:latin typeface="Space Grotesk"/>
                <a:ea typeface="Space Grotesk"/>
              </a:rPr>
              <a:t>02</a:t>
            </a:r>
            <a:endParaRPr/>
          </a:p>
        </p:txBody>
      </p:sp>
      <p:sp>
        <p:nvSpPr>
          <p:cNvPr id="72" name="" descr="{&quot;isTemplate&quot;:true,&quot;type&quot;:&quot;text&quot;}"/>
          <p:cNvSpPr txBox="1"/>
          <p:nvPr/>
        </p:nvSpPr>
        <p:spPr>
          <a:xfrm rot="0" flipH="0" flipV="0">
            <a:off x="4667250" y="1619250"/>
            <a:ext cx="61150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F2039"/>
                </a:solidFill>
                <a:latin typeface="Microsoft YaHei"/>
                <a:ea typeface="Microsoft YaHei"/>
              </a:rPr>
              <a:t>经验补救</a:t>
            </a:r>
            <a:endParaRPr/>
          </a:p>
        </p:txBody>
      </p:sp>
      <p:sp>
        <p:nvSpPr>
          <p:cNvPr id="73" name="" descr="{&quot;isTemplate&quot;:true,&quot;type&quot;:&quot;text&quot;}"/>
          <p:cNvSpPr txBox="1"/>
          <p:nvPr/>
        </p:nvSpPr>
        <p:spPr>
          <a:xfrm rot="0" flipH="0" flipV="0">
            <a:off x="4667250" y="1857375"/>
            <a:ext cx="6115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13">
                <a:solidFill>
                  <a:srgbClr val="64748B"/>
                </a:solidFill>
                <a:latin typeface="Microsoft YaHei"/>
                <a:ea typeface="Microsoft YaHei"/>
              </a:rPr>
              <a:t>参考往年同期负荷，乘以基于经验估计的修正因子</a:t>
            </a:r>
            <a:endParaRPr/>
          </a:p>
        </p:txBody>
      </p:sp>
      <p:sp>
        <p:nvSpPr>
          <p:cNvPr id="74" name=""/>
          <p:cNvSpPr/>
          <p:nvPr/>
        </p:nvSpPr>
        <p:spPr>
          <a:xfrm rot="0" flipH="0" flipV="0">
            <a:off x="10934700" y="1714500"/>
            <a:ext cx="647700" cy="219075"/>
          </a:xfrm>
          <a:prstGeom prst="roundRect">
            <a:avLst>
              <a:gd name="adj" fmla="val 26087"/>
            </a:avLst>
          </a:prstGeom>
          <a:solidFill>
            <a:srgbClr val="F1F5F9"/>
          </a:solidFill>
          <a:ln/>
        </p:spPr>
        <p:txBody>
          <a:bodyPr/>
          <a:p/>
        </p:txBody>
      </p:sp>
      <p:sp>
        <p:nvSpPr>
          <p:cNvPr id="75" name="" descr="{&quot;isTemplate&quot;:true,&quot;type&quot;:&quot;text&quot;}"/>
          <p:cNvSpPr txBox="1"/>
          <p:nvPr/>
        </p:nvSpPr>
        <p:spPr>
          <a:xfrm rot="0" flipH="0" flipV="0">
            <a:off x="11029950" y="1752600"/>
            <a:ext cx="457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64748B"/>
                </a:solidFill>
                <a:latin typeface="Microsoft YaHei"/>
                <a:ea typeface="Microsoft YaHei"/>
              </a:rPr>
              <a:t>依赖个人</a:t>
            </a:r>
            <a:endParaRPr/>
          </a:p>
        </p:txBody>
      </p:sp>
      <p:sp>
        <p:nvSpPr>
          <p:cNvPr id="76" name=""/>
          <p:cNvSpPr/>
          <p:nvPr/>
        </p:nvSpPr>
        <p:spPr>
          <a:xfrm rot="0" flipH="0" flipV="0">
            <a:off x="3981450" y="2143125"/>
            <a:ext cx="7600950" cy="647700"/>
          </a:xfrm>
          <a:custGeom>
            <a:pathLst>
              <a:path w="798" h="68">
                <a:moveTo>
                  <a:pt x="0" y="67"/>
                </a:moveTo>
                <a:lnTo>
                  <a:pt x="798" y="67"/>
                </a:lnTo>
                <a:lnTo>
                  <a:pt x="798" y="68"/>
                </a:lnTo>
                <a:lnTo>
                  <a:pt x="0" y="68"/>
                </a:lnTo>
                <a:close/>
              </a:path>
            </a:pathLst>
          </a:custGeom>
          <a:solidFill>
            <a:srgbClr val="E2E8F0"/>
          </a:solidFill>
          <a:ln/>
        </p:spPr>
        <p:txBody>
          <a:bodyPr/>
          <a:p/>
        </p:txBody>
      </p:sp>
      <p:sp>
        <p:nvSpPr>
          <p:cNvPr id="77" name="" descr="{&quot;isTemplate&quot;:true,&quot;type&quot;:&quot;text&quot;}"/>
          <p:cNvSpPr txBox="1"/>
          <p:nvPr/>
        </p:nvSpPr>
        <p:spPr>
          <a:xfrm rot="0" flipH="0" flipV="0">
            <a:off x="3981450" y="2314575"/>
            <a:ext cx="533400" cy="2857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75" b="1">
                <a:solidFill>
                  <a:srgbClr val="0A1D37"/>
                </a:solidFill>
                <a:latin typeface="Space Grotesk"/>
                <a:ea typeface="Space Grotesk"/>
              </a:rPr>
              <a:t>03</a:t>
            </a:r>
            <a:endParaRPr/>
          </a:p>
        </p:txBody>
      </p:sp>
      <p:sp>
        <p:nvSpPr>
          <p:cNvPr id="78" name="" descr="{&quot;isTemplate&quot;:true,&quot;type&quot;:&quot;text&quot;}"/>
          <p:cNvSpPr txBox="1"/>
          <p:nvPr/>
        </p:nvSpPr>
        <p:spPr>
          <a:xfrm rot="0" flipH="0" flipV="0">
            <a:off x="4667250" y="2257425"/>
            <a:ext cx="62293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F2039"/>
                </a:solidFill>
                <a:latin typeface="Microsoft YaHei"/>
                <a:ea typeface="Microsoft YaHei"/>
              </a:rPr>
              <a:t>临时预测</a:t>
            </a:r>
            <a:endParaRPr/>
          </a:p>
        </p:txBody>
      </p:sp>
      <p:sp>
        <p:nvSpPr>
          <p:cNvPr id="79" name="" descr="{&quot;isTemplate&quot;:true,&quot;type&quot;:&quot;text&quot;}"/>
          <p:cNvSpPr txBox="1"/>
          <p:nvPr/>
        </p:nvSpPr>
        <p:spPr>
          <a:xfrm rot="0" flipH="0" flipV="0">
            <a:off x="4667250" y="2495550"/>
            <a:ext cx="6229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13">
                <a:solidFill>
                  <a:srgbClr val="64748B"/>
                </a:solidFill>
                <a:latin typeface="Microsoft YaHei"/>
                <a:ea typeface="Microsoft YaHei"/>
              </a:rPr>
              <a:t>结果仅够支撑当日的峰值风险研判，无法沉淀复用</a:t>
            </a:r>
            <a:endParaRPr/>
          </a:p>
        </p:txBody>
      </p:sp>
      <p:sp>
        <p:nvSpPr>
          <p:cNvPr id="80" name=""/>
          <p:cNvSpPr/>
          <p:nvPr/>
        </p:nvSpPr>
        <p:spPr>
          <a:xfrm rot="0" flipH="0" flipV="0">
            <a:off x="11049000" y="2352675"/>
            <a:ext cx="533400" cy="219075"/>
          </a:xfrm>
          <a:prstGeom prst="roundRect">
            <a:avLst>
              <a:gd name="adj" fmla="val 26087"/>
            </a:avLst>
          </a:prstGeom>
          <a:solidFill>
            <a:srgbClr val="F1F5F9"/>
          </a:solidFill>
          <a:ln/>
        </p:spPr>
        <p:txBody>
          <a:bodyPr/>
          <a:p/>
        </p:txBody>
      </p:sp>
      <p:sp>
        <p:nvSpPr>
          <p:cNvPr id="81" name="" descr="{&quot;isTemplate&quot;:true,&quot;type&quot;:&quot;text&quot;}"/>
          <p:cNvSpPr txBox="1"/>
          <p:nvPr/>
        </p:nvSpPr>
        <p:spPr>
          <a:xfrm rot="0" flipH="0" flipV="0">
            <a:off x="11144250" y="2390775"/>
            <a:ext cx="3429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64748B"/>
                </a:solidFill>
                <a:latin typeface="Microsoft YaHei"/>
                <a:ea typeface="Microsoft YaHei"/>
              </a:rPr>
              <a:t>一次性</a:t>
            </a:r>
            <a:endParaRPr/>
          </a:p>
        </p:txBody>
      </p:sp>
      <p:sp>
        <p:nvSpPr>
          <p:cNvPr id="82" name="" descr="{&quot;isTemplate&quot;:true,&quot;type&quot;:&quot;text&quot;}"/>
          <p:cNvSpPr txBox="1"/>
          <p:nvPr/>
        </p:nvSpPr>
        <p:spPr>
          <a:xfrm rot="0" flipH="0" flipV="0">
            <a:off x="3981450" y="2952750"/>
            <a:ext cx="533400" cy="2857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75" b="1">
                <a:solidFill>
                  <a:srgbClr val="0A1D37"/>
                </a:solidFill>
                <a:latin typeface="Space Grotesk"/>
                <a:ea typeface="Space Grotesk"/>
              </a:rPr>
              <a:t>04</a:t>
            </a:r>
            <a:endParaRPr/>
          </a:p>
        </p:txBody>
      </p:sp>
      <p:sp>
        <p:nvSpPr>
          <p:cNvPr id="83" name="" descr="{&quot;isTemplate&quot;:true,&quot;type&quot;:&quot;text&quot;}"/>
          <p:cNvSpPr txBox="1"/>
          <p:nvPr/>
        </p:nvSpPr>
        <p:spPr>
          <a:xfrm rot="0" flipH="0" flipV="0">
            <a:off x="4667250" y="2895600"/>
            <a:ext cx="61150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F2039"/>
                </a:solidFill>
                <a:latin typeface="Microsoft YaHei"/>
                <a:ea typeface="Microsoft YaHei"/>
              </a:rPr>
              <a:t>被动应对</a:t>
            </a:r>
            <a:endParaRPr/>
          </a:p>
        </p:txBody>
      </p:sp>
      <p:sp>
        <p:nvSpPr>
          <p:cNvPr id="84" name="" descr="{&quot;isTemplate&quot;:true,&quot;type&quot;:&quot;text&quot;}"/>
          <p:cNvSpPr txBox="1"/>
          <p:nvPr/>
        </p:nvSpPr>
        <p:spPr>
          <a:xfrm rot="0" flipH="0" flipV="0">
            <a:off x="4667250" y="3133725"/>
            <a:ext cx="6115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13">
                <a:solidFill>
                  <a:srgbClr val="64748B"/>
                </a:solidFill>
                <a:latin typeface="Microsoft YaHei"/>
                <a:ea typeface="Microsoft YaHei"/>
              </a:rPr>
              <a:t>重过载应对窗口被压缩，措施滞后于风险</a:t>
            </a:r>
            <a:endParaRPr/>
          </a:p>
        </p:txBody>
      </p:sp>
      <p:sp>
        <p:nvSpPr>
          <p:cNvPr id="85" name=""/>
          <p:cNvSpPr/>
          <p:nvPr/>
        </p:nvSpPr>
        <p:spPr>
          <a:xfrm rot="0" flipH="0" flipV="0">
            <a:off x="10934700" y="2990850"/>
            <a:ext cx="647700" cy="219075"/>
          </a:xfrm>
          <a:prstGeom prst="roundRect">
            <a:avLst>
              <a:gd name="adj" fmla="val 26087"/>
            </a:avLst>
          </a:prstGeom>
          <a:solidFill>
            <a:srgbClr val="F1F5F9"/>
          </a:solidFill>
          <a:ln/>
        </p:spPr>
        <p:txBody>
          <a:bodyPr/>
          <a:p/>
        </p:txBody>
      </p:sp>
      <p:sp>
        <p:nvSpPr>
          <p:cNvPr id="86" name="" descr="{&quot;isTemplate&quot;:true,&quot;type&quot;:&quot;text&quot;}"/>
          <p:cNvSpPr txBox="1"/>
          <p:nvPr/>
        </p:nvSpPr>
        <p:spPr>
          <a:xfrm rot="0" flipH="0" flipV="0">
            <a:off x="11029950" y="3028950"/>
            <a:ext cx="457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64748B"/>
                </a:solidFill>
                <a:latin typeface="Microsoft YaHei"/>
                <a:ea typeface="Microsoft YaHei"/>
              </a:rPr>
              <a:t>窗口受限</a:t>
            </a:r>
            <a:endParaRPr/>
          </a:p>
        </p:txBody>
      </p:sp>
      <p:sp>
        <p:nvSpPr>
          <p:cNvPr id="87" name=""/>
          <p:cNvSpPr/>
          <p:nvPr/>
        </p:nvSpPr>
        <p:spPr>
          <a:xfrm rot="0" flipH="0" flipV="0">
            <a:off x="3981450" y="3448050"/>
            <a:ext cx="7600950" cy="1314450"/>
          </a:xfrm>
          <a:prstGeom prst="roundRect">
            <a:avLst>
              <a:gd name="adj" fmla="val 8696"/>
            </a:avLst>
          </a:prstGeom>
          <a:solidFill>
            <a:srgbClr val="0A1D37"/>
          </a:solidFill>
          <a:ln/>
        </p:spPr>
        <p:txBody>
          <a:bodyPr/>
          <a:p/>
        </p:txBody>
      </p:sp>
      <p:sp>
        <p:nvSpPr>
          <p:cNvPr id="88" name="" descr="{&quot;isTemplate&quot;:true,&quot;type&quot;:&quot;text&quot;}"/>
          <p:cNvSpPr txBox="1"/>
          <p:nvPr/>
        </p:nvSpPr>
        <p:spPr>
          <a:xfrm rot="0" flipH="0" flipV="0">
            <a:off x="4210050" y="3667125"/>
            <a:ext cx="54102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13" b="1">
                <a:solidFill>
                  <a:srgbClr val="F8FAFC"/>
                </a:solidFill>
                <a:latin typeface="Microsoft YaHei"/>
                <a:ea typeface="Microsoft YaHei"/>
              </a:rPr>
              <a:t>想从模型层面及时介入？</a:t>
            </a:r>
            <a:endParaRPr/>
          </a:p>
        </p:txBody>
      </p:sp>
      <p:sp>
        <p:nvSpPr>
          <p:cNvPr id="89" name="" descr="{&quot;isTemplate&quot;:true,&quot;type&quot;:&quot;text&quot;}"/>
          <p:cNvSpPr txBox="1"/>
          <p:nvPr/>
        </p:nvSpPr>
        <p:spPr>
          <a:xfrm rot="0" flipH="0" flipV="0">
            <a:off x="4210050" y="3924300"/>
            <a:ext cx="5410200" cy="266700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013">
                <a:solidFill>
                  <a:srgbClr val="94A3B8"/>
                </a:solidFill>
                <a:latin typeface="Microsoft YaHei"/>
                <a:ea typeface="Microsoft YaHei"/>
              </a:rPr>
              <a:t>合同结束后没有算法团队与权限，重新优化要走立项、采购或运维流程</a:t>
            </a:r>
            <a:endParaRPr/>
          </a:p>
        </p:txBody>
      </p:sp>
      <p:sp>
        <p:nvSpPr>
          <p:cNvPr id="90" name="" descr="{&quot;isTemplate&quot;:true,&quot;type&quot;:&quot;text&quot;}"/>
          <p:cNvSpPr txBox="1"/>
          <p:nvPr/>
        </p:nvSpPr>
        <p:spPr>
          <a:xfrm rot="0" flipH="0" flipV="0">
            <a:off x="9848850" y="3619500"/>
            <a:ext cx="1504950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000" b="1">
                <a:solidFill>
                  <a:srgbClr val="22D3EE"/>
                </a:solidFill>
                <a:latin typeface="Space Grotesk"/>
                <a:ea typeface="Space Grotesk"/>
              </a:rPr>
              <a:t>1–2 </a:t>
            </a:r>
            <a:r>
              <a:rPr lang="zh-CN" sz="3000" b="1">
                <a:solidFill>
                  <a:srgbClr val="22D3EE"/>
                </a:solidFill>
                <a:latin typeface="Space Grotesk"/>
                <a:ea typeface="Space Grotesk"/>
              </a:rPr>
              <a:t>个月</a:t>
            </a:r>
            <a:endParaRPr/>
          </a:p>
        </p:txBody>
      </p:sp>
      <p:sp>
        <p:nvSpPr>
          <p:cNvPr id="91" name="" descr="{&quot;isTemplate&quot;:true,&quot;type&quot;:&quot;text&quot;}"/>
          <p:cNvSpPr txBox="1"/>
          <p:nvPr/>
        </p:nvSpPr>
        <p:spPr>
          <a:xfrm rot="0" flipH="0" flipV="0">
            <a:off x="10325100" y="4095750"/>
            <a:ext cx="10287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94A3B8"/>
                </a:solidFill>
                <a:latin typeface="Microsoft YaHei"/>
                <a:ea typeface="Microsoft YaHei"/>
              </a:rPr>
              <a:t>重新优化的典型耗时</a:t>
            </a:r>
            <a:endParaRPr/>
          </a:p>
        </p:txBody>
      </p:sp>
      <p:sp>
        <p:nvSpPr>
          <p:cNvPr id="92" name=""/>
          <p:cNvSpPr/>
          <p:nvPr/>
        </p:nvSpPr>
        <p:spPr>
          <a:xfrm rot="0" flipH="0" flipV="0">
            <a:off x="4210050" y="4371975"/>
            <a:ext cx="828675" cy="219075"/>
          </a:xfrm>
          <a:prstGeom prst="roundRect">
            <a:avLst>
              <a:gd name="adj" fmla="val 26087"/>
            </a:avLst>
          </a:prstGeom>
          <a:ln w="12700">
            <a:solidFill>
              <a:srgbClr val="123B63"/>
            </a:solidFill>
            <a:prstDash val="solid"/>
          </a:ln>
        </p:spPr>
        <p:txBody>
          <a:bodyPr/>
          <a:p/>
        </p:txBody>
      </p:sp>
      <p:sp>
        <p:nvSpPr>
          <p:cNvPr id="93" name="" descr="{&quot;isTemplate&quot;:true,&quot;type&quot;:&quot;text&quot;}"/>
          <p:cNvSpPr txBox="1"/>
          <p:nvPr/>
        </p:nvSpPr>
        <p:spPr>
          <a:xfrm rot="0" flipH="0" flipV="0">
            <a:off x="4324350" y="4410075"/>
            <a:ext cx="6000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>
                <a:solidFill>
                  <a:srgbClr val="94A3B8"/>
                </a:solidFill>
                <a:latin typeface="Microsoft YaHei"/>
                <a:ea typeface="Microsoft YaHei"/>
              </a:rPr>
              <a:t>无算法团队</a:t>
            </a:r>
            <a:endParaRPr/>
          </a:p>
        </p:txBody>
      </p:sp>
      <p:sp>
        <p:nvSpPr>
          <p:cNvPr id="94" name=""/>
          <p:cNvSpPr/>
          <p:nvPr/>
        </p:nvSpPr>
        <p:spPr>
          <a:xfrm rot="0" flipH="0" flipV="0">
            <a:off x="5133975" y="4371975"/>
            <a:ext cx="828675" cy="219075"/>
          </a:xfrm>
          <a:prstGeom prst="roundRect">
            <a:avLst>
              <a:gd name="adj" fmla="val 26087"/>
            </a:avLst>
          </a:prstGeom>
          <a:ln w="12700">
            <a:solidFill>
              <a:srgbClr val="123B63"/>
            </a:solidFill>
            <a:prstDash val="solid"/>
          </a:ln>
        </p:spPr>
        <p:txBody>
          <a:bodyPr/>
          <a:p/>
        </p:txBody>
      </p:sp>
      <p:sp>
        <p:nvSpPr>
          <p:cNvPr id="95" name="" descr="{&quot;isTemplate&quot;:true,&quot;type&quot;:&quot;text&quot;}"/>
          <p:cNvSpPr txBox="1"/>
          <p:nvPr/>
        </p:nvSpPr>
        <p:spPr>
          <a:xfrm rot="0" flipH="0" flipV="0">
            <a:off x="5248275" y="4410075"/>
            <a:ext cx="6000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>
                <a:solidFill>
                  <a:srgbClr val="94A3B8"/>
                </a:solidFill>
                <a:latin typeface="Microsoft YaHei"/>
                <a:ea typeface="Microsoft YaHei"/>
              </a:rPr>
              <a:t>无迭代权限</a:t>
            </a:r>
            <a:endParaRPr/>
          </a:p>
        </p:txBody>
      </p:sp>
      <p:sp>
        <p:nvSpPr>
          <p:cNvPr id="96" name=""/>
          <p:cNvSpPr/>
          <p:nvPr/>
        </p:nvSpPr>
        <p:spPr>
          <a:xfrm rot="0" flipH="0" flipV="0">
            <a:off x="6057900" y="4371975"/>
            <a:ext cx="1743075" cy="219075"/>
          </a:xfrm>
          <a:prstGeom prst="roundRect">
            <a:avLst>
              <a:gd name="adj" fmla="val 26087"/>
            </a:avLst>
          </a:prstGeom>
          <a:ln w="12700">
            <a:solidFill>
              <a:srgbClr val="123B63"/>
            </a:solidFill>
            <a:prstDash val="solid"/>
          </a:ln>
        </p:spPr>
        <p:txBody>
          <a:bodyPr/>
          <a:p/>
        </p:txBody>
      </p:sp>
      <p:sp>
        <p:nvSpPr>
          <p:cNvPr id="97" name="" descr="{&quot;isTemplate&quot;:true,&quot;type&quot;:&quot;text&quot;}"/>
          <p:cNvSpPr txBox="1"/>
          <p:nvPr/>
        </p:nvSpPr>
        <p:spPr>
          <a:xfrm rot="0" flipH="0" flipV="0">
            <a:off x="6172200" y="4410075"/>
            <a:ext cx="15144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>
                <a:solidFill>
                  <a:srgbClr val="94A3B8"/>
                </a:solidFill>
                <a:latin typeface="Microsoft YaHei"/>
                <a:ea typeface="Microsoft YaHei"/>
              </a:rPr>
              <a:t>只能走立项</a:t>
            </a:r>
            <a:r>
              <a:rPr lang="en-US" sz="938">
                <a:solidFill>
                  <a:srgbClr val="94A3B8"/>
                </a:solidFill>
                <a:latin typeface="Microsoft YaHei"/>
                <a:ea typeface="Microsoft YaHei"/>
              </a:rPr>
              <a:t> / </a:t>
            </a:r>
            <a:r>
              <a:rPr lang="zh-CN" sz="938">
                <a:solidFill>
                  <a:srgbClr val="94A3B8"/>
                </a:solidFill>
                <a:latin typeface="Microsoft YaHei"/>
                <a:ea typeface="Microsoft YaHei"/>
              </a:rPr>
              <a:t>采购</a:t>
            </a:r>
            <a:r>
              <a:rPr lang="en-US" sz="938">
                <a:solidFill>
                  <a:srgbClr val="94A3B8"/>
                </a:solidFill>
                <a:latin typeface="Microsoft YaHei"/>
                <a:ea typeface="Microsoft YaHei"/>
              </a:rPr>
              <a:t> / </a:t>
            </a:r>
            <a:r>
              <a:rPr lang="zh-CN" sz="938">
                <a:solidFill>
                  <a:srgbClr val="94A3B8"/>
                </a:solidFill>
                <a:latin typeface="Microsoft YaHei"/>
                <a:ea typeface="Microsoft YaHei"/>
              </a:rPr>
              <a:t>运维流程</a:t>
            </a:r>
            <a:endParaRPr/>
          </a:p>
        </p:txBody>
      </p:sp>
      <p:sp>
        <p:nvSpPr>
          <p:cNvPr id="98" name=""/>
          <p:cNvSpPr/>
          <p:nvPr/>
        </p:nvSpPr>
        <p:spPr>
          <a:xfrm rot="0" flipH="0" flipV="0">
            <a:off x="647700" y="6076950"/>
            <a:ext cx="10972800" cy="361950"/>
          </a:xfrm>
          <a:custGeom>
            <a:pathLst>
              <a:path w="1152" h="38">
                <a:moveTo>
                  <a:pt x="0" y="0"/>
                </a:moveTo>
                <a:lnTo>
                  <a:pt x="1144" y="0"/>
                </a:lnTo>
                <a:cubicBezTo>
                  <a:pt x="1148" y="0"/>
                  <a:pt x="1152" y="4"/>
                  <a:pt x="1152" y="8"/>
                </a:cubicBezTo>
                <a:lnTo>
                  <a:pt x="1152" y="30"/>
                </a:lnTo>
                <a:cubicBezTo>
                  <a:pt x="1152" y="34"/>
                  <a:pt x="1148" y="38"/>
                  <a:pt x="1144" y="38"/>
                </a:cubicBezTo>
                <a:lnTo>
                  <a:pt x="0" y="38"/>
                </a:lnTo>
                <a:lnTo>
                  <a:pt x="0" y="38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22D3EE">
              <a:alpha val="7000"/>
            </a:srgbClr>
          </a:solidFill>
          <a:ln/>
        </p:spPr>
        <p:txBody>
          <a:bodyPr/>
          <a:p/>
        </p:txBody>
      </p:sp>
      <p:sp>
        <p:nvSpPr>
          <p:cNvPr id="99" name=""/>
          <p:cNvSpPr/>
          <p:nvPr/>
        </p:nvSpPr>
        <p:spPr>
          <a:xfrm rot="0" flipH="0" flipV="0">
            <a:off x="647700" y="6076950"/>
            <a:ext cx="10972800" cy="361950"/>
          </a:xfrm>
          <a:custGeom>
            <a:pathLst>
              <a:path w="1152" h="38">
                <a:moveTo>
                  <a:pt x="4" y="38"/>
                </a:moveTo>
                <a:lnTo>
                  <a:pt x="0" y="38"/>
                </a:lnTo>
                <a:lnTo>
                  <a:pt x="0" y="0"/>
                </a:lnTo>
                <a:lnTo>
                  <a:pt x="4" y="0"/>
                </a:lnTo>
                <a:close/>
              </a:path>
            </a:pathLst>
          </a:custGeom>
          <a:solidFill>
            <a:srgbClr val="22D3EE"/>
          </a:solidFill>
          <a:ln/>
        </p:spPr>
        <p:txBody>
          <a:bodyPr/>
          <a:p/>
        </p:txBody>
      </p:sp>
      <p:sp>
        <p:nvSpPr>
          <p:cNvPr id="100" name="" descr="{&quot;isTemplate&quot;:true,&quot;type&quot;:&quot;text&quot;}"/>
          <p:cNvSpPr txBox="1"/>
          <p:nvPr/>
        </p:nvSpPr>
        <p:spPr>
          <a:xfrm rot="0" flipH="0" flipV="0">
            <a:off x="819150" y="6172200"/>
            <a:ext cx="10591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0F2039"/>
                </a:solidFill>
                <a:latin typeface="Microsoft YaHei"/>
                <a:ea typeface="Microsoft YaHei"/>
              </a:rPr>
              <a:t>根源：</a:t>
            </a:r>
            <a:r>
              <a:rPr lang="zh-CN" sz="1125" b="1">
                <a:solidFill>
                  <a:srgbClr val="0F2039"/>
                </a:solidFill>
                <a:latin typeface="Microsoft YaHei"/>
                <a:ea typeface="Microsoft YaHei"/>
              </a:rPr>
              <a:t>一次性交付模式</a:t>
            </a:r>
            <a:r>
              <a:rPr lang="en-US" sz="1125">
                <a:solidFill>
                  <a:srgbClr val="0F2039"/>
                </a:solidFill>
                <a:latin typeface="Microsoft YaHei"/>
                <a:ea typeface="Microsoft YaHei"/>
              </a:rPr>
              <a:t> —— </a:t>
            </a:r>
            <a:r>
              <a:rPr lang="zh-CN" sz="1125">
                <a:solidFill>
                  <a:srgbClr val="0F2039"/>
                </a:solidFill>
                <a:latin typeface="Microsoft YaHei"/>
                <a:ea typeface="Microsoft YaHei"/>
              </a:rPr>
              <a:t>模型上线之日，就是它开始过时之时。</a:t>
            </a:r>
            <a:endParaRPr/>
          </a:p>
        </p:txBody>
      </p:sp>
      <p:sp>
        <p:nvSpPr>
          <p:cNvPr id="101" name="" descr="{&quot;isTemplate&quot;:true,&quot;type&quot;:&quot;text&quot;}"/>
          <p:cNvSpPr txBox="1"/>
          <p:nvPr/>
        </p:nvSpPr>
        <p:spPr>
          <a:xfrm rot="0" flipH="0" flipV="0">
            <a:off x="609600" y="6562725"/>
            <a:ext cx="17049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94A3B8"/>
                </a:solidFill>
                <a:latin typeface="Microsoft YaHei"/>
                <a:ea typeface="Microsoft YaHei"/>
              </a:rPr>
              <a:t>负荷预测持续学习引擎</a:t>
            </a:r>
            <a:r>
              <a:rPr lang="en-US" sz="900">
                <a:solidFill>
                  <a:srgbClr val="94A3B8"/>
                </a:solidFill>
                <a:latin typeface="Microsoft YaHei"/>
                <a:ea typeface="Microsoft YaHei"/>
              </a:rPr>
              <a:t> · </a:t>
            </a:r>
            <a:r>
              <a:rPr lang="zh-CN" sz="900">
                <a:solidFill>
                  <a:srgbClr val="94A3B8"/>
                </a:solidFill>
                <a:latin typeface="Microsoft YaHei"/>
                <a:ea typeface="Microsoft YaHei"/>
              </a:rPr>
              <a:t>客户痛点</a:t>
            </a:r>
            <a:endParaRPr/>
          </a:p>
        </p:txBody>
      </p:sp>
      <p:sp>
        <p:nvSpPr>
          <p:cNvPr id="102" name=""/>
          <p:cNvSpPr/>
          <p:nvPr/>
        </p:nvSpPr>
        <p:spPr>
          <a:xfrm rot="0" flipH="0" flipV="0">
            <a:off x="10677525" y="6581775"/>
            <a:ext cx="95250" cy="95250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p/>
        </p:txBody>
      </p:sp>
      <p:sp>
        <p:nvSpPr>
          <p:cNvPr id="103" name="" descr="{&quot;isTemplate&quot;:true,&quot;type&quot;:&quot;text&quot;}"/>
          <p:cNvSpPr txBox="1"/>
          <p:nvPr/>
        </p:nvSpPr>
        <p:spPr>
          <a:xfrm rot="0" flipH="0" flipV="0">
            <a:off x="10848975" y="6553200"/>
            <a:ext cx="7334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Microsoft YaHei"/>
                <a:ea typeface="Microsoft YaHei"/>
              </a:rPr>
              <a:t>CLE · 02 / 07</a:t>
            </a:r>
            <a:endParaRPr/>
          </a:p>
        </p:txBody>
      </p:sp>
    </p:spTree>
  </p:cSld>
</p:sld>
</file>

<file path=ppt/slides/slide3.xml><?xml version="1.0" encoding="utf-8"?>
<p:sld xmlns:a="http://schemas.openxmlformats.org/drawingml/2006/main" xmlns:p="http://schemas.openxmlformats.org/presentationml/2006/main">
  <p:cSld>
    <p:spTree>
      <p:nvGrpSpPr>
        <p:cNvPr id="104" name="" descr="&lt;Slide style={{ width: 1280, height: 720, background: '#FFFFFF', display: 'flex', flexDirection: 'column', padding: '22px 64px 16px 64px' }}&gt;&#10;    &lt;Box&gt;&#10;        &lt;Text style={{ fontSize: 32, fontWeight: 'bold', color: '#0A1D37' }}&gt;我们卖的不是模型，而是让 Agent 可靠工作的 Harness&lt;/Text&gt;&#10;        &lt;Text style={{ fontSize: 16, color: '#64748B', marginTop: 6 }}&gt;Harness 把数据、工具、约束和反馈组织起来——让通用 Agent 成为垂直智能体&lt;/Text&gt;&#10;    &lt;/Box&gt;&#10;&#10;    &lt;Box style={{ flexDirection: 'row', gap: 28, flex: 1, marginTop: 16, alignItems: 'stretch' }}&gt;&#10;        &lt;Box style={{ width: 700, position: 'relative', height: 545 }}&gt;&#10;            {/* L1 交互层 */}&#10;            &lt;Box style={{ position: 'absolute', left: 0, top: 0, width: 700, height: 54, background: '#F8FAFC', border: '1px solid #E2E8F0', borderRadius: 10, flexDirection: 'row', alignItems: 'center' }}&gt;&#10;                &lt;Box style={{ width: 100, alignItems: 'center' }}&gt;&#10;                    &lt;Text style={{ fontSize: 13.5, fontWeight: 'bold', color: '#475569' }}&gt;交互层&lt;/Text&gt;&#10;                &lt;/Box&gt;&#10;                &lt;Box style={{ flex: 1, flexDirection: 'row', gap: 8, alignItems: 'center' }}&gt;&#10;                    &lt;Box style={{ padding: '5px 12px', background: '#FFFFFF', border: '1px solid #CBD5E1', borderRadius: 6 }}&gt;&#10;                        &lt;Text style={{ fontSize: 12, color: '#0F2039' }}&gt;聊天入口（自然语言）&lt;/Text&gt;&#10;                    &lt;/Box&gt;&#10;                    &lt;Box style={{ padding: '5px 12px', background: '#FFFFFF', border: '1px solid #CBD5E1', borderRadius: 6 }}&gt;&#10;                        &lt;Text style={{ fontSize: 12, color: '#0F2039' }}&gt;Cron 定时任务&lt;/Text&gt;&#10;                    &lt;/Box&gt;&#10;                    &lt;Box style={{ padding: '5px 12px', background: '#FFFFFF', border: '1px solid #CBD5E1', borderRadius: 6 }}&gt;&#10;                        &lt;Text style={{ fontSize: 12, color: '#0F2039' }}&gt;EDM 日志沉淀&lt;/Text&gt;&#10;                    &lt;/Box&gt;&#10;                &lt;/Box&gt;&#10;            &lt;/Box&gt;&#10;            {/* 箭头 1 */}&#10;            &lt;Box style={{ position: 'absolute', left: 0, top: 55, width: 700, height: 16, flexDirection: 'row', justifyContent: 'center', alignItems: 'center', gap: 6 }}&gt;&#10;                &lt;Text style={{ fontSize: 14, color: '#94A3B8' }}&gt;↓&lt;/Text&gt;&#10;                &lt;Text style={{ fontSize: 11, color: '#94A3B8' }}&gt;自然语言 / 定时触发&lt;/Text&gt;&#10;            &lt;/Box&gt;&#10;            {/* L2 Agent 层 */}&#10;            &lt;Box style={{ position: 'absolute', left: 0, top: 72, width: 700, height: 60, background: '#22D3EE', borderRadius: 10, flexDirection: 'row', alignItems: 'center' }}&gt;&#10;                &lt;Box style={{ width: 100, alignItems: 'center' }}&gt;&#10;                    &lt;Text style={{ fontSize: 13.5, fontWeight: 'bold', color: '#0A1D37' }}&gt;Agent 层&lt;/Text&gt;&#10;                &lt;/Box&gt;&#10;                &lt;Box style={{ flex: 1, flexDirection: 'column' }}&gt;&#10;                    &lt;Text style={{ fontSize: 15, fontWeight: 'bold', color: '#0A1D37' }}&gt;垂直智能体 —— 决定何时学、怎么学&lt;/Text&gt;&#10;                    &lt;Text style={{ fontSize: 11.5, color: '#0A1D37', opacity: 0.72, marginTop: 3 }}&gt;读取数据上下文与 EDM 日志 · 在约束内自主判断是否更新、如何更新&lt;/Text&gt;&#10;                &lt;/Box&gt;&#10;            &lt;/Box&gt;&#10;            {/* 箭头 2 */}&#10;            &lt;Box style={{ position: 'absolute', left: 0, top: 133, width: 700, height: 16, flexDirection: 'row', justifyContent: 'center', alignItems: 'center', gap: 6 }}&gt;&#10;                &lt;Text style={{ fontSize: 14, color: '#94A3B8' }}&gt;↓&lt;/Text&gt;&#10;                &lt;Text style={{ fontSize: 11, color: '#94A3B8' }}&gt;调用训练 · 验证 · 部署 Skill&lt;/Text&gt;&#10;            &lt;/Box&gt;&#10;            {/* L3 Harness 能力层 */}&#10;            &lt;Box style={{ position: 'absolute', left: 0, top: 150, width: 700, height: 172, background: '#0A1D37', borderRadius: 12, padding: 14 }}&gt;&#10;                &lt;Box style={{ flexDirection: 'row', alignItems: 'center' }}&gt;&#10;                    &lt;Text style={{ fontSize: 15, fontWeight: 'bold', color: '#F8FAFC' }}&gt;Harness 能力层&lt;/Text&gt;&#10;                    &lt;Text style={{ fontSize: 11.5, color: '#22D3EE', marginLeft: 'auto' }}&gt;把持续学习变成标准化、可复用的工程能力&lt;/Text&gt;&#10;                &lt;/Box&gt;&#10;                &lt;Box style={{ flexDirection: 'row', gap: 8, marginTop: 12, alignItems: 'stretch' }}&gt;&#10;                    &lt;Box style={{ flex: 1, background: 'rgba(34,211,238,0.08)', border: '1px solid rgba(34,211,238,0.35)', borderRadius: 8, padding: 10, flexDirection: 'column' }}&gt;&#10;                        &lt;Text style={{ fontSize: 12.5, fontWeight: 'bold', color: '#22D3EE' }}&gt;① EDM 漂移检测&lt;/Text&gt;&#10;                        &lt;Text style={{ fontSize: 10.5, color: '#CBD5E1', marginTop: 5 }}&gt;监测数据分布变化&lt;/Text&gt;&#10;                        &lt;Text style={{ fontSize: 10.5, color: '#CBD5E1', marginTop: 2 }}&gt;结论沉淀为日志&lt;/Text&gt;&#10;                    &lt;/Box&gt;&#10;                    &lt;Box style={{ flex: 1, background: 'rgba(34,211,238,0.08)', border: '1px solid rgba(34,211,238,0.35)', borderRadius: 8, padding: 10, flexDirection: 'column' }}&gt;&#10;                        &lt;Text style={{ fontSize: 12.5, fontWeight: 'bold', color: '#22D3EE' }}&gt;② 训练 Skill&lt;/Text&gt;&#10;                        &lt;Text style={{ fontSize: 10.5, color: '#CBD5E1', marginTop: 5 }}&gt;标准化训练能力&lt;/Text&gt;&#10;                        &lt;Text style={{ fontSize: 10.5, color: '#CBD5E1', marginTop: 2 }}&gt;训练前读 EDM 日志&lt;/Text&gt;&#10;                    &lt;/Box&gt;&#10;                    &lt;Box style={{ flex: 1, background: 'rgba(34,211,238,0.08)', border: '1px solid rgba(34,211,238,0.35)', borderRadius: 8, padding: 10, flexDirection: 'column' }}&gt;&#10;                        &lt;Text style={{ fontSize: 12.5, fontWeight: 'bold', color: '#22D3EE' }}&gt;③ 时序验证&lt;/Text&gt;&#10;                        &lt;Text style={{ fontSize: 10.5, color: '#CBD5E1', marginTop: 5 }}&gt;统一时序口径评估&lt;/Text&gt;&#10;                        &lt;Text style={{ fontSize: 10.5, color: '#CBD5E1', marginTop: 2 }}&gt;杜绝未来信息泄漏&lt;/Text&gt;&#10;                    &lt;/Box&gt;&#10;                    &lt;Box style={{ flex: 1, background: 'rgba(34,211,238,0.08)', border: '1px solid rgba(34,211,238,0.35)', borderRadius: 8, padding: 10, flexDirection: 'column' }}&gt;&#10;                        &lt;Text style={{ fontSize: 12.5, fontWeight: 'bold', color: '#22D3EE' }}&gt;④ 版本化部署&lt;/Text&gt;&#10;                        &lt;Text style={{ fontSize: 10.5, color: '#CBD5E1', marginTop: 5 }}&gt;发布 active 模型&lt;/Text&gt;&#10;                        &lt;Text style={{ fontSize: 10.5, color: '#CBD5E1', marginTop: 2 }}&gt;可回滚 · 可审计&lt;/Text&gt;&#10;                    &lt;/Box&gt;&#10;                &lt;/Box&gt;&#10;                &lt;Text style={{ fontSize: 11, color: '#94A3B8', marginTop: 10 }}&gt;四项能力全部版本化管理，对外输出唯一的 active 模型&lt;/Text&gt;&#10;            &lt;/Box&gt;&#10;            {/* 箭头 3 */}&#10;            &lt;Box style={{ position: 'absolute', left: 0, top: 323, width: 700, height: 16, flexDirection: 'row', justifyContent: 'center', alignItems: 'center', gap: 6 }}&gt;&#10;                &lt;Text style={{ fontSize: 14, color: '#94A3B8' }}&gt;↓&lt;/Text&gt;&#10;                &lt;Text style={{ fontSize: 11, color: '#94A3B8' }}&gt;只读已到达数据&lt;/Text&gt;&#10;            &lt;/Box&gt;&#10;            {/* L4 数据层 */}&#10;            &lt;Box style={{ position: 'absolute', left: 0, top: 340, width: 700, height: 70, background: '#F8FAFC', border: '1px solid #E2E8F0', borderRadius: 10, flexDirection: 'row', alignItems: 'center' }}&gt;&#10;                &lt;Box style={{ width: 100, alignItems: 'center' }}&gt;&#10;                    &lt;Text style={{ fontSize: 13.5, fontWeight: 'bold', color: '#475569' }}&gt;数据层&lt;/Text&gt;&#10;                &lt;/Box&gt;&#10;                &lt;Box style={{ flex: 1, flexDirection: 'row', gap: 6, alignItems: 'center' }}&gt;&#10;                    &lt;Box style={{ padding: '5px 10px', background: '#FFFFFF', border: '1px solid #CBD5E1', borderRadius: 6 }}&gt;&#10;                        &lt;Text style={{ fontSize: 11.5, color: '#0F2039' }}&gt;新增负荷&lt;/Text&gt;&#10;                    &lt;/Box&gt;&#10;                    &lt;Box style={{ padding: '5px 10px', background: '#FFFFFF', border: '1px solid #CBD5E1', borderRadius: 6 }}&gt;&#10;                        &lt;Text style={{ fontSize: 11.5, color: '#0F2039' }}&gt;天气&lt;/Text&gt;&#10;                    &lt;/Box&gt;&#10;                    &lt;Box style={{ padding: '5px 10px', background: '#FFFFFF', border: '1px solid #CBD5E1', borderRadius: 6 }}&gt;&#10;                        &lt;Text style={{ fontSize: 11.5, color: '#0F2039' }}&gt;历史分布&lt;/Text&gt;&#10;                    &lt;/Box&gt;&#10;                    &lt;Box style={{ padding: '5px 10px', background: '#FFFFFF', border: '1px solid #CBD5E1', borderRadius: 6 }}&gt;&#10;                        &lt;Text style={{ fontSize: 11.5, color: '#0F2039' }}&gt;模型表现&lt;/Text&gt;&#10;                    &lt;/Box&gt;&#10;                    &lt;Box style={{ padding: '5px 10px', background: '#FFFFFF', border: '1px solid #CBD5E1', borderRadius: 6 }}&gt;&#10;                        &lt;Text style={{ fontSize: 11.5, color: '#0F2039' }}&gt;EDM 日志&lt;/Text&gt;&#10;                    &lt;/Box&gt;&#10;                &lt;/Box&gt;&#10;            &lt;/Box&gt;&#10;            {/* 约束边界 */}&#10;            &lt;Box style={{ position: 'absolute', left: 0, top: 418, width: 700, height: 42, background: '#FFFBEB', border: '1px solid #F59E0B', borderRadius: 10, flexDirection: 'row', alignItems: 'center', padding: '0 16px', gap: 10 }}&gt;&#10;                &lt;Text style={{ fontSize: 12.5, fontWeight: 'bold', color: '#B45309' }}&gt;约束边界&lt;/Text&gt;&#10;                &lt;Text style={{ fontSize: 12, color: '#92400E' }}&gt;只能使用已到达数据 · 版本化管理 · 全程日志可审计 —— 产业客户需要的『可审计的自主权』&lt;/Text&gt;&#10;            &lt;/Box&gt;&#10;            {/* 底部注解 */}&#10;            &lt;Text style={{ position: 'absolute', left: 0, top: 470, width: 700, fontSize: 12, color: '#64748B', textAlign: 'center' }}&gt;调用链自上而下：入口触发 → Agent 决策 → Harness 执行；数据层与约束边界全程兜底&lt;/Text&gt;&#10;            &lt;Box style={{ position: 'absolute', left: 0, top: 494, width: 700, flexDirection: 'row', justifyContent: 'center', gap: 8 }}&gt;&#10;                &lt;Box style={{ padding: '3px 10px', background: '#F1F5F9', borderRadius: 6 }}&gt;&#10;                    &lt;Text style={{ fontSize: 11.5, color: '#64748B' }}&gt;数据&lt;/Text&gt;&#10;                &lt;/Box&gt;&#10;                &lt;Box style={{ padding: '3px 10px', background: '#F1F5F9', borderRadius: 6 }}&gt;&#10;                    &lt;Text style={{ fontSize: 11.5, color: '#64748B' }}&gt;工具&lt;/Text&gt;&#10;                &lt;/Box&gt;&#10;                &lt;Box style={{ padding: '3px 10px', background: '#F1F5F9', borderRadius: 6 }}&gt;&#10;                    &lt;Text style={{ fontSize: 11.5, color: '#64748B' }}&gt;约束&lt;/Text&gt;&#10;                &lt;/Box&gt;&#10;                &lt;Box style={{ padding: '3px 10px', background: '#F1F5F9', borderRadius: 6 }}&gt;&#10;                    &lt;Text style={{ fontSize: 11.5, color: '#64748B' }}&gt;反馈&lt;/Text&gt;&#10;                &lt;/Box&gt;&#10;                &lt;Text style={{ fontSize: 11.5, color: '#94A3B8', alignSelf: 'center' }}&gt;—— Harness 四要素贯穿全层&lt;/Text&gt;&#10;            &lt;/Box&gt;&#10;        &lt;/Box&gt;&#10;&#10;        &lt;Box style={{ flex: 1, display: 'flex', flexDirection: 'column' }}&gt;&#10;            &lt;Text style={{ fontSize: 19, fontWeight: 'bold', color: '#0A1D37' }}&gt;一句话定义&lt;/Text&gt;&#10;            &lt;Box style={{ borderLeft: '4px solid #22D3EE', background: 'rgba(34,211,238,0.07)', borderRadius: '0 10px 10px 0', padding: 14, marginTop: 10 }}&gt;&#10;                &lt;Text style={{ fontSize: 15, color: '#0F2039', lineHeight: 1.8 }}&gt;Harness 把数据、工具、约束和反馈组织起来，让通用 Agent 成为负荷预测持续学习的垂直智能体。&lt;/Text&gt;&#10;            &lt;/Box&gt;&#10;            &lt;Box style={{ marginTop: 16 }}&gt;&#10;                &lt;Text style={{ fontSize: 15, fontWeight: 'bold', color: '#0A1D37' }}&gt;Agent 读取&lt;/Text&gt;&#10;                &lt;Text style={{ fontSize: 13, color: '#64748B', marginTop: 4, lineHeight: 1.7 }}&gt;新增负荷、天气、历史分布、模型表现、EDM 日志&lt;/Text&gt;&#10;                &lt;Text style={{ fontSize: 12, color: '#94A3B8', marginTop: 4 }}&gt;→ 自主判断是否学习、如何学习&lt;/Text&gt;&#10;            &lt;/Box&gt;&#10;            &lt;Box style={{ marginTop: 12, paddingBottom: 12, borderBottom: '1px solid #E2E8F0' }}&gt;&#10;                &lt;Text style={{ fontSize: 15, fontWeight: 'bold', color: '#0A1D37' }}&gt;Harness 提供&lt;/Text&gt;&#10;                &lt;Text style={{ fontSize: 13, color: '#64748B', marginTop: 4, lineHeight: 1.7 }}&gt;EDM、训练、验证与部署能力，并限制其只能使用已到达数据&lt;/Text&gt;&#10;                &lt;Text style={{ fontSize: 12, color: '#94A3B8', marginTop: 4 }}&gt;→ 能力标准化，不依赖特定算法团队&lt;/Text&gt;&#10;            &lt;/Box&gt;&#10;            &lt;Box style={{ borderLeft: '4px solid #0A1D37', background: '#F8FAFC', borderRadius: '0 10px 10px 0', padding: 14, marginTop: 16 }}&gt;&#10;                &lt;Text style={{ fontSize: 16, fontWeight: 'bold', color: '#0A1D37' }}&gt;约束是卖点&lt;/Text&gt;&#10;                &lt;Text style={{ fontSize: 13, color: '#0F2039', lineHeight: 1.8, marginTop: 6 }}&gt;Agent 可自主决定如何学习，但只能在 Harness 划定的数据边界与验证口径内行动——这正是产业客户需要的『可审计的自主权』。&lt;/Text&gt;&#10;            &lt;/Box&gt;&#10;            &lt;Box style={{ borderLeft: '4px solid #F59E0B', background: '#FFFBEB', borderRadius: '0 10px 10px 0', padding: 14, marginTop: 12 }}&gt;&#10;                &lt;Text style={{ fontSize: 16, fontWeight: 'bold', color: '#0A1D37' }}&gt;为什么是工程问题&lt;/Text&gt;&#10;                &lt;Text style={{ fontSize: 13, color: '#0F2039', lineHeight: 1.8, marginTop: 6 }}&gt;模型会不会过时，不再取决于算法团队是否在场——持续学习成为标准化、可复用、可审计的工程能力。&lt;/Text&gt;&#10;            &lt;/Box&gt;&#10;        &lt;/Box&gt;&#10;    &lt;/Box&gt;&#10;&#10;    &lt;Box style={{ flexDirection: 'row', marginTop: 12, alignItems: 'center' }}&gt;&#10;        &lt;Text style={{ fontSize: 12, color: '#94A3B8' }}&gt;负荷预测持续学习引擎 · 方案定义&lt;/Text&gt;&#10;        &lt;Box style={{ marginLeft: 'auto', flexDirection: 'row', alignItems: 'center', gap: 8 }}&gt;&#10;            &lt;Box style={{ width: 10, height: 10, background: '#22D3EE' }} /&gt;&#10;            &lt;Text style={{ fontSize: 13, color: '#64748B' }}&gt;CLE · 03 / 07&lt;/Text&gt;&#10;        &lt;/Box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06" name="" descr="{&quot;isTemplate&quot;:true,&quot;type&quot;:&quot;text&quot;}"/>
          <p:cNvSpPr txBox="1"/>
          <p:nvPr/>
        </p:nvSpPr>
        <p:spPr>
          <a:xfrm rot="0" flipH="0" flipV="0">
            <a:off x="609600" y="20955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A1D37"/>
                </a:solidFill>
                <a:latin typeface="Microsoft YaHei"/>
                <a:ea typeface="Microsoft YaHei"/>
              </a:rPr>
              <a:t>我们卖的不是模型，而是让</a:t>
            </a:r>
            <a:r>
              <a:rPr lang="en-US" sz="2400" b="1">
                <a:solidFill>
                  <a:srgbClr val="0A1D37"/>
                </a:solidFill>
                <a:latin typeface="Microsoft YaHei"/>
                <a:ea typeface="Microsoft YaHei"/>
              </a:rPr>
              <a:t> Agent </a:t>
            </a:r>
            <a:r>
              <a:rPr lang="zh-CN" sz="2400" b="1">
                <a:solidFill>
                  <a:srgbClr val="0A1D37"/>
                </a:solidFill>
                <a:latin typeface="Microsoft YaHei"/>
                <a:ea typeface="Microsoft YaHei"/>
              </a:rPr>
              <a:t>可靠工作的</a:t>
            </a:r>
            <a:r>
              <a:rPr lang="en-US" sz="2400" b="1">
                <a:solidFill>
                  <a:srgbClr val="0A1D37"/>
                </a:solidFill>
                <a:latin typeface="Microsoft YaHei"/>
                <a:ea typeface="Microsoft YaHei"/>
              </a:rPr>
              <a:t> Harness</a:t>
            </a:r>
            <a:endParaRPr/>
          </a:p>
        </p:txBody>
      </p:sp>
      <p:sp>
        <p:nvSpPr>
          <p:cNvPr id="107" name="" descr="{&quot;isTemplate&quot;:true,&quot;type&quot;:&quot;text&quot;}"/>
          <p:cNvSpPr txBox="1"/>
          <p:nvPr/>
        </p:nvSpPr>
        <p:spPr>
          <a:xfrm rot="0" flipH="0" flipV="0">
            <a:off x="609600" y="638175"/>
            <a:ext cx="10972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64748B"/>
                </a:solidFill>
                <a:latin typeface="Microsoft YaHei"/>
                <a:ea typeface="Microsoft YaHei"/>
              </a:rPr>
              <a:t>Harness </a:t>
            </a: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把数据、工具、约束和反馈组织起来——让通用</a:t>
            </a:r>
            <a:r>
              <a:rPr lang="en-US" sz="1200">
                <a:solidFill>
                  <a:srgbClr val="64748B"/>
                </a:solidFill>
                <a:latin typeface="Microsoft YaHei"/>
                <a:ea typeface="Microsoft YaHei"/>
              </a:rPr>
              <a:t> Agent </a:t>
            </a: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成为垂直智能体</a:t>
            </a:r>
            <a:endParaRPr/>
          </a:p>
        </p:txBody>
      </p:sp>
      <p:sp>
        <p:nvSpPr>
          <p:cNvPr id="108" name="" descr="{&quot;isTemplate&quot;:true,&quot;type&quot;:&quot;text&quot;}"/>
          <p:cNvSpPr txBox="1"/>
          <p:nvPr/>
        </p:nvSpPr>
        <p:spPr>
          <a:xfrm rot="0" flipH="0" flipV="0">
            <a:off x="7543800" y="981075"/>
            <a:ext cx="40386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A1D37"/>
                </a:solidFill>
                <a:latin typeface="Microsoft YaHei"/>
                <a:ea typeface="Microsoft YaHei"/>
              </a:rPr>
              <a:t>一句话定义</a:t>
            </a:r>
            <a:endParaRPr/>
          </a:p>
        </p:txBody>
      </p:sp>
      <p:sp>
        <p:nvSpPr>
          <p:cNvPr id="109" name=""/>
          <p:cNvSpPr/>
          <p:nvPr/>
        </p:nvSpPr>
        <p:spPr>
          <a:xfrm rot="0" flipH="0" flipV="0">
            <a:off x="7581900" y="1295400"/>
            <a:ext cx="4038600" cy="885825"/>
          </a:xfrm>
          <a:custGeom>
            <a:pathLst>
              <a:path w="424" h="93">
                <a:moveTo>
                  <a:pt x="0" y="0"/>
                </a:moveTo>
                <a:lnTo>
                  <a:pt x="414" y="0"/>
                </a:lnTo>
                <a:cubicBezTo>
                  <a:pt x="420" y="0"/>
                  <a:pt x="424" y="4"/>
                  <a:pt x="424" y="10"/>
                </a:cubicBezTo>
                <a:lnTo>
                  <a:pt x="424" y="83"/>
                </a:lnTo>
                <a:cubicBezTo>
                  <a:pt x="424" y="89"/>
                  <a:pt x="420" y="93"/>
                  <a:pt x="414" y="93"/>
                </a:cubicBezTo>
                <a:lnTo>
                  <a:pt x="0" y="93"/>
                </a:lnTo>
                <a:lnTo>
                  <a:pt x="0" y="93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22D3EE">
              <a:alpha val="7000"/>
            </a:srgbClr>
          </a:solidFill>
          <a:ln/>
        </p:spPr>
        <p:txBody>
          <a:bodyPr/>
          <a:p/>
        </p:txBody>
      </p:sp>
      <p:sp>
        <p:nvSpPr>
          <p:cNvPr id="110" name=""/>
          <p:cNvSpPr/>
          <p:nvPr/>
        </p:nvSpPr>
        <p:spPr>
          <a:xfrm rot="0" flipH="0" flipV="0">
            <a:off x="7581900" y="1295400"/>
            <a:ext cx="4038600" cy="885825"/>
          </a:xfrm>
          <a:custGeom>
            <a:pathLst>
              <a:path w="424" h="93">
                <a:moveTo>
                  <a:pt x="4" y="93"/>
                </a:moveTo>
                <a:lnTo>
                  <a:pt x="0" y="93"/>
                </a:lnTo>
                <a:lnTo>
                  <a:pt x="0" y="0"/>
                </a:lnTo>
                <a:lnTo>
                  <a:pt x="4" y="0"/>
                </a:lnTo>
                <a:close/>
              </a:path>
            </a:pathLst>
          </a:custGeom>
          <a:solidFill>
            <a:srgbClr val="22D3EE"/>
          </a:solidFill>
          <a:ln/>
        </p:spPr>
        <p:txBody>
          <a:bodyPr/>
          <a:p/>
        </p:txBody>
      </p:sp>
      <p:sp>
        <p:nvSpPr>
          <p:cNvPr id="111" name="" descr="{&quot;isTemplate&quot;:true,&quot;type&quot;:&quot;text&quot;}"/>
          <p:cNvSpPr txBox="1"/>
          <p:nvPr/>
        </p:nvSpPr>
        <p:spPr>
          <a:xfrm rot="0" flipH="0" flipV="0">
            <a:off x="7715250" y="1428750"/>
            <a:ext cx="3733800" cy="6191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en-US" sz="1125">
                <a:solidFill>
                  <a:srgbClr val="0F2039"/>
                </a:solidFill>
                <a:latin typeface="Microsoft YaHei"/>
                <a:ea typeface="Microsoft YaHei"/>
              </a:rPr>
              <a:t>Harness </a:t>
            </a:r>
            <a:r>
              <a:rPr lang="zh-CN" sz="1125">
                <a:solidFill>
                  <a:srgbClr val="0F2039"/>
                </a:solidFill>
                <a:latin typeface="Microsoft YaHei"/>
                <a:ea typeface="Microsoft YaHei"/>
              </a:rPr>
              <a:t>把数据、工具、约束和反馈组织起来，让通用</a:t>
            </a:r>
            <a:r>
              <a:rPr lang="en-US" sz="1125">
                <a:solidFill>
                  <a:srgbClr val="0F2039"/>
                </a:solidFill>
                <a:latin typeface="Microsoft YaHei"/>
                <a:ea typeface="Microsoft YaHei"/>
              </a:rPr>
              <a:t> Agent </a:t>
            </a:r>
            <a:r>
              <a:rPr lang="zh-CN" sz="1125">
                <a:solidFill>
                  <a:srgbClr val="0F2039"/>
                </a:solidFill>
                <a:latin typeface="Microsoft YaHei"/>
                <a:ea typeface="Microsoft YaHei"/>
              </a:rPr>
              <a:t>成为负荷预测持续学习的垂直智能体。</a:t>
            </a:r>
            <a:endParaRPr/>
          </a:p>
        </p:txBody>
      </p:sp>
      <p:sp>
        <p:nvSpPr>
          <p:cNvPr id="112" name="" descr="{&quot;isTemplate&quot;:true,&quot;type&quot;:&quot;text&quot;}"/>
          <p:cNvSpPr txBox="1"/>
          <p:nvPr/>
        </p:nvSpPr>
        <p:spPr>
          <a:xfrm rot="0" flipH="0" flipV="0">
            <a:off x="7543800" y="2333625"/>
            <a:ext cx="40386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0A1D37"/>
                </a:solidFill>
                <a:latin typeface="Microsoft YaHei"/>
                <a:ea typeface="Microsoft YaHei"/>
              </a:rPr>
              <a:t>Agent </a:t>
            </a:r>
            <a:r>
              <a:rPr lang="zh-CN" sz="1125" b="1">
                <a:solidFill>
                  <a:srgbClr val="0A1D37"/>
                </a:solidFill>
                <a:latin typeface="Microsoft YaHei"/>
                <a:ea typeface="Microsoft YaHei"/>
              </a:rPr>
              <a:t>读取</a:t>
            </a:r>
            <a:endParaRPr/>
          </a:p>
        </p:txBody>
      </p:sp>
      <p:sp>
        <p:nvSpPr>
          <p:cNvPr id="113" name="" descr="{&quot;isTemplate&quot;:true,&quot;type&quot;:&quot;text&quot;}"/>
          <p:cNvSpPr txBox="1"/>
          <p:nvPr/>
        </p:nvSpPr>
        <p:spPr>
          <a:xfrm rot="0" flipH="0" flipV="0">
            <a:off x="7543800" y="2543175"/>
            <a:ext cx="4038600" cy="25717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新增负荷、天气、历史分布、模型表现、</a:t>
            </a:r>
            <a:r>
              <a:rPr lang="en-US" sz="975">
                <a:solidFill>
                  <a:srgbClr val="64748B"/>
                </a:solidFill>
                <a:latin typeface="Microsoft YaHei"/>
                <a:ea typeface="Microsoft YaHei"/>
              </a:rPr>
              <a:t>EDM </a:t>
            </a: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日志</a:t>
            </a:r>
            <a:endParaRPr/>
          </a:p>
        </p:txBody>
      </p:sp>
      <p:sp>
        <p:nvSpPr>
          <p:cNvPr id="114" name="" descr="{&quot;isTemplate&quot;:true,&quot;type&quot;:&quot;text&quot;}"/>
          <p:cNvSpPr txBox="1"/>
          <p:nvPr/>
        </p:nvSpPr>
        <p:spPr>
          <a:xfrm rot="0" flipH="0" flipV="0">
            <a:off x="7543800" y="2838450"/>
            <a:ext cx="40386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94A3B8"/>
                </a:solidFill>
                <a:latin typeface="Microsoft YaHei"/>
                <a:ea typeface="Microsoft YaHei"/>
              </a:rPr>
              <a:t>→ </a:t>
            </a:r>
            <a:r>
              <a:rPr lang="zh-CN" sz="900">
                <a:solidFill>
                  <a:srgbClr val="94A3B8"/>
                </a:solidFill>
                <a:latin typeface="Microsoft YaHei"/>
                <a:ea typeface="Microsoft YaHei"/>
              </a:rPr>
              <a:t>自主判断是否学习、如何学习</a:t>
            </a:r>
            <a:endParaRPr/>
          </a:p>
        </p:txBody>
      </p:sp>
      <p:sp>
        <p:nvSpPr>
          <p:cNvPr id="115" name=""/>
          <p:cNvSpPr/>
          <p:nvPr/>
        </p:nvSpPr>
        <p:spPr>
          <a:xfrm rot="0" flipH="0" flipV="0">
            <a:off x="7543800" y="3095625"/>
            <a:ext cx="4038600" cy="781050"/>
          </a:xfrm>
          <a:custGeom>
            <a:pathLst>
              <a:path w="424" h="82">
                <a:moveTo>
                  <a:pt x="0" y="81"/>
                </a:moveTo>
                <a:lnTo>
                  <a:pt x="424" y="81"/>
                </a:lnTo>
                <a:lnTo>
                  <a:pt x="424" y="82"/>
                </a:lnTo>
                <a:lnTo>
                  <a:pt x="0" y="82"/>
                </a:lnTo>
                <a:close/>
              </a:path>
            </a:pathLst>
          </a:custGeom>
          <a:solidFill>
            <a:srgbClr val="E2E8F0"/>
          </a:solidFill>
          <a:ln/>
        </p:spPr>
        <p:txBody>
          <a:bodyPr/>
          <a:p/>
        </p:txBody>
      </p:sp>
      <p:sp>
        <p:nvSpPr>
          <p:cNvPr id="116" name="" descr="{&quot;isTemplate&quot;:true,&quot;type&quot;:&quot;text&quot;}"/>
          <p:cNvSpPr txBox="1"/>
          <p:nvPr/>
        </p:nvSpPr>
        <p:spPr>
          <a:xfrm rot="0" flipH="0" flipV="0">
            <a:off x="7543800" y="3095625"/>
            <a:ext cx="40386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0A1D37"/>
                </a:solidFill>
                <a:latin typeface="Microsoft YaHei"/>
                <a:ea typeface="Microsoft YaHei"/>
              </a:rPr>
              <a:t>Harness </a:t>
            </a:r>
            <a:r>
              <a:rPr lang="zh-CN" sz="1125" b="1">
                <a:solidFill>
                  <a:srgbClr val="0A1D37"/>
                </a:solidFill>
                <a:latin typeface="Microsoft YaHei"/>
                <a:ea typeface="Microsoft YaHei"/>
              </a:rPr>
              <a:t>提供</a:t>
            </a:r>
            <a:endParaRPr/>
          </a:p>
        </p:txBody>
      </p:sp>
      <p:sp>
        <p:nvSpPr>
          <p:cNvPr id="117" name="" descr="{&quot;isTemplate&quot;:true,&quot;type&quot;:&quot;text&quot;}"/>
          <p:cNvSpPr txBox="1"/>
          <p:nvPr/>
        </p:nvSpPr>
        <p:spPr>
          <a:xfrm rot="0" flipH="0" flipV="0">
            <a:off x="7543800" y="3305175"/>
            <a:ext cx="4038600" cy="25717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75">
                <a:solidFill>
                  <a:srgbClr val="64748B"/>
                </a:solidFill>
                <a:latin typeface="Microsoft YaHei"/>
                <a:ea typeface="Microsoft YaHei"/>
              </a:rPr>
              <a:t>EDM</a:t>
            </a: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、训练、验证与部署能力，并限制其只能使用已到达数据</a:t>
            </a:r>
            <a:endParaRPr/>
          </a:p>
        </p:txBody>
      </p:sp>
      <p:sp>
        <p:nvSpPr>
          <p:cNvPr id="118" name="" descr="{&quot;isTemplate&quot;:true,&quot;type&quot;:&quot;text&quot;}"/>
          <p:cNvSpPr txBox="1"/>
          <p:nvPr/>
        </p:nvSpPr>
        <p:spPr>
          <a:xfrm rot="0" flipH="0" flipV="0">
            <a:off x="7543800" y="3600450"/>
            <a:ext cx="40386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94A3B8"/>
                </a:solidFill>
                <a:latin typeface="Microsoft YaHei"/>
                <a:ea typeface="Microsoft YaHei"/>
              </a:rPr>
              <a:t>→ </a:t>
            </a:r>
            <a:r>
              <a:rPr lang="zh-CN" sz="900">
                <a:solidFill>
                  <a:srgbClr val="94A3B8"/>
                </a:solidFill>
                <a:latin typeface="Microsoft YaHei"/>
                <a:ea typeface="Microsoft YaHei"/>
              </a:rPr>
              <a:t>能力标准化，不依赖特定算法团队</a:t>
            </a:r>
            <a:endParaRPr/>
          </a:p>
        </p:txBody>
      </p:sp>
      <p:sp>
        <p:nvSpPr>
          <p:cNvPr id="119" name=""/>
          <p:cNvSpPr/>
          <p:nvPr/>
        </p:nvSpPr>
        <p:spPr>
          <a:xfrm rot="0" flipH="0" flipV="0">
            <a:off x="7581900" y="4019550"/>
            <a:ext cx="4038600" cy="1057275"/>
          </a:xfrm>
          <a:custGeom>
            <a:pathLst>
              <a:path w="424" h="111">
                <a:moveTo>
                  <a:pt x="0" y="0"/>
                </a:moveTo>
                <a:lnTo>
                  <a:pt x="414" y="0"/>
                </a:lnTo>
                <a:cubicBezTo>
                  <a:pt x="420" y="0"/>
                  <a:pt x="424" y="4"/>
                  <a:pt x="424" y="10"/>
                </a:cubicBezTo>
                <a:lnTo>
                  <a:pt x="424" y="101"/>
                </a:lnTo>
                <a:cubicBezTo>
                  <a:pt x="424" y="107"/>
                  <a:pt x="420" y="111"/>
                  <a:pt x="414" y="111"/>
                </a:cubicBezTo>
                <a:lnTo>
                  <a:pt x="0" y="111"/>
                </a:lnTo>
                <a:lnTo>
                  <a:pt x="0" y="111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F8FAFC"/>
          </a:solidFill>
          <a:ln/>
        </p:spPr>
        <p:txBody>
          <a:bodyPr/>
          <a:p/>
        </p:txBody>
      </p:sp>
      <p:sp>
        <p:nvSpPr>
          <p:cNvPr id="120" name=""/>
          <p:cNvSpPr/>
          <p:nvPr/>
        </p:nvSpPr>
        <p:spPr>
          <a:xfrm rot="0" flipH="0" flipV="0">
            <a:off x="7581900" y="4019550"/>
            <a:ext cx="4038600" cy="1057275"/>
          </a:xfrm>
          <a:custGeom>
            <a:pathLst>
              <a:path w="424" h="111">
                <a:moveTo>
                  <a:pt x="4" y="111"/>
                </a:moveTo>
                <a:lnTo>
                  <a:pt x="0" y="111"/>
                </a:lnTo>
                <a:lnTo>
                  <a:pt x="0" y="0"/>
                </a:lnTo>
                <a:lnTo>
                  <a:pt x="4" y="0"/>
                </a:lnTo>
                <a:close/>
              </a:path>
            </a:pathLst>
          </a:custGeom>
          <a:solidFill>
            <a:srgbClr val="0A1D37"/>
          </a:solidFill>
          <a:ln/>
        </p:spPr>
        <p:txBody>
          <a:bodyPr/>
          <a:p/>
        </p:txBody>
      </p:sp>
      <p:sp>
        <p:nvSpPr>
          <p:cNvPr id="121" name="" descr="{&quot;isTemplate&quot;:true,&quot;type&quot;:&quot;text&quot;}"/>
          <p:cNvSpPr txBox="1"/>
          <p:nvPr/>
        </p:nvSpPr>
        <p:spPr>
          <a:xfrm rot="0" flipH="0" flipV="0">
            <a:off x="7715250" y="4152900"/>
            <a:ext cx="3733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A1D37"/>
                </a:solidFill>
                <a:latin typeface="Microsoft YaHei"/>
                <a:ea typeface="Microsoft YaHei"/>
              </a:rPr>
              <a:t>约束是卖点</a:t>
            </a:r>
            <a:endParaRPr/>
          </a:p>
        </p:txBody>
      </p:sp>
      <p:sp>
        <p:nvSpPr>
          <p:cNvPr id="122" name="" descr="{&quot;isTemplate&quot;:true,&quot;type&quot;:&quot;text&quot;}"/>
          <p:cNvSpPr txBox="1"/>
          <p:nvPr/>
        </p:nvSpPr>
        <p:spPr>
          <a:xfrm rot="0" flipH="0" flipV="0">
            <a:off x="7715250" y="4400550"/>
            <a:ext cx="3733800" cy="5429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en-US" sz="975">
                <a:solidFill>
                  <a:srgbClr val="0F2039"/>
                </a:solidFill>
                <a:latin typeface="Microsoft YaHei"/>
                <a:ea typeface="Microsoft YaHei"/>
              </a:rPr>
              <a:t>Agent </a:t>
            </a:r>
            <a:r>
              <a:rPr lang="zh-CN" sz="975">
                <a:solidFill>
                  <a:srgbClr val="0F2039"/>
                </a:solidFill>
                <a:latin typeface="Microsoft YaHei"/>
                <a:ea typeface="Microsoft YaHei"/>
              </a:rPr>
              <a:t>可自主决定如何学习，但只能在</a:t>
            </a:r>
            <a:r>
              <a:rPr lang="en-US" sz="975">
                <a:solidFill>
                  <a:srgbClr val="0F2039"/>
                </a:solidFill>
                <a:latin typeface="Microsoft YaHei"/>
                <a:ea typeface="Microsoft YaHei"/>
              </a:rPr>
              <a:t> Harness </a:t>
            </a:r>
            <a:r>
              <a:rPr lang="zh-CN" sz="975">
                <a:solidFill>
                  <a:srgbClr val="0F2039"/>
                </a:solidFill>
                <a:latin typeface="Microsoft YaHei"/>
                <a:ea typeface="Microsoft YaHei"/>
              </a:rPr>
              <a:t>划定的数据边界与验证口径内行动——这正是产业客户需要的『可审计的自主权』。</a:t>
            </a:r>
            <a:endParaRPr/>
          </a:p>
        </p:txBody>
      </p:sp>
      <p:sp>
        <p:nvSpPr>
          <p:cNvPr id="123" name=""/>
          <p:cNvSpPr/>
          <p:nvPr/>
        </p:nvSpPr>
        <p:spPr>
          <a:xfrm rot="0" flipH="0" flipV="0">
            <a:off x="7581900" y="5191125"/>
            <a:ext cx="4038600" cy="1057275"/>
          </a:xfrm>
          <a:custGeom>
            <a:pathLst>
              <a:path w="424" h="111">
                <a:moveTo>
                  <a:pt x="0" y="0"/>
                </a:moveTo>
                <a:lnTo>
                  <a:pt x="414" y="0"/>
                </a:lnTo>
                <a:cubicBezTo>
                  <a:pt x="420" y="0"/>
                  <a:pt x="424" y="4"/>
                  <a:pt x="424" y="10"/>
                </a:cubicBezTo>
                <a:lnTo>
                  <a:pt x="424" y="101"/>
                </a:lnTo>
                <a:cubicBezTo>
                  <a:pt x="424" y="107"/>
                  <a:pt x="420" y="111"/>
                  <a:pt x="414" y="111"/>
                </a:cubicBezTo>
                <a:lnTo>
                  <a:pt x="0" y="111"/>
                </a:lnTo>
                <a:lnTo>
                  <a:pt x="0" y="111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BEB"/>
          </a:solidFill>
          <a:ln/>
        </p:spPr>
        <p:txBody>
          <a:bodyPr/>
          <a:p/>
        </p:txBody>
      </p:sp>
      <p:sp>
        <p:nvSpPr>
          <p:cNvPr id="124" name=""/>
          <p:cNvSpPr/>
          <p:nvPr/>
        </p:nvSpPr>
        <p:spPr>
          <a:xfrm rot="0" flipH="0" flipV="0">
            <a:off x="7581900" y="5191125"/>
            <a:ext cx="4038600" cy="1057275"/>
          </a:xfrm>
          <a:custGeom>
            <a:pathLst>
              <a:path w="424" h="111">
                <a:moveTo>
                  <a:pt x="4" y="111"/>
                </a:moveTo>
                <a:lnTo>
                  <a:pt x="0" y="111"/>
                </a:lnTo>
                <a:lnTo>
                  <a:pt x="0" y="0"/>
                </a:lnTo>
                <a:lnTo>
                  <a:pt x="4" y="0"/>
                </a:lnTo>
                <a:close/>
              </a:path>
            </a:pathLst>
          </a:custGeom>
          <a:solidFill>
            <a:srgbClr val="F59E0B"/>
          </a:solidFill>
          <a:ln/>
        </p:spPr>
        <p:txBody>
          <a:bodyPr/>
          <a:p/>
        </p:txBody>
      </p:sp>
      <p:sp>
        <p:nvSpPr>
          <p:cNvPr id="125" name="" descr="{&quot;isTemplate&quot;:true,&quot;type&quot;:&quot;text&quot;}"/>
          <p:cNvSpPr txBox="1"/>
          <p:nvPr/>
        </p:nvSpPr>
        <p:spPr>
          <a:xfrm rot="0" flipH="0" flipV="0">
            <a:off x="7715250" y="5324475"/>
            <a:ext cx="3733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A1D37"/>
                </a:solidFill>
                <a:latin typeface="Microsoft YaHei"/>
                <a:ea typeface="Microsoft YaHei"/>
              </a:rPr>
              <a:t>为什么是工程问题</a:t>
            </a:r>
            <a:endParaRPr/>
          </a:p>
        </p:txBody>
      </p:sp>
      <p:sp>
        <p:nvSpPr>
          <p:cNvPr id="126" name="" descr="{&quot;isTemplate&quot;:true,&quot;type&quot;:&quot;text&quot;}"/>
          <p:cNvSpPr txBox="1"/>
          <p:nvPr/>
        </p:nvSpPr>
        <p:spPr>
          <a:xfrm rot="0" flipH="0" flipV="0">
            <a:off x="7715250" y="5572125"/>
            <a:ext cx="3733800" cy="5429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zh-CN" sz="975">
                <a:solidFill>
                  <a:srgbClr val="0F2039"/>
                </a:solidFill>
                <a:latin typeface="Microsoft YaHei"/>
                <a:ea typeface="Microsoft YaHei"/>
              </a:rPr>
              <a:t>模型会不会过时，不再取决于算法团队是否在场——持续学习成为标准化、可复用、可审计的工程能力。</a:t>
            </a:r>
            <a:endParaRPr/>
          </a:p>
        </p:txBody>
      </p:sp>
      <p:sp>
        <p:nvSpPr>
          <p:cNvPr id="127" name="" descr="{&quot;isTemplate&quot;:true,&quot;type&quot;:&quot;text&quot;}"/>
          <p:cNvSpPr txBox="1"/>
          <p:nvPr/>
        </p:nvSpPr>
        <p:spPr>
          <a:xfrm rot="0" flipH="0" flipV="0">
            <a:off x="609600" y="6562725"/>
            <a:ext cx="17049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94A3B8"/>
                </a:solidFill>
                <a:latin typeface="Microsoft YaHei"/>
                <a:ea typeface="Microsoft YaHei"/>
              </a:rPr>
              <a:t>负荷预测持续学习引擎</a:t>
            </a:r>
            <a:r>
              <a:rPr lang="en-US" sz="900">
                <a:solidFill>
                  <a:srgbClr val="94A3B8"/>
                </a:solidFill>
                <a:latin typeface="Microsoft YaHei"/>
                <a:ea typeface="Microsoft YaHei"/>
              </a:rPr>
              <a:t> · </a:t>
            </a:r>
            <a:r>
              <a:rPr lang="zh-CN" sz="900">
                <a:solidFill>
                  <a:srgbClr val="94A3B8"/>
                </a:solidFill>
                <a:latin typeface="Microsoft YaHei"/>
                <a:ea typeface="Microsoft YaHei"/>
              </a:rPr>
              <a:t>方案定义</a:t>
            </a:r>
            <a:endParaRPr/>
          </a:p>
        </p:txBody>
      </p:sp>
      <p:sp>
        <p:nvSpPr>
          <p:cNvPr id="128" name=""/>
          <p:cNvSpPr/>
          <p:nvPr/>
        </p:nvSpPr>
        <p:spPr>
          <a:xfrm rot="0" flipH="0" flipV="0">
            <a:off x="10677525" y="6581775"/>
            <a:ext cx="95250" cy="95250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p/>
        </p:txBody>
      </p:sp>
      <p:sp>
        <p:nvSpPr>
          <p:cNvPr id="129" name="" descr="{&quot;isTemplate&quot;:true,&quot;type&quot;:&quot;text&quot;}"/>
          <p:cNvSpPr txBox="1"/>
          <p:nvPr/>
        </p:nvSpPr>
        <p:spPr>
          <a:xfrm rot="0" flipH="0" flipV="0">
            <a:off x="10848975" y="6553200"/>
            <a:ext cx="7334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Microsoft YaHei"/>
                <a:ea typeface="Microsoft YaHei"/>
              </a:rPr>
              <a:t>CLE · 03 / 07</a:t>
            </a:r>
            <a:endParaRPr/>
          </a:p>
        </p:txBody>
      </p:sp>
      <p:sp>
        <p:nvSpPr>
          <p:cNvPr id="130" name=""/>
          <p:cNvSpPr/>
          <p:nvPr/>
        </p:nvSpPr>
        <p:spPr>
          <a:xfrm rot="0" flipH="0" flipV="0">
            <a:off x="609600" y="981075"/>
            <a:ext cx="6667500" cy="514350"/>
          </a:xfrm>
          <a:prstGeom prst="roundRect">
            <a:avLst>
              <a:gd name="adj" fmla="val 1851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31" name="" descr="{&quot;isTemplate&quot;:true,&quot;type&quot;:&quot;text&quot;}"/>
          <p:cNvSpPr txBox="1"/>
          <p:nvPr/>
        </p:nvSpPr>
        <p:spPr>
          <a:xfrm rot="0" flipH="0" flipV="0">
            <a:off x="895350" y="1162050"/>
            <a:ext cx="3905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13" b="1">
                <a:solidFill>
                  <a:srgbClr val="475569"/>
                </a:solidFill>
                <a:latin typeface="Microsoft YaHei"/>
                <a:ea typeface="Microsoft YaHei"/>
              </a:rPr>
              <a:t>交互层</a:t>
            </a:r>
            <a:endParaRPr/>
          </a:p>
        </p:txBody>
      </p:sp>
      <p:sp>
        <p:nvSpPr>
          <p:cNvPr id="132" name=""/>
          <p:cNvSpPr/>
          <p:nvPr/>
        </p:nvSpPr>
        <p:spPr>
          <a:xfrm rot="0" flipH="0" flipV="0">
            <a:off x="1562100" y="1123950"/>
            <a:ext cx="1371600" cy="238125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133" name="" descr="{&quot;isTemplate&quot;:true,&quot;type&quot;:&quot;text&quot;}"/>
          <p:cNvSpPr txBox="1"/>
          <p:nvPr/>
        </p:nvSpPr>
        <p:spPr>
          <a:xfrm rot="0" flipH="0" flipV="0">
            <a:off x="1676400" y="1171575"/>
            <a:ext cx="11430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0F2039"/>
                </a:solidFill>
                <a:latin typeface="Microsoft YaHei"/>
                <a:ea typeface="Microsoft YaHei"/>
              </a:rPr>
              <a:t>聊天入口（自然语言）</a:t>
            </a:r>
            <a:endParaRPr/>
          </a:p>
        </p:txBody>
      </p:sp>
      <p:sp>
        <p:nvSpPr>
          <p:cNvPr id="134" name=""/>
          <p:cNvSpPr/>
          <p:nvPr/>
        </p:nvSpPr>
        <p:spPr>
          <a:xfrm rot="0" flipH="0" flipV="0">
            <a:off x="3009900" y="1123950"/>
            <a:ext cx="971550" cy="238125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135" name="" descr="{&quot;isTemplate&quot;:true,&quot;type&quot;:&quot;text&quot;}"/>
          <p:cNvSpPr txBox="1"/>
          <p:nvPr/>
        </p:nvSpPr>
        <p:spPr>
          <a:xfrm rot="0" flipH="0" flipV="0">
            <a:off x="3124200" y="1171575"/>
            <a:ext cx="7429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0F2039"/>
                </a:solidFill>
                <a:latin typeface="Microsoft YaHei"/>
                <a:ea typeface="Microsoft YaHei"/>
              </a:rPr>
              <a:t>Cron </a:t>
            </a:r>
            <a:r>
              <a:rPr lang="zh-CN" sz="900">
                <a:solidFill>
                  <a:srgbClr val="0F2039"/>
                </a:solidFill>
                <a:latin typeface="Microsoft YaHei"/>
                <a:ea typeface="Microsoft YaHei"/>
              </a:rPr>
              <a:t>定时任务</a:t>
            </a:r>
            <a:endParaRPr/>
          </a:p>
        </p:txBody>
      </p:sp>
      <p:sp>
        <p:nvSpPr>
          <p:cNvPr id="136" name=""/>
          <p:cNvSpPr/>
          <p:nvPr/>
        </p:nvSpPr>
        <p:spPr>
          <a:xfrm rot="0" flipH="0" flipV="0">
            <a:off x="4057650" y="1123950"/>
            <a:ext cx="971550" cy="238125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137" name="" descr="{&quot;isTemplate&quot;:true,&quot;type&quot;:&quot;text&quot;}"/>
          <p:cNvSpPr txBox="1"/>
          <p:nvPr/>
        </p:nvSpPr>
        <p:spPr>
          <a:xfrm rot="0" flipH="0" flipV="0">
            <a:off x="4171950" y="1171575"/>
            <a:ext cx="7429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0F2039"/>
                </a:solidFill>
                <a:latin typeface="Microsoft YaHei"/>
                <a:ea typeface="Microsoft YaHei"/>
              </a:rPr>
              <a:t>EDM </a:t>
            </a:r>
            <a:r>
              <a:rPr lang="zh-CN" sz="900">
                <a:solidFill>
                  <a:srgbClr val="0F2039"/>
                </a:solidFill>
                <a:latin typeface="Microsoft YaHei"/>
                <a:ea typeface="Microsoft YaHei"/>
              </a:rPr>
              <a:t>日志沉淀</a:t>
            </a:r>
            <a:endParaRPr/>
          </a:p>
        </p:txBody>
      </p:sp>
      <p:sp>
        <p:nvSpPr>
          <p:cNvPr id="138" name="" descr="{&quot;isTemplate&quot;:true,&quot;type&quot;:&quot;text&quot;}"/>
          <p:cNvSpPr txBox="1"/>
          <p:nvPr/>
        </p:nvSpPr>
        <p:spPr>
          <a:xfrm rot="0" flipH="0" flipV="0">
            <a:off x="3419475" y="1504950"/>
            <a:ext cx="666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050">
                <a:solidFill>
                  <a:srgbClr val="94A3B8"/>
                </a:solidFill>
                <a:latin typeface="Microsoft YaHei"/>
                <a:ea typeface="Microsoft YaHei"/>
              </a:rPr>
              <a:t>↓</a:t>
            </a:r>
            <a:endParaRPr/>
          </a:p>
        </p:txBody>
      </p:sp>
      <p:sp>
        <p:nvSpPr>
          <p:cNvPr id="139" name="" descr="{&quot;isTemplate&quot;:true,&quot;type&quot;:&quot;text&quot;}"/>
          <p:cNvSpPr txBox="1"/>
          <p:nvPr/>
        </p:nvSpPr>
        <p:spPr>
          <a:xfrm rot="0" flipH="0" flipV="0">
            <a:off x="3543300" y="1514475"/>
            <a:ext cx="9334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94A3B8"/>
                </a:solidFill>
                <a:latin typeface="Microsoft YaHei"/>
                <a:ea typeface="Microsoft YaHei"/>
              </a:rPr>
              <a:t>自然语言</a:t>
            </a:r>
            <a:r>
              <a:rPr lang="en-US" sz="825">
                <a:solidFill>
                  <a:srgbClr val="94A3B8"/>
                </a:solidFill>
                <a:latin typeface="Microsoft YaHei"/>
                <a:ea typeface="Microsoft YaHei"/>
              </a:rPr>
              <a:t> / </a:t>
            </a:r>
            <a:r>
              <a:rPr lang="zh-CN" sz="825">
                <a:solidFill>
                  <a:srgbClr val="94A3B8"/>
                </a:solidFill>
                <a:latin typeface="Microsoft YaHei"/>
                <a:ea typeface="Microsoft YaHei"/>
              </a:rPr>
              <a:t>定时触发</a:t>
            </a:r>
            <a:endParaRPr/>
          </a:p>
        </p:txBody>
      </p:sp>
      <p:sp>
        <p:nvSpPr>
          <p:cNvPr id="140" name=""/>
          <p:cNvSpPr/>
          <p:nvPr/>
        </p:nvSpPr>
        <p:spPr>
          <a:xfrm rot="0" flipH="0" flipV="0">
            <a:off x="609600" y="1666875"/>
            <a:ext cx="6667500" cy="571500"/>
          </a:xfrm>
          <a:prstGeom prst="roundRect">
            <a:avLst>
              <a:gd name="adj" fmla="val 16667"/>
            </a:avLst>
          </a:prstGeom>
          <a:solidFill>
            <a:srgbClr val="22D3EE"/>
          </a:solidFill>
          <a:ln/>
        </p:spPr>
        <p:txBody>
          <a:bodyPr/>
          <a:p/>
        </p:txBody>
      </p:sp>
      <p:sp>
        <p:nvSpPr>
          <p:cNvPr id="141" name="" descr="{&quot;isTemplate&quot;:true,&quot;type&quot;:&quot;text&quot;}"/>
          <p:cNvSpPr txBox="1"/>
          <p:nvPr/>
        </p:nvSpPr>
        <p:spPr>
          <a:xfrm rot="0" flipH="0" flipV="0">
            <a:off x="819150" y="1876425"/>
            <a:ext cx="533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13" b="1">
                <a:solidFill>
                  <a:srgbClr val="0A1D37"/>
                </a:solidFill>
                <a:latin typeface="Microsoft YaHei"/>
                <a:ea typeface="Microsoft YaHei"/>
              </a:rPr>
              <a:t>Agent </a:t>
            </a:r>
            <a:r>
              <a:rPr lang="zh-CN" sz="1013" b="1">
                <a:solidFill>
                  <a:srgbClr val="0A1D37"/>
                </a:solidFill>
                <a:latin typeface="Microsoft YaHei"/>
                <a:ea typeface="Microsoft YaHei"/>
              </a:rPr>
              <a:t>层</a:t>
            </a:r>
            <a:endParaRPr/>
          </a:p>
        </p:txBody>
      </p:sp>
      <p:sp>
        <p:nvSpPr>
          <p:cNvPr id="142" name="" descr="{&quot;isTemplate&quot;:true,&quot;type&quot;:&quot;text&quot;}"/>
          <p:cNvSpPr txBox="1"/>
          <p:nvPr/>
        </p:nvSpPr>
        <p:spPr>
          <a:xfrm rot="0" flipH="0" flipV="0">
            <a:off x="1562100" y="1790700"/>
            <a:ext cx="5715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0A1D37"/>
                </a:solidFill>
                <a:latin typeface="Microsoft YaHei"/>
                <a:ea typeface="Microsoft YaHei"/>
              </a:rPr>
              <a:t>垂直智能体</a:t>
            </a:r>
            <a:r>
              <a:rPr lang="en-US" sz="1125" b="1">
                <a:solidFill>
                  <a:srgbClr val="0A1D37"/>
                </a:solidFill>
                <a:latin typeface="Microsoft YaHei"/>
                <a:ea typeface="Microsoft YaHei"/>
              </a:rPr>
              <a:t> —— </a:t>
            </a:r>
            <a:r>
              <a:rPr lang="zh-CN" sz="1125" b="1">
                <a:solidFill>
                  <a:srgbClr val="0A1D37"/>
                </a:solidFill>
                <a:latin typeface="Microsoft YaHei"/>
                <a:ea typeface="Microsoft YaHei"/>
              </a:rPr>
              <a:t>决定何时学、怎么学</a:t>
            </a:r>
            <a:endParaRPr/>
          </a:p>
        </p:txBody>
      </p:sp>
      <p:sp>
        <p:nvSpPr>
          <p:cNvPr id="143" name="" descr="{&quot;isTemplate&quot;:true,&quot;type&quot;:&quot;text&quot;}"/>
          <p:cNvSpPr txBox="1"/>
          <p:nvPr/>
        </p:nvSpPr>
        <p:spPr>
          <a:xfrm rot="0" flipH="0" flipV="0">
            <a:off x="1562100" y="1990725"/>
            <a:ext cx="57150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>
                <a:solidFill>
                  <a:srgbClr val="0A1D37">
                    <a:alpha val="72000"/>
                  </a:srgbClr>
                </a:solidFill>
                <a:latin typeface="Microsoft YaHei"/>
                <a:ea typeface="Microsoft YaHei"/>
              </a:rPr>
              <a:t>读取数据上下文与</a:t>
            </a:r>
            <a:r>
              <a:rPr lang="en-US" sz="863">
                <a:solidFill>
                  <a:srgbClr val="0A1D37">
                    <a:alpha val="72000"/>
                  </a:srgbClr>
                </a:solidFill>
                <a:latin typeface="Microsoft YaHei"/>
                <a:ea typeface="Microsoft YaHei"/>
              </a:rPr>
              <a:t> EDM </a:t>
            </a:r>
            <a:r>
              <a:rPr lang="zh-CN" sz="863">
                <a:solidFill>
                  <a:srgbClr val="0A1D37">
                    <a:alpha val="72000"/>
                  </a:srgbClr>
                </a:solidFill>
                <a:latin typeface="Microsoft YaHei"/>
                <a:ea typeface="Microsoft YaHei"/>
              </a:rPr>
              <a:t>日志</a:t>
            </a:r>
            <a:r>
              <a:rPr lang="en-US" sz="863">
                <a:solidFill>
                  <a:srgbClr val="0A1D37">
                    <a:alpha val="72000"/>
                  </a:srgbClr>
                </a:solidFill>
                <a:latin typeface="Microsoft YaHei"/>
                <a:ea typeface="Microsoft YaHei"/>
              </a:rPr>
              <a:t> · </a:t>
            </a:r>
            <a:r>
              <a:rPr lang="zh-CN" sz="863">
                <a:solidFill>
                  <a:srgbClr val="0A1D37">
                    <a:alpha val="72000"/>
                  </a:srgbClr>
                </a:solidFill>
                <a:latin typeface="Microsoft YaHei"/>
                <a:ea typeface="Microsoft YaHei"/>
              </a:rPr>
              <a:t>在约束内自主判断是否更新、如何更新</a:t>
            </a:r>
            <a:endParaRPr/>
          </a:p>
        </p:txBody>
      </p:sp>
      <p:sp>
        <p:nvSpPr>
          <p:cNvPr id="144" name="" descr="{&quot;isTemplate&quot;:true,&quot;type&quot;:&quot;text&quot;}"/>
          <p:cNvSpPr txBox="1"/>
          <p:nvPr/>
        </p:nvSpPr>
        <p:spPr>
          <a:xfrm rot="0" flipH="0" flipV="0">
            <a:off x="3257550" y="2247900"/>
            <a:ext cx="666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050">
                <a:solidFill>
                  <a:srgbClr val="94A3B8"/>
                </a:solidFill>
                <a:latin typeface="Microsoft YaHei"/>
                <a:ea typeface="Microsoft YaHei"/>
              </a:rPr>
              <a:t>↓</a:t>
            </a:r>
            <a:endParaRPr/>
          </a:p>
        </p:txBody>
      </p:sp>
      <p:sp>
        <p:nvSpPr>
          <p:cNvPr id="145" name="" descr="{&quot;isTemplate&quot;:true,&quot;type&quot;:&quot;text&quot;}"/>
          <p:cNvSpPr txBox="1"/>
          <p:nvPr/>
        </p:nvSpPr>
        <p:spPr>
          <a:xfrm rot="0" flipH="0" flipV="0">
            <a:off x="3381375" y="2257425"/>
            <a:ext cx="12477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94A3B8"/>
                </a:solidFill>
                <a:latin typeface="Microsoft YaHei"/>
                <a:ea typeface="Microsoft YaHei"/>
              </a:rPr>
              <a:t>调用训练</a:t>
            </a:r>
            <a:r>
              <a:rPr lang="en-US" sz="825">
                <a:solidFill>
                  <a:srgbClr val="94A3B8"/>
                </a:solidFill>
                <a:latin typeface="Microsoft YaHei"/>
                <a:ea typeface="Microsoft YaHei"/>
              </a:rPr>
              <a:t> · </a:t>
            </a:r>
            <a:r>
              <a:rPr lang="zh-CN" sz="825">
                <a:solidFill>
                  <a:srgbClr val="94A3B8"/>
                </a:solidFill>
                <a:latin typeface="Microsoft YaHei"/>
                <a:ea typeface="Microsoft YaHei"/>
              </a:rPr>
              <a:t>验证</a:t>
            </a:r>
            <a:r>
              <a:rPr lang="en-US" sz="825">
                <a:solidFill>
                  <a:srgbClr val="94A3B8"/>
                </a:solidFill>
                <a:latin typeface="Microsoft YaHei"/>
                <a:ea typeface="Microsoft YaHei"/>
              </a:rPr>
              <a:t> · </a:t>
            </a:r>
            <a:r>
              <a:rPr lang="zh-CN" sz="825">
                <a:solidFill>
                  <a:srgbClr val="94A3B8"/>
                </a:solidFill>
                <a:latin typeface="Microsoft YaHei"/>
                <a:ea typeface="Microsoft YaHei"/>
              </a:rPr>
              <a:t>部署</a:t>
            </a:r>
            <a:r>
              <a:rPr lang="en-US" sz="825">
                <a:solidFill>
                  <a:srgbClr val="94A3B8"/>
                </a:solidFill>
                <a:latin typeface="Microsoft YaHei"/>
                <a:ea typeface="Microsoft YaHei"/>
              </a:rPr>
              <a:t> Skill</a:t>
            </a:r>
            <a:endParaRPr/>
          </a:p>
        </p:txBody>
      </p:sp>
      <p:sp>
        <p:nvSpPr>
          <p:cNvPr id="146" name=""/>
          <p:cNvSpPr/>
          <p:nvPr/>
        </p:nvSpPr>
        <p:spPr>
          <a:xfrm rot="0" flipH="0" flipV="0">
            <a:off x="609600" y="2409825"/>
            <a:ext cx="6667500" cy="1638300"/>
          </a:xfrm>
          <a:prstGeom prst="roundRect">
            <a:avLst>
              <a:gd name="adj" fmla="val 6977"/>
            </a:avLst>
          </a:prstGeom>
          <a:solidFill>
            <a:srgbClr val="0A1D37"/>
          </a:solidFill>
          <a:ln/>
        </p:spPr>
        <p:txBody>
          <a:bodyPr/>
          <a:p/>
        </p:txBody>
      </p:sp>
      <p:sp>
        <p:nvSpPr>
          <p:cNvPr id="147" name="" descr="{&quot;isTemplate&quot;:true,&quot;type&quot;:&quot;text&quot;}"/>
          <p:cNvSpPr txBox="1"/>
          <p:nvPr/>
        </p:nvSpPr>
        <p:spPr>
          <a:xfrm rot="0" flipH="0" flipV="0">
            <a:off x="742950" y="2543175"/>
            <a:ext cx="10382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8FAFC"/>
                </a:solidFill>
                <a:latin typeface="Microsoft YaHei"/>
                <a:ea typeface="Microsoft YaHei"/>
              </a:rPr>
              <a:t>Harness </a:t>
            </a:r>
            <a:r>
              <a:rPr lang="zh-CN" sz="1125" b="1">
                <a:solidFill>
                  <a:srgbClr val="F8FAFC"/>
                </a:solidFill>
                <a:latin typeface="Microsoft YaHei"/>
                <a:ea typeface="Microsoft YaHei"/>
              </a:rPr>
              <a:t>能力层</a:t>
            </a:r>
            <a:endParaRPr/>
          </a:p>
        </p:txBody>
      </p:sp>
      <p:sp>
        <p:nvSpPr>
          <p:cNvPr id="148" name="" descr="{&quot;isTemplate&quot;:true,&quot;type&quot;:&quot;text&quot;}"/>
          <p:cNvSpPr txBox="1"/>
          <p:nvPr/>
        </p:nvSpPr>
        <p:spPr>
          <a:xfrm rot="0" flipH="0" flipV="0">
            <a:off x="5057775" y="2562225"/>
            <a:ext cx="20859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>
                <a:solidFill>
                  <a:srgbClr val="22D3EE"/>
                </a:solidFill>
                <a:latin typeface="Microsoft YaHei"/>
                <a:ea typeface="Microsoft YaHei"/>
              </a:rPr>
              <a:t>把持续学习变成标准化、可复用的工程能力</a:t>
            </a:r>
            <a:endParaRPr/>
          </a:p>
        </p:txBody>
      </p:sp>
      <p:sp>
        <p:nvSpPr>
          <p:cNvPr id="149" name=""/>
          <p:cNvSpPr/>
          <p:nvPr/>
        </p:nvSpPr>
        <p:spPr>
          <a:xfrm rot="0" flipH="0" flipV="0">
            <a:off x="742950" y="2828925"/>
            <a:ext cx="1543050" cy="647700"/>
          </a:xfrm>
          <a:prstGeom prst="roundRect">
            <a:avLst>
              <a:gd name="adj" fmla="val 11765"/>
            </a:avLst>
          </a:prstGeom>
          <a:solidFill>
            <a:srgbClr val="22D3EE">
              <a:alpha val="8000"/>
            </a:srgbClr>
          </a:solidFill>
          <a:ln w="12700">
            <a:solidFill>
              <a:srgbClr val="22D3EE">
                <a:alpha val="3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0" name="" descr="{&quot;isTemplate&quot;:true,&quot;type&quot;:&quot;text&quot;}"/>
          <p:cNvSpPr txBox="1"/>
          <p:nvPr/>
        </p:nvSpPr>
        <p:spPr>
          <a:xfrm rot="0" flipH="0" flipV="0">
            <a:off x="838200" y="2924175"/>
            <a:ext cx="13525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38" b="1">
                <a:solidFill>
                  <a:srgbClr val="22D3EE"/>
                </a:solidFill>
                <a:latin typeface="Microsoft YaHei"/>
                <a:ea typeface="Microsoft YaHei"/>
              </a:rPr>
              <a:t>① EDM </a:t>
            </a:r>
            <a:r>
              <a:rPr lang="zh-CN" sz="938" b="1">
                <a:solidFill>
                  <a:srgbClr val="22D3EE"/>
                </a:solidFill>
                <a:latin typeface="Microsoft YaHei"/>
                <a:ea typeface="Microsoft YaHei"/>
              </a:rPr>
              <a:t>漂移检测</a:t>
            </a:r>
            <a:endParaRPr/>
          </a:p>
        </p:txBody>
      </p:sp>
      <p:sp>
        <p:nvSpPr>
          <p:cNvPr id="151" name="" descr="{&quot;isTemplate&quot;:true,&quot;type&quot;:&quot;text&quot;}"/>
          <p:cNvSpPr txBox="1"/>
          <p:nvPr/>
        </p:nvSpPr>
        <p:spPr>
          <a:xfrm rot="0" flipH="0" flipV="0">
            <a:off x="838200" y="3114675"/>
            <a:ext cx="135255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>
                <a:solidFill>
                  <a:srgbClr val="CBD5E1"/>
                </a:solidFill>
                <a:latin typeface="Microsoft YaHei"/>
                <a:ea typeface="Microsoft YaHei"/>
              </a:rPr>
              <a:t>监测数据分布变化</a:t>
            </a:r>
            <a:endParaRPr/>
          </a:p>
        </p:txBody>
      </p:sp>
      <p:sp>
        <p:nvSpPr>
          <p:cNvPr id="152" name="" descr="{&quot;isTemplate&quot;:true,&quot;type&quot;:&quot;text&quot;}"/>
          <p:cNvSpPr txBox="1"/>
          <p:nvPr/>
        </p:nvSpPr>
        <p:spPr>
          <a:xfrm rot="0" flipH="0" flipV="0">
            <a:off x="838200" y="3257550"/>
            <a:ext cx="135255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>
                <a:solidFill>
                  <a:srgbClr val="CBD5E1"/>
                </a:solidFill>
                <a:latin typeface="Microsoft YaHei"/>
                <a:ea typeface="Microsoft YaHei"/>
              </a:rPr>
              <a:t>结论沉淀为日志</a:t>
            </a:r>
            <a:endParaRPr/>
          </a:p>
        </p:txBody>
      </p:sp>
      <p:sp>
        <p:nvSpPr>
          <p:cNvPr id="153" name=""/>
          <p:cNvSpPr/>
          <p:nvPr/>
        </p:nvSpPr>
        <p:spPr>
          <a:xfrm rot="0" flipH="0" flipV="0">
            <a:off x="2362200" y="2828925"/>
            <a:ext cx="1543050" cy="647700"/>
          </a:xfrm>
          <a:prstGeom prst="roundRect">
            <a:avLst>
              <a:gd name="adj" fmla="val 11765"/>
            </a:avLst>
          </a:prstGeom>
          <a:solidFill>
            <a:srgbClr val="22D3EE">
              <a:alpha val="8000"/>
            </a:srgbClr>
          </a:solidFill>
          <a:ln w="12700">
            <a:solidFill>
              <a:srgbClr val="22D3EE">
                <a:alpha val="3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4" name="" descr="{&quot;isTemplate&quot;:true,&quot;type&quot;:&quot;text&quot;}"/>
          <p:cNvSpPr txBox="1"/>
          <p:nvPr/>
        </p:nvSpPr>
        <p:spPr>
          <a:xfrm rot="0" flipH="0" flipV="0">
            <a:off x="2457450" y="2924175"/>
            <a:ext cx="13525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38" b="1">
                <a:solidFill>
                  <a:srgbClr val="22D3EE"/>
                </a:solidFill>
                <a:latin typeface="Microsoft YaHei"/>
                <a:ea typeface="Microsoft YaHei"/>
              </a:rPr>
              <a:t>② </a:t>
            </a:r>
            <a:r>
              <a:rPr lang="zh-CN" sz="938" b="1">
                <a:solidFill>
                  <a:srgbClr val="22D3EE"/>
                </a:solidFill>
                <a:latin typeface="Microsoft YaHei"/>
                <a:ea typeface="Microsoft YaHei"/>
              </a:rPr>
              <a:t>训练</a:t>
            </a:r>
            <a:r>
              <a:rPr lang="en-US" sz="938" b="1">
                <a:solidFill>
                  <a:srgbClr val="22D3EE"/>
                </a:solidFill>
                <a:latin typeface="Microsoft YaHei"/>
                <a:ea typeface="Microsoft YaHei"/>
              </a:rPr>
              <a:t> Skill</a:t>
            </a:r>
            <a:endParaRPr/>
          </a:p>
        </p:txBody>
      </p:sp>
      <p:sp>
        <p:nvSpPr>
          <p:cNvPr id="155" name="" descr="{&quot;isTemplate&quot;:true,&quot;type&quot;:&quot;text&quot;}"/>
          <p:cNvSpPr txBox="1"/>
          <p:nvPr/>
        </p:nvSpPr>
        <p:spPr>
          <a:xfrm rot="0" flipH="0" flipV="0">
            <a:off x="2457450" y="3114675"/>
            <a:ext cx="135255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>
                <a:solidFill>
                  <a:srgbClr val="CBD5E1"/>
                </a:solidFill>
                <a:latin typeface="Microsoft YaHei"/>
                <a:ea typeface="Microsoft YaHei"/>
              </a:rPr>
              <a:t>标准化训练能力</a:t>
            </a:r>
            <a:endParaRPr/>
          </a:p>
        </p:txBody>
      </p:sp>
      <p:sp>
        <p:nvSpPr>
          <p:cNvPr id="156" name="" descr="{&quot;isTemplate&quot;:true,&quot;type&quot;:&quot;text&quot;}"/>
          <p:cNvSpPr txBox="1"/>
          <p:nvPr/>
        </p:nvSpPr>
        <p:spPr>
          <a:xfrm rot="0" flipH="0" flipV="0">
            <a:off x="2457450" y="3257550"/>
            <a:ext cx="135255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>
                <a:solidFill>
                  <a:srgbClr val="CBD5E1"/>
                </a:solidFill>
                <a:latin typeface="Microsoft YaHei"/>
                <a:ea typeface="Microsoft YaHei"/>
              </a:rPr>
              <a:t>训练前读</a:t>
            </a:r>
            <a:r>
              <a:rPr lang="en-US" sz="788">
                <a:solidFill>
                  <a:srgbClr val="CBD5E1"/>
                </a:solidFill>
                <a:latin typeface="Microsoft YaHei"/>
                <a:ea typeface="Microsoft YaHei"/>
              </a:rPr>
              <a:t> EDM </a:t>
            </a:r>
            <a:r>
              <a:rPr lang="zh-CN" sz="788">
                <a:solidFill>
                  <a:srgbClr val="CBD5E1"/>
                </a:solidFill>
                <a:latin typeface="Microsoft YaHei"/>
                <a:ea typeface="Microsoft YaHei"/>
              </a:rPr>
              <a:t>日志</a:t>
            </a:r>
            <a:endParaRPr/>
          </a:p>
        </p:txBody>
      </p:sp>
      <p:sp>
        <p:nvSpPr>
          <p:cNvPr id="157" name=""/>
          <p:cNvSpPr/>
          <p:nvPr/>
        </p:nvSpPr>
        <p:spPr>
          <a:xfrm rot="0" flipH="0" flipV="0">
            <a:off x="3981450" y="2828925"/>
            <a:ext cx="1543050" cy="647700"/>
          </a:xfrm>
          <a:prstGeom prst="roundRect">
            <a:avLst>
              <a:gd name="adj" fmla="val 11765"/>
            </a:avLst>
          </a:prstGeom>
          <a:solidFill>
            <a:srgbClr val="22D3EE">
              <a:alpha val="8000"/>
            </a:srgbClr>
          </a:solidFill>
          <a:ln w="12700">
            <a:solidFill>
              <a:srgbClr val="22D3EE">
                <a:alpha val="3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8" name="" descr="{&quot;isTemplate&quot;:true,&quot;type&quot;:&quot;text&quot;}"/>
          <p:cNvSpPr txBox="1"/>
          <p:nvPr/>
        </p:nvSpPr>
        <p:spPr>
          <a:xfrm rot="0" flipH="0" flipV="0">
            <a:off x="4076700" y="2924175"/>
            <a:ext cx="13525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38" b="1">
                <a:solidFill>
                  <a:srgbClr val="22D3EE"/>
                </a:solidFill>
                <a:latin typeface="Microsoft YaHei"/>
                <a:ea typeface="Microsoft YaHei"/>
              </a:rPr>
              <a:t>③ </a:t>
            </a:r>
            <a:r>
              <a:rPr lang="zh-CN" sz="938" b="1">
                <a:solidFill>
                  <a:srgbClr val="22D3EE"/>
                </a:solidFill>
                <a:latin typeface="Microsoft YaHei"/>
                <a:ea typeface="Microsoft YaHei"/>
              </a:rPr>
              <a:t>时序验证</a:t>
            </a:r>
            <a:endParaRPr/>
          </a:p>
        </p:txBody>
      </p:sp>
      <p:sp>
        <p:nvSpPr>
          <p:cNvPr id="159" name="" descr="{&quot;isTemplate&quot;:true,&quot;type&quot;:&quot;text&quot;}"/>
          <p:cNvSpPr txBox="1"/>
          <p:nvPr/>
        </p:nvSpPr>
        <p:spPr>
          <a:xfrm rot="0" flipH="0" flipV="0">
            <a:off x="4076700" y="3114675"/>
            <a:ext cx="135255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>
                <a:solidFill>
                  <a:srgbClr val="CBD5E1"/>
                </a:solidFill>
                <a:latin typeface="Microsoft YaHei"/>
                <a:ea typeface="Microsoft YaHei"/>
              </a:rPr>
              <a:t>统一时序口径评估</a:t>
            </a:r>
            <a:endParaRPr/>
          </a:p>
        </p:txBody>
      </p:sp>
      <p:sp>
        <p:nvSpPr>
          <p:cNvPr id="160" name="" descr="{&quot;isTemplate&quot;:true,&quot;type&quot;:&quot;text&quot;}"/>
          <p:cNvSpPr txBox="1"/>
          <p:nvPr/>
        </p:nvSpPr>
        <p:spPr>
          <a:xfrm rot="0" flipH="0" flipV="0">
            <a:off x="4076700" y="3257550"/>
            <a:ext cx="135255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>
                <a:solidFill>
                  <a:srgbClr val="CBD5E1"/>
                </a:solidFill>
                <a:latin typeface="Microsoft YaHei"/>
                <a:ea typeface="Microsoft YaHei"/>
              </a:rPr>
              <a:t>杜绝未来信息泄漏</a:t>
            </a:r>
            <a:endParaRPr/>
          </a:p>
        </p:txBody>
      </p:sp>
      <p:sp>
        <p:nvSpPr>
          <p:cNvPr id="161" name=""/>
          <p:cNvSpPr/>
          <p:nvPr/>
        </p:nvSpPr>
        <p:spPr>
          <a:xfrm rot="0" flipH="0" flipV="0">
            <a:off x="5600700" y="2828925"/>
            <a:ext cx="1543050" cy="647700"/>
          </a:xfrm>
          <a:prstGeom prst="roundRect">
            <a:avLst>
              <a:gd name="adj" fmla="val 11765"/>
            </a:avLst>
          </a:prstGeom>
          <a:solidFill>
            <a:srgbClr val="22D3EE">
              <a:alpha val="8000"/>
            </a:srgbClr>
          </a:solidFill>
          <a:ln w="12700">
            <a:solidFill>
              <a:srgbClr val="22D3EE">
                <a:alpha val="3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62" name="" descr="{&quot;isTemplate&quot;:true,&quot;type&quot;:&quot;text&quot;}"/>
          <p:cNvSpPr txBox="1"/>
          <p:nvPr/>
        </p:nvSpPr>
        <p:spPr>
          <a:xfrm rot="0" flipH="0" flipV="0">
            <a:off x="5695950" y="2924175"/>
            <a:ext cx="13525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38" b="1">
                <a:solidFill>
                  <a:srgbClr val="22D3EE"/>
                </a:solidFill>
                <a:latin typeface="Microsoft YaHei"/>
                <a:ea typeface="Microsoft YaHei"/>
              </a:rPr>
              <a:t>④ </a:t>
            </a:r>
            <a:r>
              <a:rPr lang="zh-CN" sz="938" b="1">
                <a:solidFill>
                  <a:srgbClr val="22D3EE"/>
                </a:solidFill>
                <a:latin typeface="Microsoft YaHei"/>
                <a:ea typeface="Microsoft YaHei"/>
              </a:rPr>
              <a:t>版本化部署</a:t>
            </a:r>
            <a:endParaRPr/>
          </a:p>
        </p:txBody>
      </p:sp>
      <p:sp>
        <p:nvSpPr>
          <p:cNvPr id="163" name="" descr="{&quot;isTemplate&quot;:true,&quot;type&quot;:&quot;text&quot;}"/>
          <p:cNvSpPr txBox="1"/>
          <p:nvPr/>
        </p:nvSpPr>
        <p:spPr>
          <a:xfrm rot="0" flipH="0" flipV="0">
            <a:off x="5695950" y="3114675"/>
            <a:ext cx="135255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>
                <a:solidFill>
                  <a:srgbClr val="CBD5E1"/>
                </a:solidFill>
                <a:latin typeface="Microsoft YaHei"/>
                <a:ea typeface="Microsoft YaHei"/>
              </a:rPr>
              <a:t>发布</a:t>
            </a:r>
            <a:r>
              <a:rPr lang="en-US" sz="788">
                <a:solidFill>
                  <a:srgbClr val="CBD5E1"/>
                </a:solidFill>
                <a:latin typeface="Microsoft YaHei"/>
                <a:ea typeface="Microsoft YaHei"/>
              </a:rPr>
              <a:t> active </a:t>
            </a:r>
            <a:r>
              <a:rPr lang="zh-CN" sz="788">
                <a:solidFill>
                  <a:srgbClr val="CBD5E1"/>
                </a:solidFill>
                <a:latin typeface="Microsoft YaHei"/>
                <a:ea typeface="Microsoft YaHei"/>
              </a:rPr>
              <a:t>模型</a:t>
            </a:r>
            <a:endParaRPr/>
          </a:p>
        </p:txBody>
      </p:sp>
      <p:sp>
        <p:nvSpPr>
          <p:cNvPr id="164" name="" descr="{&quot;isTemplate&quot;:true,&quot;type&quot;:&quot;text&quot;}"/>
          <p:cNvSpPr txBox="1"/>
          <p:nvPr/>
        </p:nvSpPr>
        <p:spPr>
          <a:xfrm rot="0" flipH="0" flipV="0">
            <a:off x="5695950" y="3257550"/>
            <a:ext cx="135255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>
                <a:solidFill>
                  <a:srgbClr val="CBD5E1"/>
                </a:solidFill>
                <a:latin typeface="Microsoft YaHei"/>
                <a:ea typeface="Microsoft YaHei"/>
              </a:rPr>
              <a:t>可回滚</a:t>
            </a:r>
            <a:r>
              <a:rPr lang="en-US" sz="788">
                <a:solidFill>
                  <a:srgbClr val="CBD5E1"/>
                </a:solidFill>
                <a:latin typeface="Microsoft YaHei"/>
                <a:ea typeface="Microsoft YaHei"/>
              </a:rPr>
              <a:t> · </a:t>
            </a:r>
            <a:r>
              <a:rPr lang="zh-CN" sz="788">
                <a:solidFill>
                  <a:srgbClr val="CBD5E1"/>
                </a:solidFill>
                <a:latin typeface="Microsoft YaHei"/>
                <a:ea typeface="Microsoft YaHei"/>
              </a:rPr>
              <a:t>可审计</a:t>
            </a:r>
            <a:endParaRPr/>
          </a:p>
        </p:txBody>
      </p:sp>
      <p:sp>
        <p:nvSpPr>
          <p:cNvPr id="165" name="" descr="{&quot;isTemplate&quot;:true,&quot;type&quot;:&quot;text&quot;}"/>
          <p:cNvSpPr txBox="1"/>
          <p:nvPr/>
        </p:nvSpPr>
        <p:spPr>
          <a:xfrm rot="0" flipH="0" flipV="0">
            <a:off x="742950" y="3571875"/>
            <a:ext cx="64008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94A3B8"/>
                </a:solidFill>
                <a:latin typeface="Microsoft YaHei"/>
                <a:ea typeface="Microsoft YaHei"/>
              </a:rPr>
              <a:t>四项能力全部版本化管理，对外输出唯一的</a:t>
            </a:r>
            <a:r>
              <a:rPr lang="en-US" sz="825">
                <a:solidFill>
                  <a:srgbClr val="94A3B8"/>
                </a:solidFill>
                <a:latin typeface="Microsoft YaHei"/>
                <a:ea typeface="Microsoft YaHei"/>
              </a:rPr>
              <a:t> active </a:t>
            </a:r>
            <a:r>
              <a:rPr lang="zh-CN" sz="825">
                <a:solidFill>
                  <a:srgbClr val="94A3B8"/>
                </a:solidFill>
                <a:latin typeface="Microsoft YaHei"/>
                <a:ea typeface="Microsoft YaHei"/>
              </a:rPr>
              <a:t>模型</a:t>
            </a:r>
            <a:endParaRPr/>
          </a:p>
        </p:txBody>
      </p:sp>
      <p:sp>
        <p:nvSpPr>
          <p:cNvPr id="166" name="" descr="{&quot;isTemplate&quot;:true,&quot;type&quot;:&quot;text&quot;}"/>
          <p:cNvSpPr txBox="1"/>
          <p:nvPr/>
        </p:nvSpPr>
        <p:spPr>
          <a:xfrm rot="0" flipH="0" flipV="0">
            <a:off x="3514725" y="4057650"/>
            <a:ext cx="666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050">
                <a:solidFill>
                  <a:srgbClr val="94A3B8"/>
                </a:solidFill>
                <a:latin typeface="Microsoft YaHei"/>
                <a:ea typeface="Microsoft YaHei"/>
              </a:rPr>
              <a:t>↓</a:t>
            </a:r>
            <a:endParaRPr/>
          </a:p>
        </p:txBody>
      </p:sp>
      <p:sp>
        <p:nvSpPr>
          <p:cNvPr id="167" name="" descr="{&quot;isTemplate&quot;:true,&quot;type&quot;:&quot;text&quot;}"/>
          <p:cNvSpPr txBox="1"/>
          <p:nvPr/>
        </p:nvSpPr>
        <p:spPr>
          <a:xfrm rot="0" flipH="0" flipV="0">
            <a:off x="3638550" y="4067175"/>
            <a:ext cx="7334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94A3B8"/>
                </a:solidFill>
                <a:latin typeface="Microsoft YaHei"/>
                <a:ea typeface="Microsoft YaHei"/>
              </a:rPr>
              <a:t>只读已到达数据</a:t>
            </a:r>
            <a:endParaRPr/>
          </a:p>
        </p:txBody>
      </p:sp>
      <p:sp>
        <p:nvSpPr>
          <p:cNvPr id="168" name=""/>
          <p:cNvSpPr/>
          <p:nvPr/>
        </p:nvSpPr>
        <p:spPr>
          <a:xfrm rot="0" flipH="0" flipV="0">
            <a:off x="609600" y="4219575"/>
            <a:ext cx="6667500" cy="666750"/>
          </a:xfrm>
          <a:prstGeom prst="roundRect">
            <a:avLst>
              <a:gd name="adj" fmla="val 1428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69" name="" descr="{&quot;isTemplate&quot;:true,&quot;type&quot;:&quot;text&quot;}"/>
          <p:cNvSpPr txBox="1"/>
          <p:nvPr/>
        </p:nvSpPr>
        <p:spPr>
          <a:xfrm rot="0" flipH="0" flipV="0">
            <a:off x="895350" y="4476750"/>
            <a:ext cx="3905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13" b="1">
                <a:solidFill>
                  <a:srgbClr val="475569"/>
                </a:solidFill>
                <a:latin typeface="Microsoft YaHei"/>
                <a:ea typeface="Microsoft YaHei"/>
              </a:rPr>
              <a:t>数据层</a:t>
            </a:r>
            <a:endParaRPr/>
          </a:p>
        </p:txBody>
      </p:sp>
      <p:sp>
        <p:nvSpPr>
          <p:cNvPr id="170" name=""/>
          <p:cNvSpPr/>
          <p:nvPr/>
        </p:nvSpPr>
        <p:spPr>
          <a:xfrm rot="0" flipH="0" flipV="0">
            <a:off x="1562100" y="4438650"/>
            <a:ext cx="628650" cy="2286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171" name="" descr="{&quot;isTemplate&quot;:true,&quot;type&quot;:&quot;text&quot;}"/>
          <p:cNvSpPr txBox="1"/>
          <p:nvPr/>
        </p:nvSpPr>
        <p:spPr>
          <a:xfrm rot="0" flipH="0" flipV="0">
            <a:off x="1657350" y="4486275"/>
            <a:ext cx="4381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>
                <a:solidFill>
                  <a:srgbClr val="0F2039"/>
                </a:solidFill>
                <a:latin typeface="Microsoft YaHei"/>
                <a:ea typeface="Microsoft YaHei"/>
              </a:rPr>
              <a:t>新增负荷</a:t>
            </a:r>
            <a:endParaRPr/>
          </a:p>
        </p:txBody>
      </p:sp>
      <p:sp>
        <p:nvSpPr>
          <p:cNvPr id="172" name=""/>
          <p:cNvSpPr/>
          <p:nvPr/>
        </p:nvSpPr>
        <p:spPr>
          <a:xfrm rot="0" flipH="0" flipV="0">
            <a:off x="2247900" y="4438650"/>
            <a:ext cx="409575" cy="2286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173" name="" descr="{&quot;isTemplate&quot;:true,&quot;type&quot;:&quot;text&quot;}"/>
          <p:cNvSpPr txBox="1"/>
          <p:nvPr/>
        </p:nvSpPr>
        <p:spPr>
          <a:xfrm rot="0" flipH="0" flipV="0">
            <a:off x="2343150" y="4486275"/>
            <a:ext cx="2190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>
                <a:solidFill>
                  <a:srgbClr val="0F2039"/>
                </a:solidFill>
                <a:latin typeface="Microsoft YaHei"/>
                <a:ea typeface="Microsoft YaHei"/>
              </a:rPr>
              <a:t>天气</a:t>
            </a:r>
            <a:endParaRPr/>
          </a:p>
        </p:txBody>
      </p:sp>
      <p:sp>
        <p:nvSpPr>
          <p:cNvPr id="174" name=""/>
          <p:cNvSpPr/>
          <p:nvPr/>
        </p:nvSpPr>
        <p:spPr>
          <a:xfrm rot="0" flipH="0" flipV="0">
            <a:off x="2714625" y="4438650"/>
            <a:ext cx="628650" cy="2286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175" name="" descr="{&quot;isTemplate&quot;:true,&quot;type&quot;:&quot;text&quot;}"/>
          <p:cNvSpPr txBox="1"/>
          <p:nvPr/>
        </p:nvSpPr>
        <p:spPr>
          <a:xfrm rot="0" flipH="0" flipV="0">
            <a:off x="2809875" y="4486275"/>
            <a:ext cx="4381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>
                <a:solidFill>
                  <a:srgbClr val="0F2039"/>
                </a:solidFill>
                <a:latin typeface="Microsoft YaHei"/>
                <a:ea typeface="Microsoft YaHei"/>
              </a:rPr>
              <a:t>历史分布</a:t>
            </a:r>
            <a:endParaRPr/>
          </a:p>
        </p:txBody>
      </p:sp>
      <p:sp>
        <p:nvSpPr>
          <p:cNvPr id="176" name=""/>
          <p:cNvSpPr/>
          <p:nvPr/>
        </p:nvSpPr>
        <p:spPr>
          <a:xfrm rot="0" flipH="0" flipV="0">
            <a:off x="3400425" y="4438650"/>
            <a:ext cx="628650" cy="2286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177" name="" descr="{&quot;isTemplate&quot;:true,&quot;type&quot;:&quot;text&quot;}"/>
          <p:cNvSpPr txBox="1"/>
          <p:nvPr/>
        </p:nvSpPr>
        <p:spPr>
          <a:xfrm rot="0" flipH="0" flipV="0">
            <a:off x="3495675" y="4486275"/>
            <a:ext cx="4381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>
                <a:solidFill>
                  <a:srgbClr val="0F2039"/>
                </a:solidFill>
                <a:latin typeface="Microsoft YaHei"/>
                <a:ea typeface="Microsoft YaHei"/>
              </a:rPr>
              <a:t>模型表现</a:t>
            </a:r>
            <a:endParaRPr/>
          </a:p>
        </p:txBody>
      </p:sp>
      <p:sp>
        <p:nvSpPr>
          <p:cNvPr id="178" name=""/>
          <p:cNvSpPr/>
          <p:nvPr/>
        </p:nvSpPr>
        <p:spPr>
          <a:xfrm rot="0" flipH="0" flipV="0">
            <a:off x="4086225" y="4438650"/>
            <a:ext cx="685800" cy="2286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179" name="" descr="{&quot;isTemplate&quot;:true,&quot;type&quot;:&quot;text&quot;}"/>
          <p:cNvSpPr txBox="1"/>
          <p:nvPr/>
        </p:nvSpPr>
        <p:spPr>
          <a:xfrm rot="0" flipH="0" flipV="0">
            <a:off x="4181475" y="4486275"/>
            <a:ext cx="4953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63">
                <a:solidFill>
                  <a:srgbClr val="0F2039"/>
                </a:solidFill>
                <a:latin typeface="Microsoft YaHei"/>
                <a:ea typeface="Microsoft YaHei"/>
              </a:rPr>
              <a:t>EDM </a:t>
            </a:r>
            <a:r>
              <a:rPr lang="zh-CN" sz="863">
                <a:solidFill>
                  <a:srgbClr val="0F2039"/>
                </a:solidFill>
                <a:latin typeface="Microsoft YaHei"/>
                <a:ea typeface="Microsoft YaHei"/>
              </a:rPr>
              <a:t>日志</a:t>
            </a:r>
            <a:endParaRPr/>
          </a:p>
        </p:txBody>
      </p:sp>
      <p:sp>
        <p:nvSpPr>
          <p:cNvPr id="180" name=""/>
          <p:cNvSpPr/>
          <p:nvPr/>
        </p:nvSpPr>
        <p:spPr>
          <a:xfrm rot="0" flipH="0" flipV="0">
            <a:off x="609600" y="4962525"/>
            <a:ext cx="6667500" cy="400050"/>
          </a:xfrm>
          <a:prstGeom prst="roundRect">
            <a:avLst>
              <a:gd name="adj" fmla="val 23810"/>
            </a:avLst>
          </a:prstGeom>
          <a:solidFill>
            <a:srgbClr val="FFFBEB"/>
          </a:solidFill>
          <a:ln w="12700">
            <a:solidFill>
              <a:srgbClr val="F59E0B"/>
            </a:solidFill>
            <a:prstDash val="solid"/>
          </a:ln>
        </p:spPr>
        <p:txBody>
          <a:bodyPr/>
          <a:p/>
        </p:txBody>
      </p:sp>
      <p:sp>
        <p:nvSpPr>
          <p:cNvPr id="181" name="" descr="{&quot;isTemplate&quot;:true,&quot;type&quot;:&quot;text&quot;}"/>
          <p:cNvSpPr txBox="1"/>
          <p:nvPr/>
        </p:nvSpPr>
        <p:spPr>
          <a:xfrm rot="0" flipH="0" flipV="0">
            <a:off x="762000" y="5095875"/>
            <a:ext cx="4762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B45309"/>
                </a:solidFill>
                <a:latin typeface="Microsoft YaHei"/>
                <a:ea typeface="Microsoft YaHei"/>
              </a:rPr>
              <a:t>约束边界</a:t>
            </a:r>
            <a:endParaRPr/>
          </a:p>
        </p:txBody>
      </p:sp>
      <p:sp>
        <p:nvSpPr>
          <p:cNvPr id="182" name="" descr="{&quot;isTemplate&quot;:true,&quot;type&quot;:&quot;text&quot;}"/>
          <p:cNvSpPr txBox="1"/>
          <p:nvPr/>
        </p:nvSpPr>
        <p:spPr>
          <a:xfrm rot="0" flipH="0" flipV="0">
            <a:off x="1333500" y="5095875"/>
            <a:ext cx="47244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92400E"/>
                </a:solidFill>
                <a:latin typeface="Microsoft YaHei"/>
                <a:ea typeface="Microsoft YaHei"/>
              </a:rPr>
              <a:t>只能使用已到达数据</a:t>
            </a:r>
            <a:r>
              <a:rPr lang="en-US" sz="900">
                <a:solidFill>
                  <a:srgbClr val="92400E"/>
                </a:solidFill>
                <a:latin typeface="Microsoft YaHei"/>
                <a:ea typeface="Microsoft YaHei"/>
              </a:rPr>
              <a:t> · </a:t>
            </a:r>
            <a:r>
              <a:rPr lang="zh-CN" sz="900">
                <a:solidFill>
                  <a:srgbClr val="92400E"/>
                </a:solidFill>
                <a:latin typeface="Microsoft YaHei"/>
                <a:ea typeface="Microsoft YaHei"/>
              </a:rPr>
              <a:t>版本化管理</a:t>
            </a:r>
            <a:r>
              <a:rPr lang="en-US" sz="900">
                <a:solidFill>
                  <a:srgbClr val="92400E"/>
                </a:solidFill>
                <a:latin typeface="Microsoft YaHei"/>
                <a:ea typeface="Microsoft YaHei"/>
              </a:rPr>
              <a:t> · </a:t>
            </a:r>
            <a:r>
              <a:rPr lang="zh-CN" sz="900">
                <a:solidFill>
                  <a:srgbClr val="92400E"/>
                </a:solidFill>
                <a:latin typeface="Microsoft YaHei"/>
                <a:ea typeface="Microsoft YaHei"/>
              </a:rPr>
              <a:t>全程日志可审计</a:t>
            </a:r>
            <a:r>
              <a:rPr lang="en-US" sz="900">
                <a:solidFill>
                  <a:srgbClr val="92400E"/>
                </a:solidFill>
                <a:latin typeface="Microsoft YaHei"/>
                <a:ea typeface="Microsoft YaHei"/>
              </a:rPr>
              <a:t> —— </a:t>
            </a:r>
            <a:r>
              <a:rPr lang="zh-CN" sz="900">
                <a:solidFill>
                  <a:srgbClr val="92400E"/>
                </a:solidFill>
                <a:latin typeface="Microsoft YaHei"/>
                <a:ea typeface="Microsoft YaHei"/>
              </a:rPr>
              <a:t>产业客户需要的『可审计的自主权』</a:t>
            </a:r>
            <a:endParaRPr/>
          </a:p>
        </p:txBody>
      </p:sp>
      <p:sp>
        <p:nvSpPr>
          <p:cNvPr id="183" name="" descr="{&quot;isTemplate&quot;:true,&quot;type&quot;:&quot;text&quot;}"/>
          <p:cNvSpPr txBox="1"/>
          <p:nvPr/>
        </p:nvSpPr>
        <p:spPr>
          <a:xfrm rot="0" flipH="0" flipV="0">
            <a:off x="609600" y="5457825"/>
            <a:ext cx="6667500" cy="14287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00">
                <a:solidFill>
                  <a:srgbClr val="64748B"/>
                </a:solidFill>
                <a:latin typeface="Microsoft YaHei"/>
                <a:ea typeface="Microsoft YaHei"/>
              </a:rPr>
              <a:t>调用链自上而下：入口触发</a:t>
            </a:r>
            <a:r>
              <a:rPr lang="en-US" sz="900">
                <a:solidFill>
                  <a:srgbClr val="64748B"/>
                </a:solidFill>
                <a:latin typeface="Microsoft YaHei"/>
                <a:ea typeface="Microsoft YaHei"/>
              </a:rPr>
              <a:t> → Agent </a:t>
            </a:r>
            <a:r>
              <a:rPr lang="zh-CN" sz="900">
                <a:solidFill>
                  <a:srgbClr val="64748B"/>
                </a:solidFill>
                <a:latin typeface="Microsoft YaHei"/>
                <a:ea typeface="Microsoft YaHei"/>
              </a:rPr>
              <a:t>决策</a:t>
            </a:r>
            <a:r>
              <a:rPr lang="en-US" sz="900">
                <a:solidFill>
                  <a:srgbClr val="64748B"/>
                </a:solidFill>
                <a:latin typeface="Microsoft YaHei"/>
                <a:ea typeface="Microsoft YaHei"/>
              </a:rPr>
              <a:t> → Harness </a:t>
            </a:r>
            <a:r>
              <a:rPr lang="zh-CN" sz="900">
                <a:solidFill>
                  <a:srgbClr val="64748B"/>
                </a:solidFill>
                <a:latin typeface="Microsoft YaHei"/>
                <a:ea typeface="Microsoft YaHei"/>
              </a:rPr>
              <a:t>执行；数据层与约束边界全程兜底</a:t>
            </a:r>
            <a:endParaRPr/>
          </a:p>
        </p:txBody>
      </p:sp>
      <p:sp>
        <p:nvSpPr>
          <p:cNvPr id="184" name=""/>
          <p:cNvSpPr/>
          <p:nvPr/>
        </p:nvSpPr>
        <p:spPr>
          <a:xfrm rot="0" flipH="0" flipV="0">
            <a:off x="2247900" y="5686425"/>
            <a:ext cx="409575" cy="190500"/>
          </a:xfrm>
          <a:prstGeom prst="roundRect">
            <a:avLst>
              <a:gd name="adj" fmla="val 30000"/>
            </a:avLst>
          </a:prstGeom>
          <a:solidFill>
            <a:srgbClr val="F1F5F9"/>
          </a:solidFill>
          <a:ln/>
        </p:spPr>
        <p:txBody>
          <a:bodyPr/>
          <a:p/>
        </p:txBody>
      </p:sp>
      <p:sp>
        <p:nvSpPr>
          <p:cNvPr id="185" name="" descr="{&quot;isTemplate&quot;:true,&quot;type&quot;:&quot;text&quot;}"/>
          <p:cNvSpPr txBox="1"/>
          <p:nvPr/>
        </p:nvSpPr>
        <p:spPr>
          <a:xfrm rot="0" flipH="0" flipV="0">
            <a:off x="2343150" y="5715000"/>
            <a:ext cx="2190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>
                <a:solidFill>
                  <a:srgbClr val="64748B"/>
                </a:solidFill>
                <a:latin typeface="Microsoft YaHei"/>
                <a:ea typeface="Microsoft YaHei"/>
              </a:rPr>
              <a:t>数据</a:t>
            </a:r>
            <a:endParaRPr/>
          </a:p>
        </p:txBody>
      </p:sp>
      <p:sp>
        <p:nvSpPr>
          <p:cNvPr id="186" name=""/>
          <p:cNvSpPr/>
          <p:nvPr/>
        </p:nvSpPr>
        <p:spPr>
          <a:xfrm rot="0" flipH="0" flipV="0">
            <a:off x="2733675" y="5686425"/>
            <a:ext cx="409575" cy="190500"/>
          </a:xfrm>
          <a:prstGeom prst="roundRect">
            <a:avLst>
              <a:gd name="adj" fmla="val 30000"/>
            </a:avLst>
          </a:prstGeom>
          <a:solidFill>
            <a:srgbClr val="F1F5F9"/>
          </a:solidFill>
          <a:ln/>
        </p:spPr>
        <p:txBody>
          <a:bodyPr/>
          <a:p/>
        </p:txBody>
      </p:sp>
      <p:sp>
        <p:nvSpPr>
          <p:cNvPr id="187" name="" descr="{&quot;isTemplate&quot;:true,&quot;type&quot;:&quot;text&quot;}"/>
          <p:cNvSpPr txBox="1"/>
          <p:nvPr/>
        </p:nvSpPr>
        <p:spPr>
          <a:xfrm rot="0" flipH="0" flipV="0">
            <a:off x="2828925" y="5715000"/>
            <a:ext cx="2190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>
                <a:solidFill>
                  <a:srgbClr val="64748B"/>
                </a:solidFill>
                <a:latin typeface="Microsoft YaHei"/>
                <a:ea typeface="Microsoft YaHei"/>
              </a:rPr>
              <a:t>工具</a:t>
            </a:r>
            <a:endParaRPr/>
          </a:p>
        </p:txBody>
      </p:sp>
      <p:sp>
        <p:nvSpPr>
          <p:cNvPr id="188" name=""/>
          <p:cNvSpPr/>
          <p:nvPr/>
        </p:nvSpPr>
        <p:spPr>
          <a:xfrm rot="0" flipH="0" flipV="0">
            <a:off x="3219450" y="5686425"/>
            <a:ext cx="409575" cy="190500"/>
          </a:xfrm>
          <a:prstGeom prst="roundRect">
            <a:avLst>
              <a:gd name="adj" fmla="val 30000"/>
            </a:avLst>
          </a:prstGeom>
          <a:solidFill>
            <a:srgbClr val="F1F5F9"/>
          </a:solidFill>
          <a:ln/>
        </p:spPr>
        <p:txBody>
          <a:bodyPr/>
          <a:p/>
        </p:txBody>
      </p:sp>
      <p:sp>
        <p:nvSpPr>
          <p:cNvPr id="189" name="" descr="{&quot;isTemplate&quot;:true,&quot;type&quot;:&quot;text&quot;}"/>
          <p:cNvSpPr txBox="1"/>
          <p:nvPr/>
        </p:nvSpPr>
        <p:spPr>
          <a:xfrm rot="0" flipH="0" flipV="0">
            <a:off x="3314700" y="5715000"/>
            <a:ext cx="2190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>
                <a:solidFill>
                  <a:srgbClr val="64748B"/>
                </a:solidFill>
                <a:latin typeface="Microsoft YaHei"/>
                <a:ea typeface="Microsoft YaHei"/>
              </a:rPr>
              <a:t>约束</a:t>
            </a:r>
            <a:endParaRPr/>
          </a:p>
        </p:txBody>
      </p:sp>
      <p:sp>
        <p:nvSpPr>
          <p:cNvPr id="190" name=""/>
          <p:cNvSpPr/>
          <p:nvPr/>
        </p:nvSpPr>
        <p:spPr>
          <a:xfrm rot="0" flipH="0" flipV="0">
            <a:off x="3705225" y="5686425"/>
            <a:ext cx="409575" cy="190500"/>
          </a:xfrm>
          <a:prstGeom prst="roundRect">
            <a:avLst>
              <a:gd name="adj" fmla="val 30000"/>
            </a:avLst>
          </a:prstGeom>
          <a:solidFill>
            <a:srgbClr val="F1F5F9"/>
          </a:solidFill>
          <a:ln/>
        </p:spPr>
        <p:txBody>
          <a:bodyPr/>
          <a:p/>
        </p:txBody>
      </p:sp>
      <p:sp>
        <p:nvSpPr>
          <p:cNvPr id="191" name="" descr="{&quot;isTemplate&quot;:true,&quot;type&quot;:&quot;text&quot;}"/>
          <p:cNvSpPr txBox="1"/>
          <p:nvPr/>
        </p:nvSpPr>
        <p:spPr>
          <a:xfrm rot="0" flipH="0" flipV="0">
            <a:off x="3800475" y="5715000"/>
            <a:ext cx="2190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>
                <a:solidFill>
                  <a:srgbClr val="64748B"/>
                </a:solidFill>
                <a:latin typeface="Microsoft YaHei"/>
                <a:ea typeface="Microsoft YaHei"/>
              </a:rPr>
              <a:t>反馈</a:t>
            </a:r>
            <a:endParaRPr/>
          </a:p>
        </p:txBody>
      </p:sp>
      <p:sp>
        <p:nvSpPr>
          <p:cNvPr id="192" name="" descr="{&quot;isTemplate&quot;:true,&quot;type&quot;:&quot;text&quot;}"/>
          <p:cNvSpPr txBox="1"/>
          <p:nvPr/>
        </p:nvSpPr>
        <p:spPr>
          <a:xfrm rot="0" flipH="0" flipV="0">
            <a:off x="4191000" y="5715000"/>
            <a:ext cx="14573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63">
                <a:solidFill>
                  <a:srgbClr val="94A3B8"/>
                </a:solidFill>
                <a:latin typeface="Microsoft YaHei"/>
                <a:ea typeface="Microsoft YaHei"/>
              </a:rPr>
              <a:t>—— Harness </a:t>
            </a:r>
            <a:r>
              <a:rPr lang="zh-CN" sz="863">
                <a:solidFill>
                  <a:srgbClr val="94A3B8"/>
                </a:solidFill>
                <a:latin typeface="Microsoft YaHei"/>
                <a:ea typeface="Microsoft YaHei"/>
              </a:rPr>
              <a:t>四要素贯穿全层</a:t>
            </a:r>
            <a:endParaRPr/>
          </a:p>
        </p:txBody>
      </p:sp>
    </p:spTree>
  </p:cSld>
</p:sld>
</file>

<file path=ppt/slides/slide4.xml><?xml version="1.0" encoding="utf-8"?>
<p:sld xmlns:a="http://schemas.openxmlformats.org/drawingml/2006/main" xmlns:p="http://schemas.openxmlformats.org/presentationml/2006/main">
  <p:cSld>
    <p:spTree>
      <p:nvGrpSpPr>
        <p:cNvPr id="193" name="" descr="&lt;Slide style={{ width: 1280, height: 720, background: '#FFFFFF', display: 'flex', flexDirection: 'column', padding: '20px 64px 14px 64px' }}&gt;&#10;    &lt;Box&gt;&#10;        &lt;Text style={{ fontSize: 31, fontWeight: 'bold', color: '#0A1D37' }}&gt;Agent 决定如何学习，模型每天稳定地推理&lt;/Text&gt;&#10;        &lt;Text style={{ fontSize: 16, color: '#64748B', marginTop: 5 }}&gt;不是每天盲目重训——Agent 在约束下决定『是否更新、如何更新』&lt;/Text&gt;&#10;    &lt;/Box&gt;&#10;&#10;    &lt;Box style={{ flex: 1, display: 'flex', flexDirection: 'column', marginTop: 14, gap: 8 }}&gt;&#10;        &lt;Box style={{ background: '#F8FAFC', border: '1px solid #E2E8F0', borderRadius: 12, padding: '14px 20px' }}&gt;&#10;            &lt;Box style={{ flexDirection: 'row', alignItems: 'center', gap: 12 }}&gt;&#10;                &lt;Box style={{ borderLeft: '4px solid #22D3EE', paddingLeft: 10, flex: 1 }}&gt;&#10;                    &lt;Text style={{ fontSize: 15, fontWeight: 'bold', color: '#0A1D37' }}&gt;持续学习闭环 · 事件驱动&lt;/Text&gt;&#10;                &lt;/Box&gt;&#10;                &lt;Box style={{ padding: '3px 10px', border: '1px solid #22D3EE', borderRadius: 999 }}&gt;&#10;                    &lt;Text style={{ fontSize: 11.5, color: '#0891B2' }}&gt;新增数据 / 漂移信号触发&lt;/Text&gt;&#10;                &lt;/Box&gt;&#10;            &lt;/Box&gt;&#10;            &lt;Box style={{ flexDirection: 'row', alignItems: 'center', marginTop: 12, justifyContent: 'space-between' }}&gt;&#10;                &lt;Box style={{ width: 190, height: 88, background: '#FFFFFF', border: '1.5px solid #E2E8F0', borderRadius: 8, padding: 12, justifyContent: 'center' }}&gt;&#10;                    &lt;Text style={{ fontSize: 15, fontWeight: 'bold', color: '#0F2039' }}&gt;① 新增数据 / EDM 日志&lt;/Text&gt;&#10;                    &lt;Text style={{ fontSize: 12, color: '#64748B', marginTop: 6 }}&gt;触发学习信号&lt;/Text&gt;&#10;                &lt;/Box&gt;&#10;                &lt;Text style={{ fontSize: 20, color: '#94A3B8' }}&gt;→&lt;/Text&gt;&#10;                &lt;Box style={{ width: 190, height: 88, background: '#FFFFFF', border: '1.5px solid #E2E8F0', borderRadius: 8, padding: 12, justifyContent: 'center' }}&gt;&#10;                    &lt;Text style={{ fontSize: 15, fontWeight: 'bold', color: '#0F2039' }}&gt;② Agent 判断变化&lt;/Text&gt;&#10;                    &lt;Text style={{ fontSize: 12, color: '#64748B', marginTop: 6 }}&gt;读取既有 EDM 日志&lt;/Text&gt;&#10;                &lt;/Box&gt;&#10;                &lt;Text style={{ fontSize: 20, color: '#94A3B8' }}&gt;→&lt;/Text&gt;&#10;                &lt;Box style={{ width: 190, height: 88, background: '#FFFFFF', border: '1.5px solid #E2E8F0', borderRadius: 8, padding: 12, justifyContent: 'center' }}&gt;&#10;                    &lt;Text style={{ fontSize: 15, fontWeight: 'bold', color: '#0F2039' }}&gt;③ 调用训练 Skill&lt;/Text&gt;&#10;                    &lt;Text style={{ fontSize: 12, color: '#64748B', marginTop: 6 }}&gt;必要时才重训&lt;/Text&gt;&#10;                &lt;/Box&gt;&#10;                &lt;Text style={{ fontSize: 20, color: '#94A3B8' }}&gt;→&lt;/Text&gt;&#10;                &lt;Box style={{ width: 190, height: 88, background: '#FFFFFF', border: '1.5px solid #E2E8F0', borderRadius: 8, padding: 12, justifyContent: 'center' }}&gt;&#10;                    &lt;Text style={{ fontSize: 15, fontWeight: 'bold', color: '#0F2039' }}&gt;④ 时序验证&lt;/Text&gt;&#10;                    &lt;Text style={{ fontSize: 12, color: '#64748B', marginTop: 6 }}&gt;统一口径评估&lt;/Text&gt;&#10;                &lt;/Box&gt;&#10;                &lt;Text style={{ fontSize: 20, color: '#94A3B8' }}&gt;→&lt;/Text&gt;&#10;                &lt;Box style={{ width: 190, height: 88, background: '#FFFFFF', border: '1.5px solid #22D3EE', borderRadius: 8, padding: 12, justifyContent: 'center' }}&gt;&#10;                    &lt;Text style={{ fontSize: 15, fontWeight: 'bold', color: '#0F2039' }}&gt;⑤ 发布 active 模型&lt;/Text&gt;&#10;                    &lt;Text style={{ fontSize: 12, color: '#64748B', marginTop: 6 }}&gt;版本可回滚&lt;/Text&gt;&#10;                &lt;/Box&gt;&#10;            &lt;/Box&gt;&#10;            &lt;Box style={{ position: 'relative', width: '100%', height: 32, marginTop: 6 }}&gt;&#10;                &lt;Box style={{ position: 'absolute', left: 85, top: 2, width: 865, height: 16, borderLeft: '1.5px solid #94A3B8', borderBottom: '1.5px solid #94A3B8', borderRight: '1.5px solid #94A3B8' }} /&gt;&#10;                &lt;Text style={{ position: 'absolute', left: 78, top: -8, fontSize: 12, color: '#94A3B8' }}&gt;▲&lt;/Text&gt;&#10;                &lt;Text style={{ position: 'absolute', left: 0, top: 22, width: '100%', fontSize: 11, color: '#94A3B8', textAlign: 'center' }}&gt;模型表现与 EDM 日志回流为上下文 · 反馈&lt;/Text&gt;&#10;            &lt;/Box&gt;&#10;        &lt;/Box&gt;&#10;&#10;        &lt;Box style={{ flexDirection: 'column', alignItems: 'center', gap: 4 }}&gt;&#10;            &lt;Text style={{ fontSize: 18, color: '#94A3B8' }}&gt;↓&lt;/Text&gt;&#10;            &lt;Box style={{ background: '#22D3EE', borderRadius: 8, padding: '9px 24px', flexDirection: 'row', alignItems: 'center', gap: 12 }}&gt;&#10;                &lt;Text style={{ fontSize: 16.5, fontWeight: 'bold', color: '#0A1D37' }}&gt;active 模型版本&lt;/Text&gt;&#10;                &lt;Text style={{ fontSize: 12, color: '#0A1D37', opacity: 0.75 }}&gt;生产环境的唯一模型入口&lt;/Text&gt;&#10;            &lt;/Box&gt;&#10;            &lt;Box style={{ flexDirection: 'row', gap: 10, marginTop: 2 }}&gt;&#10;                &lt;Box style={{ padding: '2px 10px', border: '1px solid #E2E8F0', borderRadius: 999 }}&gt;&#10;                    &lt;Text style={{ fontSize: 11.5, color: '#64748B' }}&gt;版本化管理&lt;/Text&gt;&#10;                &lt;/Box&gt;&#10;                &lt;Box style={{ padding: '2px 10px', border: '1px solid #E2E8F0', borderRadius: 999 }}&gt;&#10;                    &lt;Text style={{ fontSize: 11.5, color: '#64748B' }}&gt;可回滚&lt;/Text&gt;&#10;                &lt;/Box&gt;&#10;                &lt;Box style={{ padding: '2px 10px', border: '1px solid #E2E8F0', borderRadius: 999 }}&gt;&#10;                    &lt;Text style={{ fontSize: 11.5, color: '#64748B' }}&gt;学习闭环维护版本&lt;/Text&gt;&#10;                &lt;/Box&gt;&#10;            &lt;/Box&gt;&#10;            &lt;Text style={{ fontSize: 18, color: '#94A3B8' }}&gt;↓&lt;/Text&gt;&#10;        &lt;/Box&gt;&#10;&#10;        &lt;Box style={{ background: '#F8FAFC', border: '1px solid #E2E8F0', borderRadius: 12, padding: '12px 20px' }}&gt;&#10;            &lt;Box style={{ flexDirection: 'row', alignItems: 'center', gap: 12 }}&gt;&#10;                &lt;Box style={{ borderLeft: '4px solid #0A1D37', paddingLeft: 10, flex: 1 }}&gt;&#10;                    &lt;Text style={{ fontSize: 15, fontWeight: 'bold', color: '#0A1D37' }}&gt;生产推理闭环 · 每日一次&lt;/Text&gt;&#10;                &lt;/Box&gt;&#10;                &lt;Box style={{ padding: '3px 10px', border: '1px solid #CBD5E1', borderRadius: 999 }}&gt;&#10;                    &lt;Text style={{ fontSize: 11.5, color: '#64748B' }}&gt;00:00 自动执行 · 无需人工&lt;/Text&gt;&#10;                &lt;/Box&gt;&#10;            &lt;/Box&gt;&#10;            &lt;Box style={{ flexDirection: 'row', alignItems: 'center', marginTop: 10, justifyContent: 'space-between' }}&gt;&#10;                &lt;Box style={{ width: 320, height: 66, background: '#FFFFFF', border: '1.5px solid #E2E8F0', borderRadius: 8, padding: 12, justifyContent: 'center' }}&gt;&#10;                    &lt;Text style={{ fontSize: 15, fontWeight: 'bold', color: '#0F2039' }}&gt;① 每日定时触发&lt;/Text&gt;&#10;                    &lt;Text style={{ fontSize: 12, color: '#64748B', marginTop: 4 }}&gt;00:00 自动执行，无需人工&lt;/Text&gt;&#10;                &lt;/Box&gt;&#10;                &lt;Text style={{ fontSize: 20, color: '#94A3B8' }}&gt;→&lt;/Text&gt;&#10;                &lt;Box style={{ width: 320, height: 66, background: '#FFFFFF', border: '1.5px solid #E2E8F0', borderRadius: 8, padding: 12, justifyContent: 'center' }}&gt;&#10;                    &lt;Text style={{ fontSize: 15, fontWeight: 'bold', color: '#0F2039' }}&gt;② 自动加载当前 active 模型&lt;/Text&gt;&#10;                    &lt;Text style={{ fontSize: 12, color: '#64748B', marginTop: 4 }}&gt;版本由学习闭环维护&lt;/Text&gt;&#10;                &lt;/Box&gt;&#10;                &lt;Text style={{ fontSize: 20, color: '#94A3B8' }}&gt;→&lt;/Text&gt;&#10;                &lt;Box style={{ width: 320, height: 66, background: '#FFFFFF', border: '1.5px solid #E2E8F0', borderRadius: 8, padding: 12, justifyContent: 'center' }}&gt;&#10;                    &lt;Text style={{ fontSize: 15, fontWeight: 'bold', color: '#0F2039' }}&gt;③ 输出未来 24 小时预测&lt;/Text&gt;&#10;                    &lt;Text style={{ fontSize: 12, color: '#64748B', marginTop: 4 }}&gt;供峰值风险研判与重过载应对&lt;/Text&gt;&#10;                &lt;/Box&gt;&#10;            &lt;/Box&gt;&#10;        &lt;/Box&gt;&#10;&#10;        &lt;Box style={{ flexDirection: 'row', gap: 12 }}&gt;&#10;            &lt;Box style={{ flex: 1, background: '#F8FAFC', border: '1px solid #E2E8F0', borderRadius: 8, padding: '10px 16px', flexDirection: 'row', alignItems: 'center', gap: 12 }}&gt;&#10;                &lt;Text style={{ fontSize: 12.5, fontWeight: 'bold', color: '#64748B' }}&gt;传统模式&lt;/Text&gt;&#10;                &lt;Text style={{ fontSize: 13, color: '#94A3B8' }}&gt;预测偏移 → 立项 / 采购 / 运维 → 1–2 个月后才更新&lt;/Text&gt;&#10;            &lt;/Box&gt;&#10;            &lt;Box style={{ flex: 1, background: 'rgba(34,211,238,0.07)', border: '1px solid #22D3EE', borderRadius: 8, padding: '10px 16px', flexDirection: 'row', alignItems: 'center', gap: 12 }}&gt;&#10;                &lt;Text style={{ fontSize: 12.5, fontWeight: 'bold', color: '#0891B2' }}&gt;持续学习&lt;/Text&gt;&#10;                &lt;Text style={{ fontSize: 13, color: '#0F2039' }}&gt;信号触发 → Agent 决策 → 验证发布 → 当日内完成&lt;/Text&gt;&#10;            &lt;/Box&gt;&#10;        &lt;/Box&gt;&#10;    &lt;/Box&gt;&#10;&#10;    &lt;Box style={{ flexDirection: 'row', marginTop: 10, alignItems: 'center' }}&gt;&#10;        &lt;Text style={{ fontSize: 12, color: '#94A3B8' }}&gt;负荷预测持续学习引擎 · 双闭环架构&lt;/Text&gt;&#10;        &lt;Box style={{ marginLeft: 'auto', flexDirection: 'row', alignItems: 'center', gap: 8 }}&gt;&#10;            &lt;Box style={{ width: 10, height: 10, background: '#22D3EE' }} /&gt;&#10;            &lt;Text style={{ fontSize: 13, color: '#64748B' }}&gt;CLE · 04 / 07&lt;/Text&gt;&#10;        &lt;/Box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95" name="" descr="{&quot;isTemplate&quot;:true,&quot;type&quot;:&quot;text&quot;}"/>
          <p:cNvSpPr txBox="1"/>
          <p:nvPr/>
        </p:nvSpPr>
        <p:spPr>
          <a:xfrm rot="0" flipH="0" flipV="0">
            <a:off x="609600" y="190500"/>
            <a:ext cx="10972800" cy="3619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325" b="1">
                <a:solidFill>
                  <a:srgbClr val="0A1D37"/>
                </a:solidFill>
                <a:latin typeface="Microsoft YaHei"/>
                <a:ea typeface="Microsoft YaHei"/>
              </a:rPr>
              <a:t>Agent </a:t>
            </a:r>
            <a:r>
              <a:rPr lang="zh-CN" sz="2325" b="1">
                <a:solidFill>
                  <a:srgbClr val="0A1D37"/>
                </a:solidFill>
                <a:latin typeface="Microsoft YaHei"/>
                <a:ea typeface="Microsoft YaHei"/>
              </a:rPr>
              <a:t>决定如何学习，模型每天稳定地推理</a:t>
            </a:r>
            <a:endParaRPr/>
          </a:p>
        </p:txBody>
      </p:sp>
      <p:sp>
        <p:nvSpPr>
          <p:cNvPr id="196" name="" descr="{&quot;isTemplate&quot;:true,&quot;type&quot;:&quot;text&quot;}"/>
          <p:cNvSpPr txBox="1"/>
          <p:nvPr/>
        </p:nvSpPr>
        <p:spPr>
          <a:xfrm rot="0" flipH="0" flipV="0">
            <a:off x="609600" y="600075"/>
            <a:ext cx="10972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不是每天盲目重训——</a:t>
            </a:r>
            <a:r>
              <a:rPr lang="en-US" sz="1200">
                <a:solidFill>
                  <a:srgbClr val="64748B"/>
                </a:solidFill>
                <a:latin typeface="Microsoft YaHei"/>
                <a:ea typeface="Microsoft YaHei"/>
              </a:rPr>
              <a:t>Agent </a:t>
            </a: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在约束下决定『是否更新、如何更新』</a:t>
            </a:r>
            <a:endParaRPr/>
          </a:p>
        </p:txBody>
      </p:sp>
      <p:sp>
        <p:nvSpPr>
          <p:cNvPr id="197" name=""/>
          <p:cNvSpPr/>
          <p:nvPr/>
        </p:nvSpPr>
        <p:spPr>
          <a:xfrm rot="0" flipH="0" flipV="0">
            <a:off x="609600" y="923925"/>
            <a:ext cx="10972800" cy="1771650"/>
          </a:xfrm>
          <a:prstGeom prst="roundRect">
            <a:avLst>
              <a:gd name="adj" fmla="val 645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98" name=""/>
          <p:cNvSpPr/>
          <p:nvPr/>
        </p:nvSpPr>
        <p:spPr>
          <a:xfrm rot="0" flipH="0" flipV="0">
            <a:off x="800100" y="1066800"/>
            <a:ext cx="9134475" cy="171450"/>
          </a:xfrm>
          <a:custGeom>
            <a:pathLst>
              <a:path w="959" h="18">
                <a:moveTo>
                  <a:pt x="0" y="0"/>
                </a:moveTo>
                <a:lnTo>
                  <a:pt x="4" y="0"/>
                </a:lnTo>
                <a:lnTo>
                  <a:pt x="4" y="18"/>
                </a:lnTo>
                <a:lnTo>
                  <a:pt x="0" y="18"/>
                </a:lnTo>
                <a:close/>
              </a:path>
            </a:pathLst>
          </a:custGeom>
          <a:solidFill>
            <a:srgbClr val="22D3EE"/>
          </a:solidFill>
          <a:ln/>
        </p:spPr>
        <p:txBody>
          <a:bodyPr/>
          <a:p/>
        </p:txBody>
      </p:sp>
      <p:sp>
        <p:nvSpPr>
          <p:cNvPr id="199" name="" descr="{&quot;isTemplate&quot;:true,&quot;type&quot;:&quot;text&quot;}"/>
          <p:cNvSpPr txBox="1"/>
          <p:nvPr/>
        </p:nvSpPr>
        <p:spPr>
          <a:xfrm rot="0" flipH="0" flipV="0">
            <a:off x="933450" y="1066800"/>
            <a:ext cx="89630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0A1D37"/>
                </a:solidFill>
                <a:latin typeface="Microsoft YaHei"/>
                <a:ea typeface="Microsoft YaHei"/>
              </a:rPr>
              <a:t>持续学习闭环</a:t>
            </a:r>
            <a:r>
              <a:rPr lang="en-US" sz="1125" b="1">
                <a:solidFill>
                  <a:srgbClr val="0A1D37"/>
                </a:solidFill>
                <a:latin typeface="Microsoft YaHei"/>
                <a:ea typeface="Microsoft YaHei"/>
              </a:rPr>
              <a:t> · </a:t>
            </a:r>
            <a:r>
              <a:rPr lang="zh-CN" sz="1125" b="1">
                <a:solidFill>
                  <a:srgbClr val="0A1D37"/>
                </a:solidFill>
                <a:latin typeface="Microsoft YaHei"/>
                <a:ea typeface="Microsoft YaHei"/>
              </a:rPr>
              <a:t>事件驱动</a:t>
            </a:r>
            <a:endParaRPr/>
          </a:p>
        </p:txBody>
      </p:sp>
      <p:sp>
        <p:nvSpPr>
          <p:cNvPr id="200" name=""/>
          <p:cNvSpPr/>
          <p:nvPr/>
        </p:nvSpPr>
        <p:spPr>
          <a:xfrm rot="0" flipH="0" flipV="0">
            <a:off x="10010775" y="1057275"/>
            <a:ext cx="1381125" cy="190500"/>
          </a:xfrm>
          <a:prstGeom prst="roundRect">
            <a:avLst>
              <a:gd name="adj" fmla="val 4995000"/>
            </a:avLst>
          </a:prstGeom>
          <a:ln w="12700">
            <a:solidFill>
              <a:srgbClr val="22D3EE"/>
            </a:solidFill>
            <a:prstDash val="solid"/>
          </a:ln>
        </p:spPr>
        <p:txBody>
          <a:bodyPr/>
          <a:p/>
        </p:txBody>
      </p:sp>
      <p:sp>
        <p:nvSpPr>
          <p:cNvPr id="201" name="" descr="{&quot;isTemplate&quot;:true,&quot;type&quot;:&quot;text&quot;}"/>
          <p:cNvSpPr txBox="1"/>
          <p:nvPr/>
        </p:nvSpPr>
        <p:spPr>
          <a:xfrm rot="0" flipH="0" flipV="0">
            <a:off x="10106025" y="1085850"/>
            <a:ext cx="11906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>
                <a:solidFill>
                  <a:srgbClr val="0891B2"/>
                </a:solidFill>
                <a:latin typeface="Microsoft YaHei"/>
                <a:ea typeface="Microsoft YaHei"/>
              </a:rPr>
              <a:t>新增数据</a:t>
            </a:r>
            <a:r>
              <a:rPr lang="en-US" sz="863">
                <a:solidFill>
                  <a:srgbClr val="0891B2"/>
                </a:solidFill>
                <a:latin typeface="Microsoft YaHei"/>
                <a:ea typeface="Microsoft YaHei"/>
              </a:rPr>
              <a:t> / </a:t>
            </a:r>
            <a:r>
              <a:rPr lang="zh-CN" sz="863">
                <a:solidFill>
                  <a:srgbClr val="0891B2"/>
                </a:solidFill>
                <a:latin typeface="Microsoft YaHei"/>
                <a:ea typeface="Microsoft YaHei"/>
              </a:rPr>
              <a:t>漂移信号触发</a:t>
            </a:r>
            <a:endParaRPr/>
          </a:p>
        </p:txBody>
      </p:sp>
      <p:sp>
        <p:nvSpPr>
          <p:cNvPr id="202" name=""/>
          <p:cNvSpPr/>
          <p:nvPr/>
        </p:nvSpPr>
        <p:spPr>
          <a:xfrm rot="0" flipH="0" flipV="0">
            <a:off x="800100" y="1362075"/>
            <a:ext cx="1809750" cy="83820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203" name="" descr="{&quot;isTemplate&quot;:true,&quot;type&quot;:&quot;text&quot;}"/>
          <p:cNvSpPr txBox="1"/>
          <p:nvPr/>
        </p:nvSpPr>
        <p:spPr>
          <a:xfrm rot="0" flipH="0" flipV="0">
            <a:off x="914400" y="1600200"/>
            <a:ext cx="15811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0F2039"/>
                </a:solidFill>
                <a:latin typeface="Microsoft YaHei"/>
                <a:ea typeface="Microsoft YaHei"/>
              </a:rPr>
              <a:t>① </a:t>
            </a:r>
            <a:r>
              <a:rPr lang="zh-CN" sz="1125" b="1">
                <a:solidFill>
                  <a:srgbClr val="0F2039"/>
                </a:solidFill>
                <a:latin typeface="Microsoft YaHei"/>
                <a:ea typeface="Microsoft YaHei"/>
              </a:rPr>
              <a:t>新增数据</a:t>
            </a:r>
            <a:r>
              <a:rPr lang="en-US" sz="1125" b="1">
                <a:solidFill>
                  <a:srgbClr val="0F2039"/>
                </a:solidFill>
                <a:latin typeface="Microsoft YaHei"/>
                <a:ea typeface="Microsoft YaHei"/>
              </a:rPr>
              <a:t> / EDM </a:t>
            </a:r>
            <a:r>
              <a:rPr lang="zh-CN" sz="1125" b="1">
                <a:solidFill>
                  <a:srgbClr val="0F2039"/>
                </a:solidFill>
                <a:latin typeface="Microsoft YaHei"/>
                <a:ea typeface="Microsoft YaHei"/>
              </a:rPr>
              <a:t>日志</a:t>
            </a:r>
            <a:endParaRPr/>
          </a:p>
        </p:txBody>
      </p:sp>
      <p:sp>
        <p:nvSpPr>
          <p:cNvPr id="204" name="" descr="{&quot;isTemplate&quot;:true,&quot;type&quot;:&quot;text&quot;}"/>
          <p:cNvSpPr txBox="1"/>
          <p:nvPr/>
        </p:nvSpPr>
        <p:spPr>
          <a:xfrm rot="0" flipH="0" flipV="0">
            <a:off x="914400" y="1828800"/>
            <a:ext cx="15811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64748B"/>
                </a:solidFill>
                <a:latin typeface="Microsoft YaHei"/>
                <a:ea typeface="Microsoft YaHei"/>
              </a:rPr>
              <a:t>触发学习信号</a:t>
            </a:r>
            <a:endParaRPr/>
          </a:p>
        </p:txBody>
      </p:sp>
      <p:sp>
        <p:nvSpPr>
          <p:cNvPr id="205" name="" descr="{&quot;isTemplate&quot;:true,&quot;type&quot;:&quot;text&quot;}"/>
          <p:cNvSpPr txBox="1"/>
          <p:nvPr/>
        </p:nvSpPr>
        <p:spPr>
          <a:xfrm rot="0" flipH="0" flipV="0">
            <a:off x="2705100" y="1666875"/>
            <a:ext cx="190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500">
                <a:solidFill>
                  <a:srgbClr val="94A3B8"/>
                </a:solidFill>
                <a:latin typeface="Microsoft YaHei"/>
                <a:ea typeface="Microsoft YaHei"/>
              </a:rPr>
              <a:t>→</a:t>
            </a:r>
            <a:endParaRPr/>
          </a:p>
        </p:txBody>
      </p:sp>
      <p:sp>
        <p:nvSpPr>
          <p:cNvPr id="206" name=""/>
          <p:cNvSpPr/>
          <p:nvPr/>
        </p:nvSpPr>
        <p:spPr>
          <a:xfrm rot="0" flipH="0" flipV="0">
            <a:off x="3000375" y="1362075"/>
            <a:ext cx="1809750" cy="83820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207" name="" descr="{&quot;isTemplate&quot;:true,&quot;type&quot;:&quot;text&quot;}"/>
          <p:cNvSpPr txBox="1"/>
          <p:nvPr/>
        </p:nvSpPr>
        <p:spPr>
          <a:xfrm rot="0" flipH="0" flipV="0">
            <a:off x="3114675" y="1600200"/>
            <a:ext cx="15811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0F2039"/>
                </a:solidFill>
                <a:latin typeface="Microsoft YaHei"/>
                <a:ea typeface="Microsoft YaHei"/>
              </a:rPr>
              <a:t>② Agent </a:t>
            </a:r>
            <a:r>
              <a:rPr lang="zh-CN" sz="1125" b="1">
                <a:solidFill>
                  <a:srgbClr val="0F2039"/>
                </a:solidFill>
                <a:latin typeface="Microsoft YaHei"/>
                <a:ea typeface="Microsoft YaHei"/>
              </a:rPr>
              <a:t>判断变化</a:t>
            </a:r>
            <a:endParaRPr/>
          </a:p>
        </p:txBody>
      </p:sp>
      <p:sp>
        <p:nvSpPr>
          <p:cNvPr id="208" name="" descr="{&quot;isTemplate&quot;:true,&quot;type&quot;:&quot;text&quot;}"/>
          <p:cNvSpPr txBox="1"/>
          <p:nvPr/>
        </p:nvSpPr>
        <p:spPr>
          <a:xfrm rot="0" flipH="0" flipV="0">
            <a:off x="3114675" y="1828800"/>
            <a:ext cx="15811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64748B"/>
                </a:solidFill>
                <a:latin typeface="Microsoft YaHei"/>
                <a:ea typeface="Microsoft YaHei"/>
              </a:rPr>
              <a:t>读取既有</a:t>
            </a:r>
            <a:r>
              <a:rPr lang="en-US" sz="900">
                <a:solidFill>
                  <a:srgbClr val="64748B"/>
                </a:solidFill>
                <a:latin typeface="Microsoft YaHei"/>
                <a:ea typeface="Microsoft YaHei"/>
              </a:rPr>
              <a:t> EDM </a:t>
            </a:r>
            <a:r>
              <a:rPr lang="zh-CN" sz="900">
                <a:solidFill>
                  <a:srgbClr val="64748B"/>
                </a:solidFill>
                <a:latin typeface="Microsoft YaHei"/>
                <a:ea typeface="Microsoft YaHei"/>
              </a:rPr>
              <a:t>日志</a:t>
            </a:r>
            <a:endParaRPr/>
          </a:p>
        </p:txBody>
      </p:sp>
      <p:sp>
        <p:nvSpPr>
          <p:cNvPr id="209" name="" descr="{&quot;isTemplate&quot;:true,&quot;type&quot;:&quot;text&quot;}"/>
          <p:cNvSpPr txBox="1"/>
          <p:nvPr/>
        </p:nvSpPr>
        <p:spPr>
          <a:xfrm rot="0" flipH="0" flipV="0">
            <a:off x="4905375" y="1666875"/>
            <a:ext cx="190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500">
                <a:solidFill>
                  <a:srgbClr val="94A3B8"/>
                </a:solidFill>
                <a:latin typeface="Microsoft YaHei"/>
                <a:ea typeface="Microsoft YaHei"/>
              </a:rPr>
              <a:t>→</a:t>
            </a:r>
            <a:endParaRPr/>
          </a:p>
        </p:txBody>
      </p:sp>
      <p:sp>
        <p:nvSpPr>
          <p:cNvPr id="210" name=""/>
          <p:cNvSpPr/>
          <p:nvPr/>
        </p:nvSpPr>
        <p:spPr>
          <a:xfrm rot="0" flipH="0" flipV="0">
            <a:off x="5191125" y="1362075"/>
            <a:ext cx="1809750" cy="83820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211" name="" descr="{&quot;isTemplate&quot;:true,&quot;type&quot;:&quot;text&quot;}"/>
          <p:cNvSpPr txBox="1"/>
          <p:nvPr/>
        </p:nvSpPr>
        <p:spPr>
          <a:xfrm rot="0" flipH="0" flipV="0">
            <a:off x="5305425" y="1600200"/>
            <a:ext cx="15811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0F2039"/>
                </a:solidFill>
                <a:latin typeface="Microsoft YaHei"/>
                <a:ea typeface="Microsoft YaHei"/>
              </a:rPr>
              <a:t>③ </a:t>
            </a:r>
            <a:r>
              <a:rPr lang="zh-CN" sz="1125" b="1">
                <a:solidFill>
                  <a:srgbClr val="0F2039"/>
                </a:solidFill>
                <a:latin typeface="Microsoft YaHei"/>
                <a:ea typeface="Microsoft YaHei"/>
              </a:rPr>
              <a:t>调用训练</a:t>
            </a:r>
            <a:r>
              <a:rPr lang="en-US" sz="1125" b="1">
                <a:solidFill>
                  <a:srgbClr val="0F2039"/>
                </a:solidFill>
                <a:latin typeface="Microsoft YaHei"/>
                <a:ea typeface="Microsoft YaHei"/>
              </a:rPr>
              <a:t> Skill</a:t>
            </a:r>
            <a:endParaRPr/>
          </a:p>
        </p:txBody>
      </p:sp>
      <p:sp>
        <p:nvSpPr>
          <p:cNvPr id="212" name="" descr="{&quot;isTemplate&quot;:true,&quot;type&quot;:&quot;text&quot;}"/>
          <p:cNvSpPr txBox="1"/>
          <p:nvPr/>
        </p:nvSpPr>
        <p:spPr>
          <a:xfrm rot="0" flipH="0" flipV="0">
            <a:off x="5305425" y="1828800"/>
            <a:ext cx="15811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64748B"/>
                </a:solidFill>
                <a:latin typeface="Microsoft YaHei"/>
                <a:ea typeface="Microsoft YaHei"/>
              </a:rPr>
              <a:t>必要时才重训</a:t>
            </a:r>
            <a:endParaRPr/>
          </a:p>
        </p:txBody>
      </p:sp>
      <p:sp>
        <p:nvSpPr>
          <p:cNvPr id="213" name="" descr="{&quot;isTemplate&quot;:true,&quot;type&quot;:&quot;text&quot;}"/>
          <p:cNvSpPr txBox="1"/>
          <p:nvPr/>
        </p:nvSpPr>
        <p:spPr>
          <a:xfrm rot="0" flipH="0" flipV="0">
            <a:off x="7096125" y="1666875"/>
            <a:ext cx="190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500">
                <a:solidFill>
                  <a:srgbClr val="94A3B8"/>
                </a:solidFill>
                <a:latin typeface="Microsoft YaHei"/>
                <a:ea typeface="Microsoft YaHei"/>
              </a:rPr>
              <a:t>→</a:t>
            </a:r>
            <a:endParaRPr/>
          </a:p>
        </p:txBody>
      </p:sp>
      <p:sp>
        <p:nvSpPr>
          <p:cNvPr id="214" name=""/>
          <p:cNvSpPr/>
          <p:nvPr/>
        </p:nvSpPr>
        <p:spPr>
          <a:xfrm rot="0" flipH="0" flipV="0">
            <a:off x="7391400" y="1362075"/>
            <a:ext cx="1809750" cy="83820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215" name="" descr="{&quot;isTemplate&quot;:true,&quot;type&quot;:&quot;text&quot;}"/>
          <p:cNvSpPr txBox="1"/>
          <p:nvPr/>
        </p:nvSpPr>
        <p:spPr>
          <a:xfrm rot="0" flipH="0" flipV="0">
            <a:off x="7505700" y="1600200"/>
            <a:ext cx="15811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0F2039"/>
                </a:solidFill>
                <a:latin typeface="Microsoft YaHei"/>
                <a:ea typeface="Microsoft YaHei"/>
              </a:rPr>
              <a:t>④ </a:t>
            </a:r>
            <a:r>
              <a:rPr lang="zh-CN" sz="1125" b="1">
                <a:solidFill>
                  <a:srgbClr val="0F2039"/>
                </a:solidFill>
                <a:latin typeface="Microsoft YaHei"/>
                <a:ea typeface="Microsoft YaHei"/>
              </a:rPr>
              <a:t>时序验证</a:t>
            </a:r>
            <a:endParaRPr/>
          </a:p>
        </p:txBody>
      </p:sp>
      <p:sp>
        <p:nvSpPr>
          <p:cNvPr id="216" name="" descr="{&quot;isTemplate&quot;:true,&quot;type&quot;:&quot;text&quot;}"/>
          <p:cNvSpPr txBox="1"/>
          <p:nvPr/>
        </p:nvSpPr>
        <p:spPr>
          <a:xfrm rot="0" flipH="0" flipV="0">
            <a:off x="7505700" y="1828800"/>
            <a:ext cx="15811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64748B"/>
                </a:solidFill>
                <a:latin typeface="Microsoft YaHei"/>
                <a:ea typeface="Microsoft YaHei"/>
              </a:rPr>
              <a:t>统一口径评估</a:t>
            </a:r>
            <a:endParaRPr/>
          </a:p>
        </p:txBody>
      </p:sp>
      <p:sp>
        <p:nvSpPr>
          <p:cNvPr id="217" name="" descr="{&quot;isTemplate&quot;:true,&quot;type&quot;:&quot;text&quot;}"/>
          <p:cNvSpPr txBox="1"/>
          <p:nvPr/>
        </p:nvSpPr>
        <p:spPr>
          <a:xfrm rot="0" flipH="0" flipV="0">
            <a:off x="9296400" y="1666875"/>
            <a:ext cx="190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500">
                <a:solidFill>
                  <a:srgbClr val="94A3B8"/>
                </a:solidFill>
                <a:latin typeface="Microsoft YaHei"/>
                <a:ea typeface="Microsoft YaHei"/>
              </a:rPr>
              <a:t>→</a:t>
            </a:r>
            <a:endParaRPr/>
          </a:p>
        </p:txBody>
      </p:sp>
      <p:sp>
        <p:nvSpPr>
          <p:cNvPr id="218" name=""/>
          <p:cNvSpPr/>
          <p:nvPr/>
        </p:nvSpPr>
        <p:spPr>
          <a:xfrm rot="0" flipH="0" flipV="0">
            <a:off x="9582150" y="1362075"/>
            <a:ext cx="1809750" cy="83820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9050">
            <a:solidFill>
              <a:srgbClr val="22D3EE"/>
            </a:solidFill>
            <a:prstDash val="solid"/>
          </a:ln>
        </p:spPr>
        <p:txBody>
          <a:bodyPr/>
          <a:p/>
        </p:txBody>
      </p:sp>
      <p:sp>
        <p:nvSpPr>
          <p:cNvPr id="219" name="" descr="{&quot;isTemplate&quot;:true,&quot;type&quot;:&quot;text&quot;}"/>
          <p:cNvSpPr txBox="1"/>
          <p:nvPr/>
        </p:nvSpPr>
        <p:spPr>
          <a:xfrm rot="0" flipH="0" flipV="0">
            <a:off x="9696450" y="1600200"/>
            <a:ext cx="15811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0F2039"/>
                </a:solidFill>
                <a:latin typeface="Microsoft YaHei"/>
                <a:ea typeface="Microsoft YaHei"/>
              </a:rPr>
              <a:t>⑤ </a:t>
            </a:r>
            <a:r>
              <a:rPr lang="zh-CN" sz="1125" b="1">
                <a:solidFill>
                  <a:srgbClr val="0F2039"/>
                </a:solidFill>
                <a:latin typeface="Microsoft YaHei"/>
                <a:ea typeface="Microsoft YaHei"/>
              </a:rPr>
              <a:t>发布</a:t>
            </a:r>
            <a:r>
              <a:rPr lang="en-US" sz="1125" b="1">
                <a:solidFill>
                  <a:srgbClr val="0F2039"/>
                </a:solidFill>
                <a:latin typeface="Microsoft YaHei"/>
                <a:ea typeface="Microsoft YaHei"/>
              </a:rPr>
              <a:t> active </a:t>
            </a:r>
            <a:r>
              <a:rPr lang="zh-CN" sz="1125" b="1">
                <a:solidFill>
                  <a:srgbClr val="0F2039"/>
                </a:solidFill>
                <a:latin typeface="Microsoft YaHei"/>
                <a:ea typeface="Microsoft YaHei"/>
              </a:rPr>
              <a:t>模型</a:t>
            </a:r>
            <a:endParaRPr/>
          </a:p>
        </p:txBody>
      </p:sp>
      <p:sp>
        <p:nvSpPr>
          <p:cNvPr id="220" name="" descr="{&quot;isTemplate&quot;:true,&quot;type&quot;:&quot;text&quot;}"/>
          <p:cNvSpPr txBox="1"/>
          <p:nvPr/>
        </p:nvSpPr>
        <p:spPr>
          <a:xfrm rot="0" flipH="0" flipV="0">
            <a:off x="9696450" y="1828800"/>
            <a:ext cx="15811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64748B"/>
                </a:solidFill>
                <a:latin typeface="Microsoft YaHei"/>
                <a:ea typeface="Microsoft YaHei"/>
              </a:rPr>
              <a:t>版本可回滚</a:t>
            </a:r>
            <a:endParaRPr/>
          </a:p>
        </p:txBody>
      </p:sp>
      <p:sp>
        <p:nvSpPr>
          <p:cNvPr id="221" name="" descr="{&quot;isTemplate&quot;:true,&quot;type&quot;:&quot;text&quot;}"/>
          <p:cNvSpPr txBox="1"/>
          <p:nvPr/>
        </p:nvSpPr>
        <p:spPr>
          <a:xfrm rot="0" flipH="0" flipV="0">
            <a:off x="6057900" y="2771775"/>
            <a:ext cx="857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350">
                <a:solidFill>
                  <a:srgbClr val="94A3B8"/>
                </a:solidFill>
                <a:latin typeface="Microsoft YaHei"/>
                <a:ea typeface="Microsoft YaHei"/>
              </a:rPr>
              <a:t>↓</a:t>
            </a:r>
            <a:endParaRPr/>
          </a:p>
        </p:txBody>
      </p:sp>
      <p:sp>
        <p:nvSpPr>
          <p:cNvPr id="222" name=""/>
          <p:cNvSpPr/>
          <p:nvPr/>
        </p:nvSpPr>
        <p:spPr>
          <a:xfrm rot="0" flipH="0" flipV="0">
            <a:off x="4619625" y="3019425"/>
            <a:ext cx="2952750" cy="361950"/>
          </a:xfrm>
          <a:prstGeom prst="roundRect">
            <a:avLst>
              <a:gd name="adj" fmla="val 21053"/>
            </a:avLst>
          </a:prstGeom>
          <a:solidFill>
            <a:srgbClr val="22D3EE"/>
          </a:solidFill>
          <a:ln/>
        </p:spPr>
        <p:txBody>
          <a:bodyPr/>
          <a:p/>
        </p:txBody>
      </p:sp>
      <p:sp>
        <p:nvSpPr>
          <p:cNvPr id="223" name="" descr="{&quot;isTemplate&quot;:true,&quot;type&quot;:&quot;text&quot;}"/>
          <p:cNvSpPr txBox="1"/>
          <p:nvPr/>
        </p:nvSpPr>
        <p:spPr>
          <a:xfrm rot="0" flipH="0" flipV="0">
            <a:off x="4848225" y="3105150"/>
            <a:ext cx="11239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38" b="1">
                <a:solidFill>
                  <a:srgbClr val="0A1D37"/>
                </a:solidFill>
                <a:latin typeface="Microsoft YaHei"/>
                <a:ea typeface="Microsoft YaHei"/>
              </a:rPr>
              <a:t>active </a:t>
            </a:r>
            <a:r>
              <a:rPr lang="zh-CN" sz="1238" b="1">
                <a:solidFill>
                  <a:srgbClr val="0A1D37"/>
                </a:solidFill>
                <a:latin typeface="Microsoft YaHei"/>
                <a:ea typeface="Microsoft YaHei"/>
              </a:rPr>
              <a:t>模型版本</a:t>
            </a:r>
            <a:endParaRPr/>
          </a:p>
        </p:txBody>
      </p:sp>
      <p:sp>
        <p:nvSpPr>
          <p:cNvPr id="224" name=""/>
          <p:cNvSpPr/>
          <p:nvPr/>
        </p:nvSpPr>
        <p:spPr>
          <a:xfrm rot="0" flipH="0" flipV="0">
            <a:off x="4838700" y="3438525"/>
            <a:ext cx="742950" cy="171450"/>
          </a:xfrm>
          <a:prstGeom prst="roundRect">
            <a:avLst>
              <a:gd name="adj" fmla="val 5550000"/>
            </a:avLst>
          </a:prstGeom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225" name="" descr="{&quot;isTemplate&quot;:true,&quot;type&quot;:&quot;text&quot;}"/>
          <p:cNvSpPr txBox="1"/>
          <p:nvPr/>
        </p:nvSpPr>
        <p:spPr>
          <a:xfrm rot="0" flipH="0" flipV="0">
            <a:off x="4933950" y="3457575"/>
            <a:ext cx="5524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>
                <a:solidFill>
                  <a:srgbClr val="64748B"/>
                </a:solidFill>
                <a:latin typeface="Microsoft YaHei"/>
                <a:ea typeface="Microsoft YaHei"/>
              </a:rPr>
              <a:t>版本化管理</a:t>
            </a:r>
            <a:endParaRPr/>
          </a:p>
        </p:txBody>
      </p:sp>
      <p:sp>
        <p:nvSpPr>
          <p:cNvPr id="226" name=""/>
          <p:cNvSpPr/>
          <p:nvPr/>
        </p:nvSpPr>
        <p:spPr>
          <a:xfrm rot="0" flipH="0" flipV="0">
            <a:off x="5676900" y="3438525"/>
            <a:ext cx="523875" cy="171450"/>
          </a:xfrm>
          <a:prstGeom prst="roundRect">
            <a:avLst>
              <a:gd name="adj" fmla="val 5550000"/>
            </a:avLst>
          </a:prstGeom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227" name="" descr="{&quot;isTemplate&quot;:true,&quot;type&quot;:&quot;text&quot;}"/>
          <p:cNvSpPr txBox="1"/>
          <p:nvPr/>
        </p:nvSpPr>
        <p:spPr>
          <a:xfrm rot="0" flipH="0" flipV="0">
            <a:off x="5772150" y="3457575"/>
            <a:ext cx="3333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>
                <a:solidFill>
                  <a:srgbClr val="64748B"/>
                </a:solidFill>
                <a:latin typeface="Microsoft YaHei"/>
                <a:ea typeface="Microsoft YaHei"/>
              </a:rPr>
              <a:t>可回滚</a:t>
            </a:r>
            <a:endParaRPr/>
          </a:p>
        </p:txBody>
      </p:sp>
      <p:sp>
        <p:nvSpPr>
          <p:cNvPr id="228" name=""/>
          <p:cNvSpPr/>
          <p:nvPr/>
        </p:nvSpPr>
        <p:spPr>
          <a:xfrm rot="0" flipH="0" flipV="0">
            <a:off x="6296025" y="3438525"/>
            <a:ext cx="1066800" cy="171450"/>
          </a:xfrm>
          <a:prstGeom prst="roundRect">
            <a:avLst>
              <a:gd name="adj" fmla="val 5550000"/>
            </a:avLst>
          </a:prstGeom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229" name="" descr="{&quot;isTemplate&quot;:true,&quot;type&quot;:&quot;text&quot;}"/>
          <p:cNvSpPr txBox="1"/>
          <p:nvPr/>
        </p:nvSpPr>
        <p:spPr>
          <a:xfrm rot="0" flipH="0" flipV="0">
            <a:off x="6391275" y="3457575"/>
            <a:ext cx="8763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>
                <a:solidFill>
                  <a:srgbClr val="64748B"/>
                </a:solidFill>
                <a:latin typeface="Microsoft YaHei"/>
                <a:ea typeface="Microsoft YaHei"/>
              </a:rPr>
              <a:t>学习闭环维护版本</a:t>
            </a:r>
            <a:endParaRPr/>
          </a:p>
        </p:txBody>
      </p:sp>
      <p:sp>
        <p:nvSpPr>
          <p:cNvPr id="230" name="" descr="{&quot;isTemplate&quot;:true,&quot;type&quot;:&quot;text&quot;}"/>
          <p:cNvSpPr txBox="1"/>
          <p:nvPr/>
        </p:nvSpPr>
        <p:spPr>
          <a:xfrm rot="0" flipH="0" flipV="0">
            <a:off x="6057900" y="3648075"/>
            <a:ext cx="857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350">
                <a:solidFill>
                  <a:srgbClr val="94A3B8"/>
                </a:solidFill>
                <a:latin typeface="Microsoft YaHei"/>
                <a:ea typeface="Microsoft YaHei"/>
              </a:rPr>
              <a:t>↓</a:t>
            </a:r>
            <a:endParaRPr/>
          </a:p>
        </p:txBody>
      </p:sp>
      <p:sp>
        <p:nvSpPr>
          <p:cNvPr id="231" name=""/>
          <p:cNvSpPr/>
          <p:nvPr/>
        </p:nvSpPr>
        <p:spPr>
          <a:xfrm rot="0" flipH="0" flipV="0">
            <a:off x="609600" y="3933825"/>
            <a:ext cx="10972800" cy="114300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232" name=""/>
          <p:cNvSpPr/>
          <p:nvPr/>
        </p:nvSpPr>
        <p:spPr>
          <a:xfrm rot="0" flipH="0" flipV="0">
            <a:off x="800100" y="4057650"/>
            <a:ext cx="9039225" cy="171450"/>
          </a:xfrm>
          <a:custGeom>
            <a:pathLst>
              <a:path w="949" h="18">
                <a:moveTo>
                  <a:pt x="0" y="0"/>
                </a:moveTo>
                <a:lnTo>
                  <a:pt x="4" y="0"/>
                </a:lnTo>
                <a:lnTo>
                  <a:pt x="4" y="18"/>
                </a:lnTo>
                <a:lnTo>
                  <a:pt x="0" y="18"/>
                </a:lnTo>
                <a:close/>
              </a:path>
            </a:pathLst>
          </a:custGeom>
          <a:solidFill>
            <a:srgbClr val="0A1D37"/>
          </a:solidFill>
          <a:ln/>
        </p:spPr>
        <p:txBody>
          <a:bodyPr/>
          <a:p/>
        </p:txBody>
      </p:sp>
      <p:sp>
        <p:nvSpPr>
          <p:cNvPr id="233" name="" descr="{&quot;isTemplate&quot;:true,&quot;type&quot;:&quot;text&quot;}"/>
          <p:cNvSpPr txBox="1"/>
          <p:nvPr/>
        </p:nvSpPr>
        <p:spPr>
          <a:xfrm rot="0" flipH="0" flipV="0">
            <a:off x="933450" y="4057650"/>
            <a:ext cx="88677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0A1D37"/>
                </a:solidFill>
                <a:latin typeface="Microsoft YaHei"/>
                <a:ea typeface="Microsoft YaHei"/>
              </a:rPr>
              <a:t>生产推理闭环</a:t>
            </a:r>
            <a:r>
              <a:rPr lang="en-US" sz="1125" b="1">
                <a:solidFill>
                  <a:srgbClr val="0A1D37"/>
                </a:solidFill>
                <a:latin typeface="Microsoft YaHei"/>
                <a:ea typeface="Microsoft YaHei"/>
              </a:rPr>
              <a:t> · </a:t>
            </a:r>
            <a:r>
              <a:rPr lang="zh-CN" sz="1125" b="1">
                <a:solidFill>
                  <a:srgbClr val="0A1D37"/>
                </a:solidFill>
                <a:latin typeface="Microsoft YaHei"/>
                <a:ea typeface="Microsoft YaHei"/>
              </a:rPr>
              <a:t>每日一次</a:t>
            </a:r>
            <a:endParaRPr/>
          </a:p>
        </p:txBody>
      </p:sp>
      <p:sp>
        <p:nvSpPr>
          <p:cNvPr id="234" name=""/>
          <p:cNvSpPr/>
          <p:nvPr/>
        </p:nvSpPr>
        <p:spPr>
          <a:xfrm rot="0" flipH="0" flipV="0">
            <a:off x="9915525" y="4048125"/>
            <a:ext cx="1476375" cy="190500"/>
          </a:xfrm>
          <a:prstGeom prst="roundRect">
            <a:avLst>
              <a:gd name="adj" fmla="val 4995000"/>
            </a:avLst>
          </a:prstGeom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235" name="" descr="{&quot;isTemplate&quot;:true,&quot;type&quot;:&quot;text&quot;}"/>
          <p:cNvSpPr txBox="1"/>
          <p:nvPr/>
        </p:nvSpPr>
        <p:spPr>
          <a:xfrm rot="0" flipH="0" flipV="0">
            <a:off x="10010775" y="4076700"/>
            <a:ext cx="12858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63">
                <a:solidFill>
                  <a:srgbClr val="64748B"/>
                </a:solidFill>
                <a:latin typeface="Microsoft YaHei"/>
                <a:ea typeface="Microsoft YaHei"/>
              </a:rPr>
              <a:t>00:00 </a:t>
            </a:r>
            <a:r>
              <a:rPr lang="zh-CN" sz="863">
                <a:solidFill>
                  <a:srgbClr val="64748B"/>
                </a:solidFill>
                <a:latin typeface="Microsoft YaHei"/>
                <a:ea typeface="Microsoft YaHei"/>
              </a:rPr>
              <a:t>自动执行</a:t>
            </a:r>
            <a:r>
              <a:rPr lang="en-US" sz="863">
                <a:solidFill>
                  <a:srgbClr val="64748B"/>
                </a:solidFill>
                <a:latin typeface="Microsoft YaHei"/>
                <a:ea typeface="Microsoft YaHei"/>
              </a:rPr>
              <a:t> · </a:t>
            </a:r>
            <a:r>
              <a:rPr lang="zh-CN" sz="863">
                <a:solidFill>
                  <a:srgbClr val="64748B"/>
                </a:solidFill>
                <a:latin typeface="Microsoft YaHei"/>
                <a:ea typeface="Microsoft YaHei"/>
              </a:rPr>
              <a:t>无需人工</a:t>
            </a:r>
            <a:endParaRPr/>
          </a:p>
        </p:txBody>
      </p:sp>
      <p:sp>
        <p:nvSpPr>
          <p:cNvPr id="236" name=""/>
          <p:cNvSpPr/>
          <p:nvPr/>
        </p:nvSpPr>
        <p:spPr>
          <a:xfrm rot="0" flipH="0" flipV="0">
            <a:off x="800100" y="4333875"/>
            <a:ext cx="3048000" cy="628650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237" name="" descr="{&quot;isTemplate&quot;:true,&quot;type&quot;:&quot;text&quot;}"/>
          <p:cNvSpPr txBox="1"/>
          <p:nvPr/>
        </p:nvSpPr>
        <p:spPr>
          <a:xfrm rot="0" flipH="0" flipV="0">
            <a:off x="914400" y="4476750"/>
            <a:ext cx="28194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0F2039"/>
                </a:solidFill>
                <a:latin typeface="Microsoft YaHei"/>
                <a:ea typeface="Microsoft YaHei"/>
              </a:rPr>
              <a:t>① </a:t>
            </a:r>
            <a:r>
              <a:rPr lang="zh-CN" sz="1125" b="1">
                <a:solidFill>
                  <a:srgbClr val="0F2039"/>
                </a:solidFill>
                <a:latin typeface="Microsoft YaHei"/>
                <a:ea typeface="Microsoft YaHei"/>
              </a:rPr>
              <a:t>每日定时触发</a:t>
            </a:r>
            <a:endParaRPr/>
          </a:p>
        </p:txBody>
      </p:sp>
      <p:sp>
        <p:nvSpPr>
          <p:cNvPr id="238" name="" descr="{&quot;isTemplate&quot;:true,&quot;type&quot;:&quot;text&quot;}"/>
          <p:cNvSpPr txBox="1"/>
          <p:nvPr/>
        </p:nvSpPr>
        <p:spPr>
          <a:xfrm rot="0" flipH="0" flipV="0">
            <a:off x="914400" y="4686300"/>
            <a:ext cx="28194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64748B"/>
                </a:solidFill>
                <a:latin typeface="Microsoft YaHei"/>
                <a:ea typeface="Microsoft YaHei"/>
              </a:rPr>
              <a:t>00:00 </a:t>
            </a:r>
            <a:r>
              <a:rPr lang="zh-CN" sz="900">
                <a:solidFill>
                  <a:srgbClr val="64748B"/>
                </a:solidFill>
                <a:latin typeface="Microsoft YaHei"/>
                <a:ea typeface="Microsoft YaHei"/>
              </a:rPr>
              <a:t>自动执行，无需人工</a:t>
            </a:r>
            <a:endParaRPr/>
          </a:p>
        </p:txBody>
      </p:sp>
      <p:sp>
        <p:nvSpPr>
          <p:cNvPr id="239" name="" descr="{&quot;isTemplate&quot;:true,&quot;type&quot;:&quot;text&quot;}"/>
          <p:cNvSpPr txBox="1"/>
          <p:nvPr/>
        </p:nvSpPr>
        <p:spPr>
          <a:xfrm rot="0" flipH="0" flipV="0">
            <a:off x="4114800" y="4533900"/>
            <a:ext cx="190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500">
                <a:solidFill>
                  <a:srgbClr val="94A3B8"/>
                </a:solidFill>
                <a:latin typeface="Microsoft YaHei"/>
                <a:ea typeface="Microsoft YaHei"/>
              </a:rPr>
              <a:t>→</a:t>
            </a:r>
            <a:endParaRPr/>
          </a:p>
        </p:txBody>
      </p:sp>
      <p:sp>
        <p:nvSpPr>
          <p:cNvPr id="240" name=""/>
          <p:cNvSpPr/>
          <p:nvPr/>
        </p:nvSpPr>
        <p:spPr>
          <a:xfrm rot="0" flipH="0" flipV="0">
            <a:off x="4572000" y="4333875"/>
            <a:ext cx="3048000" cy="628650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241" name="" descr="{&quot;isTemplate&quot;:true,&quot;type&quot;:&quot;text&quot;}"/>
          <p:cNvSpPr txBox="1"/>
          <p:nvPr/>
        </p:nvSpPr>
        <p:spPr>
          <a:xfrm rot="0" flipH="0" flipV="0">
            <a:off x="4686300" y="4476750"/>
            <a:ext cx="28194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0F2039"/>
                </a:solidFill>
                <a:latin typeface="Microsoft YaHei"/>
                <a:ea typeface="Microsoft YaHei"/>
              </a:rPr>
              <a:t>② </a:t>
            </a:r>
            <a:r>
              <a:rPr lang="zh-CN" sz="1125" b="1">
                <a:solidFill>
                  <a:srgbClr val="0F2039"/>
                </a:solidFill>
                <a:latin typeface="Microsoft YaHei"/>
                <a:ea typeface="Microsoft YaHei"/>
              </a:rPr>
              <a:t>自动加载当前</a:t>
            </a:r>
            <a:r>
              <a:rPr lang="en-US" sz="1125" b="1">
                <a:solidFill>
                  <a:srgbClr val="0F2039"/>
                </a:solidFill>
                <a:latin typeface="Microsoft YaHei"/>
                <a:ea typeface="Microsoft YaHei"/>
              </a:rPr>
              <a:t> active </a:t>
            </a:r>
            <a:r>
              <a:rPr lang="zh-CN" sz="1125" b="1">
                <a:solidFill>
                  <a:srgbClr val="0F2039"/>
                </a:solidFill>
                <a:latin typeface="Microsoft YaHei"/>
                <a:ea typeface="Microsoft YaHei"/>
              </a:rPr>
              <a:t>模型</a:t>
            </a:r>
            <a:endParaRPr/>
          </a:p>
        </p:txBody>
      </p:sp>
      <p:sp>
        <p:nvSpPr>
          <p:cNvPr id="242" name="" descr="{&quot;isTemplate&quot;:true,&quot;type&quot;:&quot;text&quot;}"/>
          <p:cNvSpPr txBox="1"/>
          <p:nvPr/>
        </p:nvSpPr>
        <p:spPr>
          <a:xfrm rot="0" flipH="0" flipV="0">
            <a:off x="4686300" y="4686300"/>
            <a:ext cx="28194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64748B"/>
                </a:solidFill>
                <a:latin typeface="Microsoft YaHei"/>
                <a:ea typeface="Microsoft YaHei"/>
              </a:rPr>
              <a:t>版本由学习闭环维护</a:t>
            </a:r>
            <a:endParaRPr/>
          </a:p>
        </p:txBody>
      </p:sp>
      <p:sp>
        <p:nvSpPr>
          <p:cNvPr id="243" name="" descr="{&quot;isTemplate&quot;:true,&quot;type&quot;:&quot;text&quot;}"/>
          <p:cNvSpPr txBox="1"/>
          <p:nvPr/>
        </p:nvSpPr>
        <p:spPr>
          <a:xfrm rot="0" flipH="0" flipV="0">
            <a:off x="7886700" y="4533900"/>
            <a:ext cx="190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500">
                <a:solidFill>
                  <a:srgbClr val="94A3B8"/>
                </a:solidFill>
                <a:latin typeface="Microsoft YaHei"/>
                <a:ea typeface="Microsoft YaHei"/>
              </a:rPr>
              <a:t>→</a:t>
            </a:r>
            <a:endParaRPr/>
          </a:p>
        </p:txBody>
      </p:sp>
      <p:sp>
        <p:nvSpPr>
          <p:cNvPr id="244" name=""/>
          <p:cNvSpPr/>
          <p:nvPr/>
        </p:nvSpPr>
        <p:spPr>
          <a:xfrm rot="0" flipH="0" flipV="0">
            <a:off x="8343900" y="4333875"/>
            <a:ext cx="3048000" cy="628650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245" name="" descr="{&quot;isTemplate&quot;:true,&quot;type&quot;:&quot;text&quot;}"/>
          <p:cNvSpPr txBox="1"/>
          <p:nvPr/>
        </p:nvSpPr>
        <p:spPr>
          <a:xfrm rot="0" flipH="0" flipV="0">
            <a:off x="8458200" y="4476750"/>
            <a:ext cx="28194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0F2039"/>
                </a:solidFill>
                <a:latin typeface="Microsoft YaHei"/>
                <a:ea typeface="Microsoft YaHei"/>
              </a:rPr>
              <a:t>③ </a:t>
            </a:r>
            <a:r>
              <a:rPr lang="zh-CN" sz="1125" b="1">
                <a:solidFill>
                  <a:srgbClr val="0F2039"/>
                </a:solidFill>
                <a:latin typeface="Microsoft YaHei"/>
                <a:ea typeface="Microsoft YaHei"/>
              </a:rPr>
              <a:t>输出未来</a:t>
            </a:r>
            <a:r>
              <a:rPr lang="en-US" sz="1125" b="1">
                <a:solidFill>
                  <a:srgbClr val="0F2039"/>
                </a:solidFill>
                <a:latin typeface="Microsoft YaHei"/>
                <a:ea typeface="Microsoft YaHei"/>
              </a:rPr>
              <a:t> 24 </a:t>
            </a:r>
            <a:r>
              <a:rPr lang="zh-CN" sz="1125" b="1">
                <a:solidFill>
                  <a:srgbClr val="0F2039"/>
                </a:solidFill>
                <a:latin typeface="Microsoft YaHei"/>
                <a:ea typeface="Microsoft YaHei"/>
              </a:rPr>
              <a:t>小时预测</a:t>
            </a:r>
            <a:endParaRPr/>
          </a:p>
        </p:txBody>
      </p:sp>
      <p:sp>
        <p:nvSpPr>
          <p:cNvPr id="246" name="" descr="{&quot;isTemplate&quot;:true,&quot;type&quot;:&quot;text&quot;}"/>
          <p:cNvSpPr txBox="1"/>
          <p:nvPr/>
        </p:nvSpPr>
        <p:spPr>
          <a:xfrm rot="0" flipH="0" flipV="0">
            <a:off x="8458200" y="4686300"/>
            <a:ext cx="28194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64748B"/>
                </a:solidFill>
                <a:latin typeface="Microsoft YaHei"/>
                <a:ea typeface="Microsoft YaHei"/>
              </a:rPr>
              <a:t>供峰值风险研判与重过载应对</a:t>
            </a:r>
            <a:endParaRPr/>
          </a:p>
        </p:txBody>
      </p:sp>
      <p:sp>
        <p:nvSpPr>
          <p:cNvPr id="247" name=""/>
          <p:cNvSpPr/>
          <p:nvPr/>
        </p:nvSpPr>
        <p:spPr>
          <a:xfrm rot="0" flipH="0" flipV="0">
            <a:off x="609600" y="5153025"/>
            <a:ext cx="5429250" cy="342900"/>
          </a:xfrm>
          <a:prstGeom prst="roundRect">
            <a:avLst>
              <a:gd name="adj" fmla="val 222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248" name="" descr="{&quot;isTemplate&quot;:true,&quot;type&quot;:&quot;text&quot;}"/>
          <p:cNvSpPr txBox="1"/>
          <p:nvPr/>
        </p:nvSpPr>
        <p:spPr>
          <a:xfrm rot="0" flipH="0" flipV="0">
            <a:off x="762000" y="5257800"/>
            <a:ext cx="4762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64748B"/>
                </a:solidFill>
                <a:latin typeface="Microsoft YaHei"/>
                <a:ea typeface="Microsoft YaHei"/>
              </a:rPr>
              <a:t>传统模式</a:t>
            </a:r>
            <a:endParaRPr/>
          </a:p>
        </p:txBody>
      </p:sp>
      <p:sp>
        <p:nvSpPr>
          <p:cNvPr id="249" name="" descr="{&quot;isTemplate&quot;:true,&quot;type&quot;:&quot;text&quot;}"/>
          <p:cNvSpPr txBox="1"/>
          <p:nvPr/>
        </p:nvSpPr>
        <p:spPr>
          <a:xfrm rot="0" flipH="0" flipV="0">
            <a:off x="1352550" y="5248275"/>
            <a:ext cx="28194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94A3B8"/>
                </a:solidFill>
                <a:latin typeface="Microsoft YaHei"/>
                <a:ea typeface="Microsoft YaHei"/>
              </a:rPr>
              <a:t>预测偏移</a:t>
            </a:r>
            <a:r>
              <a:rPr lang="en-US" sz="975">
                <a:solidFill>
                  <a:srgbClr val="94A3B8"/>
                </a:solidFill>
                <a:latin typeface="Microsoft YaHei"/>
                <a:ea typeface="Microsoft YaHei"/>
              </a:rPr>
              <a:t> → </a:t>
            </a:r>
            <a:r>
              <a:rPr lang="zh-CN" sz="975">
                <a:solidFill>
                  <a:srgbClr val="94A3B8"/>
                </a:solidFill>
                <a:latin typeface="Microsoft YaHei"/>
                <a:ea typeface="Microsoft YaHei"/>
              </a:rPr>
              <a:t>立项</a:t>
            </a:r>
            <a:r>
              <a:rPr lang="en-US" sz="975">
                <a:solidFill>
                  <a:srgbClr val="94A3B8"/>
                </a:solidFill>
                <a:latin typeface="Microsoft YaHei"/>
                <a:ea typeface="Microsoft YaHei"/>
              </a:rPr>
              <a:t> / </a:t>
            </a:r>
            <a:r>
              <a:rPr lang="zh-CN" sz="975">
                <a:solidFill>
                  <a:srgbClr val="94A3B8"/>
                </a:solidFill>
                <a:latin typeface="Microsoft YaHei"/>
                <a:ea typeface="Microsoft YaHei"/>
              </a:rPr>
              <a:t>采购</a:t>
            </a:r>
            <a:r>
              <a:rPr lang="en-US" sz="975">
                <a:solidFill>
                  <a:srgbClr val="94A3B8"/>
                </a:solidFill>
                <a:latin typeface="Microsoft YaHei"/>
                <a:ea typeface="Microsoft YaHei"/>
              </a:rPr>
              <a:t> / </a:t>
            </a:r>
            <a:r>
              <a:rPr lang="zh-CN" sz="975">
                <a:solidFill>
                  <a:srgbClr val="94A3B8"/>
                </a:solidFill>
                <a:latin typeface="Microsoft YaHei"/>
                <a:ea typeface="Microsoft YaHei"/>
              </a:rPr>
              <a:t>运维</a:t>
            </a:r>
            <a:r>
              <a:rPr lang="en-US" sz="975">
                <a:solidFill>
                  <a:srgbClr val="94A3B8"/>
                </a:solidFill>
                <a:latin typeface="Microsoft YaHei"/>
                <a:ea typeface="Microsoft YaHei"/>
              </a:rPr>
              <a:t> → 1–2 </a:t>
            </a:r>
            <a:r>
              <a:rPr lang="zh-CN" sz="975">
                <a:solidFill>
                  <a:srgbClr val="94A3B8"/>
                </a:solidFill>
                <a:latin typeface="Microsoft YaHei"/>
                <a:ea typeface="Microsoft YaHei"/>
              </a:rPr>
              <a:t>个月后才更新</a:t>
            </a:r>
            <a:endParaRPr/>
          </a:p>
        </p:txBody>
      </p:sp>
      <p:sp>
        <p:nvSpPr>
          <p:cNvPr id="250" name=""/>
          <p:cNvSpPr/>
          <p:nvPr/>
        </p:nvSpPr>
        <p:spPr>
          <a:xfrm rot="0" flipH="0" flipV="0">
            <a:off x="6153150" y="5153025"/>
            <a:ext cx="5429250" cy="342900"/>
          </a:xfrm>
          <a:prstGeom prst="roundRect">
            <a:avLst>
              <a:gd name="adj" fmla="val 22222"/>
            </a:avLst>
          </a:prstGeom>
          <a:solidFill>
            <a:srgbClr val="22D3EE">
              <a:alpha val="7000"/>
            </a:srgbClr>
          </a:solidFill>
          <a:ln w="12700">
            <a:solidFill>
              <a:srgbClr val="22D3EE"/>
            </a:solidFill>
            <a:prstDash val="solid"/>
          </a:ln>
        </p:spPr>
        <p:txBody>
          <a:bodyPr/>
          <a:p/>
        </p:txBody>
      </p:sp>
      <p:sp>
        <p:nvSpPr>
          <p:cNvPr id="251" name="" descr="{&quot;isTemplate&quot;:true,&quot;type&quot;:&quot;text&quot;}"/>
          <p:cNvSpPr txBox="1"/>
          <p:nvPr/>
        </p:nvSpPr>
        <p:spPr>
          <a:xfrm rot="0" flipH="0" flipV="0">
            <a:off x="6305550" y="5257800"/>
            <a:ext cx="4762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0891B2"/>
                </a:solidFill>
                <a:latin typeface="Microsoft YaHei"/>
                <a:ea typeface="Microsoft YaHei"/>
              </a:rPr>
              <a:t>持续学习</a:t>
            </a:r>
            <a:endParaRPr/>
          </a:p>
        </p:txBody>
      </p:sp>
      <p:sp>
        <p:nvSpPr>
          <p:cNvPr id="252" name="" descr="{&quot;isTemplate&quot;:true,&quot;type&quot;:&quot;text&quot;}"/>
          <p:cNvSpPr txBox="1"/>
          <p:nvPr/>
        </p:nvSpPr>
        <p:spPr>
          <a:xfrm rot="0" flipH="0" flipV="0">
            <a:off x="6896100" y="5248275"/>
            <a:ext cx="28003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0F2039"/>
                </a:solidFill>
                <a:latin typeface="Microsoft YaHei"/>
                <a:ea typeface="Microsoft YaHei"/>
              </a:rPr>
              <a:t>信号触发</a:t>
            </a:r>
            <a:r>
              <a:rPr lang="en-US" sz="975">
                <a:solidFill>
                  <a:srgbClr val="0F2039"/>
                </a:solidFill>
                <a:latin typeface="Microsoft YaHei"/>
                <a:ea typeface="Microsoft YaHei"/>
              </a:rPr>
              <a:t> → Agent </a:t>
            </a:r>
            <a:r>
              <a:rPr lang="zh-CN" sz="975">
                <a:solidFill>
                  <a:srgbClr val="0F2039"/>
                </a:solidFill>
                <a:latin typeface="Microsoft YaHei"/>
                <a:ea typeface="Microsoft YaHei"/>
              </a:rPr>
              <a:t>决策</a:t>
            </a:r>
            <a:r>
              <a:rPr lang="en-US" sz="975">
                <a:solidFill>
                  <a:srgbClr val="0F2039"/>
                </a:solidFill>
                <a:latin typeface="Microsoft YaHei"/>
                <a:ea typeface="Microsoft YaHei"/>
              </a:rPr>
              <a:t> → </a:t>
            </a:r>
            <a:r>
              <a:rPr lang="zh-CN" sz="975">
                <a:solidFill>
                  <a:srgbClr val="0F2039"/>
                </a:solidFill>
                <a:latin typeface="Microsoft YaHei"/>
                <a:ea typeface="Microsoft YaHei"/>
              </a:rPr>
              <a:t>验证发布</a:t>
            </a:r>
            <a:r>
              <a:rPr lang="en-US" sz="975">
                <a:solidFill>
                  <a:srgbClr val="0F2039"/>
                </a:solidFill>
                <a:latin typeface="Microsoft YaHei"/>
                <a:ea typeface="Microsoft YaHei"/>
              </a:rPr>
              <a:t> → </a:t>
            </a:r>
            <a:r>
              <a:rPr lang="zh-CN" sz="975">
                <a:solidFill>
                  <a:srgbClr val="0F2039"/>
                </a:solidFill>
                <a:latin typeface="Microsoft YaHei"/>
                <a:ea typeface="Microsoft YaHei"/>
              </a:rPr>
              <a:t>当日内完成</a:t>
            </a:r>
            <a:endParaRPr/>
          </a:p>
        </p:txBody>
      </p:sp>
      <p:sp>
        <p:nvSpPr>
          <p:cNvPr id="253" name="" descr="{&quot;isTemplate&quot;:true,&quot;type&quot;:&quot;text&quot;}"/>
          <p:cNvSpPr txBox="1"/>
          <p:nvPr/>
        </p:nvSpPr>
        <p:spPr>
          <a:xfrm rot="0" flipH="0" flipV="0">
            <a:off x="609600" y="6581775"/>
            <a:ext cx="18192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94A3B8"/>
                </a:solidFill>
                <a:latin typeface="Microsoft YaHei"/>
                <a:ea typeface="Microsoft YaHei"/>
              </a:rPr>
              <a:t>负荷预测持续学习引擎</a:t>
            </a:r>
            <a:r>
              <a:rPr lang="en-US" sz="900">
                <a:solidFill>
                  <a:srgbClr val="94A3B8"/>
                </a:solidFill>
                <a:latin typeface="Microsoft YaHei"/>
                <a:ea typeface="Microsoft YaHei"/>
              </a:rPr>
              <a:t> · </a:t>
            </a:r>
            <a:r>
              <a:rPr lang="zh-CN" sz="900">
                <a:solidFill>
                  <a:srgbClr val="94A3B8"/>
                </a:solidFill>
                <a:latin typeface="Microsoft YaHei"/>
                <a:ea typeface="Microsoft YaHei"/>
              </a:rPr>
              <a:t>双闭环架构</a:t>
            </a:r>
            <a:endParaRPr/>
          </a:p>
        </p:txBody>
      </p:sp>
      <p:sp>
        <p:nvSpPr>
          <p:cNvPr id="254" name=""/>
          <p:cNvSpPr/>
          <p:nvPr/>
        </p:nvSpPr>
        <p:spPr>
          <a:xfrm rot="0" flipH="0" flipV="0">
            <a:off x="10677525" y="6600825"/>
            <a:ext cx="95250" cy="95250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p/>
        </p:txBody>
      </p:sp>
      <p:sp>
        <p:nvSpPr>
          <p:cNvPr id="255" name="" descr="{&quot;isTemplate&quot;:true,&quot;type&quot;:&quot;text&quot;}"/>
          <p:cNvSpPr txBox="1"/>
          <p:nvPr/>
        </p:nvSpPr>
        <p:spPr>
          <a:xfrm rot="0" flipH="0" flipV="0">
            <a:off x="10848975" y="6572250"/>
            <a:ext cx="7334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Microsoft YaHei"/>
                <a:ea typeface="Microsoft YaHei"/>
              </a:rPr>
              <a:t>CLE · 04 / 07</a:t>
            </a:r>
            <a:endParaRPr/>
          </a:p>
        </p:txBody>
      </p:sp>
      <p:sp>
        <p:nvSpPr>
          <p:cNvPr id="256" name=""/>
          <p:cNvSpPr/>
          <p:nvPr/>
        </p:nvSpPr>
        <p:spPr>
          <a:xfrm rot="0" flipH="0" flipV="0">
            <a:off x="1609725" y="2276475"/>
            <a:ext cx="8239125" cy="152400"/>
          </a:xfrm>
          <a:custGeom>
            <a:pathLst>
              <a:path w="865" h="16">
                <a:moveTo>
                  <a:pt x="0" y="0"/>
                </a:moveTo>
                <a:lnTo>
                  <a:pt x="2" y="0"/>
                </a:lnTo>
                <a:lnTo>
                  <a:pt x="2" y="15"/>
                </a:lnTo>
                <a:lnTo>
                  <a:pt x="0" y="16"/>
                </a:lnTo>
                <a:close/>
              </a:path>
            </a:pathLst>
          </a:custGeom>
          <a:solidFill>
            <a:srgbClr val="94A3B8"/>
          </a:solidFill>
          <a:ln/>
        </p:spPr>
        <p:txBody>
          <a:bodyPr/>
          <a:p/>
        </p:txBody>
      </p:sp>
      <p:sp>
        <p:nvSpPr>
          <p:cNvPr id="257" name=""/>
          <p:cNvSpPr/>
          <p:nvPr/>
        </p:nvSpPr>
        <p:spPr>
          <a:xfrm rot="0" flipH="0" flipV="0">
            <a:off x="1609725" y="2276475"/>
            <a:ext cx="8239125" cy="152400"/>
          </a:xfrm>
          <a:custGeom>
            <a:pathLst>
              <a:path w="865" h="16">
                <a:moveTo>
                  <a:pt x="864" y="0"/>
                </a:moveTo>
                <a:lnTo>
                  <a:pt x="865" y="0"/>
                </a:lnTo>
                <a:lnTo>
                  <a:pt x="865" y="16"/>
                </a:lnTo>
                <a:lnTo>
                  <a:pt x="864" y="15"/>
                </a:lnTo>
                <a:close/>
              </a:path>
            </a:pathLst>
          </a:custGeom>
          <a:solidFill>
            <a:srgbClr val="94A3B8"/>
          </a:solidFill>
          <a:ln/>
        </p:spPr>
        <p:txBody>
          <a:bodyPr/>
          <a:p/>
        </p:txBody>
      </p:sp>
      <p:sp>
        <p:nvSpPr>
          <p:cNvPr id="258" name=""/>
          <p:cNvSpPr/>
          <p:nvPr/>
        </p:nvSpPr>
        <p:spPr>
          <a:xfrm rot="0" flipH="0" flipV="0">
            <a:off x="1609725" y="2276475"/>
            <a:ext cx="8239125" cy="152400"/>
          </a:xfrm>
          <a:custGeom>
            <a:pathLst>
              <a:path w="865" h="16">
                <a:moveTo>
                  <a:pt x="2" y="15"/>
                </a:moveTo>
                <a:lnTo>
                  <a:pt x="864" y="15"/>
                </a:lnTo>
                <a:lnTo>
                  <a:pt x="865" y="16"/>
                </a:lnTo>
                <a:lnTo>
                  <a:pt x="0" y="16"/>
                </a:lnTo>
                <a:close/>
              </a:path>
            </a:pathLst>
          </a:custGeom>
          <a:solidFill>
            <a:srgbClr val="94A3B8"/>
          </a:solidFill>
          <a:ln/>
        </p:spPr>
        <p:txBody>
          <a:bodyPr/>
          <a:p/>
        </p:txBody>
      </p:sp>
      <p:sp>
        <p:nvSpPr>
          <p:cNvPr id="259" name="" descr="{&quot;isTemplate&quot;:true,&quot;type&quot;:&quot;text&quot;}"/>
          <p:cNvSpPr txBox="1"/>
          <p:nvPr/>
        </p:nvSpPr>
        <p:spPr>
          <a:xfrm rot="0" flipH="0" flipV="0">
            <a:off x="1543050" y="2181225"/>
            <a:ext cx="1143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900">
                <a:solidFill>
                  <a:srgbClr val="94A3B8"/>
                </a:solidFill>
                <a:latin typeface="Microsoft YaHei"/>
                <a:ea typeface="Microsoft YaHei"/>
              </a:rPr>
              <a:t>▲</a:t>
            </a:r>
            <a:endParaRPr/>
          </a:p>
        </p:txBody>
      </p:sp>
      <p:sp>
        <p:nvSpPr>
          <p:cNvPr id="260" name="" descr="{&quot;isTemplate&quot;:true,&quot;type&quot;:&quot;text&quot;}"/>
          <p:cNvSpPr txBox="1"/>
          <p:nvPr/>
        </p:nvSpPr>
        <p:spPr>
          <a:xfrm rot="0" flipH="0" flipV="0">
            <a:off x="800100" y="2466975"/>
            <a:ext cx="10591800" cy="13335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825">
                <a:solidFill>
                  <a:srgbClr val="94A3B8"/>
                </a:solidFill>
                <a:latin typeface="Microsoft YaHei"/>
                <a:ea typeface="Microsoft YaHei"/>
              </a:rPr>
              <a:t>模型表现与</a:t>
            </a:r>
            <a:r>
              <a:rPr lang="en-US" sz="825">
                <a:solidFill>
                  <a:srgbClr val="94A3B8"/>
                </a:solidFill>
                <a:latin typeface="Microsoft YaHei"/>
                <a:ea typeface="Microsoft YaHei"/>
              </a:rPr>
              <a:t> EDM </a:t>
            </a:r>
            <a:r>
              <a:rPr lang="zh-CN" sz="825">
                <a:solidFill>
                  <a:srgbClr val="94A3B8"/>
                </a:solidFill>
                <a:latin typeface="Microsoft YaHei"/>
                <a:ea typeface="Microsoft YaHei"/>
              </a:rPr>
              <a:t>日志回流为上下文</a:t>
            </a:r>
            <a:r>
              <a:rPr lang="en-US" sz="825">
                <a:solidFill>
                  <a:srgbClr val="94A3B8"/>
                </a:solidFill>
                <a:latin typeface="Microsoft YaHei"/>
                <a:ea typeface="Microsoft YaHei"/>
              </a:rPr>
              <a:t> · </a:t>
            </a:r>
            <a:r>
              <a:rPr lang="zh-CN" sz="825">
                <a:solidFill>
                  <a:srgbClr val="94A3B8"/>
                </a:solidFill>
                <a:latin typeface="Microsoft YaHei"/>
                <a:ea typeface="Microsoft YaHei"/>
              </a:rPr>
              <a:t>反馈</a:t>
            </a:r>
            <a:endParaRPr/>
          </a:p>
        </p:txBody>
      </p:sp>
      <p:sp>
        <p:nvSpPr>
          <p:cNvPr id="261" name="" descr="{&quot;isTemplate&quot;:true,&quot;type&quot;:&quot;text&quot;}"/>
          <p:cNvSpPr txBox="1"/>
          <p:nvPr/>
        </p:nvSpPr>
        <p:spPr>
          <a:xfrm rot="0" flipH="0" flipV="0">
            <a:off x="6086475" y="3133725"/>
            <a:ext cx="12573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0A1D37">
                    <a:alpha val="75000"/>
                  </a:srgbClr>
                </a:solidFill>
                <a:latin typeface="Microsoft YaHei"/>
                <a:ea typeface="Microsoft YaHei"/>
              </a:rPr>
              <a:t>生产环境的唯一模型入口</a:t>
            </a:r>
            <a:endParaRPr/>
          </a:p>
        </p:txBody>
      </p:sp>
    </p:spTree>
  </p:cSld>
</p:sld>
</file>

<file path=ppt/slides/slide5.xml><?xml version="1.0" encoding="utf-8"?>
<p:sld xmlns:a="http://schemas.openxmlformats.org/drawingml/2006/main" xmlns:p="http://schemas.openxmlformats.org/presentationml/2006/main">
  <p:cSld>
    <p:spTree>
      <p:nvGrpSpPr>
        <p:cNvPr id="262" name="" descr="&lt;Slide style={{ width: 1280, height: 720, background: '#FFFFFF', display: 'flex', flexDirection: 'column', padding: '22px 64px 16px 64px' }}&gt;&#10;    &lt;Box style={{ flexDirection: 'row', alignItems: 'flex-end' }}&gt;&#10;        &lt;Box style={{ flex: 1 }}&gt;&#10;            &lt;Text style={{ fontSize: 32, fontWeight: 'bold', color: '#0A1D37' }}&gt;聊天与 Cron，让持续学习成为可运营能力&lt;/Text&gt;&#10;            &lt;Text style={{ fontSize: 16, color: '#64748B', marginTop: 6 }}&gt;演示产品入口：可用、可查、可审计的产品闭环&lt;/Text&gt;&#10;        &lt;/Box&gt;&#10;        &lt;Box style={{ padding: '4px 12px', border: '1px solid #22D3EE', borderRadius: 999 }}&gt;&#10;            &lt;Text style={{ fontSize: 12, color: '#0891B2' }}&gt;三帧演示 · 与现场演示一一对应&lt;/Text&gt;&#10;        &lt;/Box&gt;&#10;    &lt;/Box&gt;&#10;&#10;    &lt;Box style={{ flexDirection: 'row', gap: 26, flex: 1, marginTop: 16, alignItems: 'stretch' }}&gt;&#10;        &lt;Box style={{ width: 770, display: 'flex', flexDirection: 'column' }}&gt;&#10;            &lt;Box style={{ flexDirection: 'row', alignItems: 'stretch' }}&gt;&#10;                &lt;Box style={{ width: 218, background: '#FFFFFF', border: '1.5px solid #E2E8F0', borderRadius: 10, overflow: 'hidden', display: 'flex', flexDirection: 'column' }}&gt;&#10;                    &lt;Box style={{ background: '#0A1D37', padding: '8px 12px', flexDirection: 'row', alignItems: 'center', gap: 8 }}&gt;&#10;                        &lt;Text style={{ fontSize: 13, fontWeight: 'bold', color: '#22D3EE' }}&gt;①&lt;/Text&gt;&#10;                        &lt;Text style={{ fontSize: 14, fontWeight: 'bold', color: '#F8FAFC' }}&gt;聊天入口&lt;/Text&gt;&#10;                    &lt;/Box&gt;&#10;                    &lt;Box style={{ padding: 12, display: 'flex', flexDirection: 'column', gap: 10, flex: 1 }}&gt;&#10;                        &lt;Box style={{ alignSelf: 'flex-end', background: '#0A1D37', borderRadius: 8, padding: '8px 10px', maxWidth: 156 }}&gt;&#10;                            &lt;Text style={{ fontSize: 12, color: '#F8FAFC', lineHeight: 1.6 }}&gt;分析最新一周的负荷数据&lt;/Text&gt;&#10;                        &lt;/Box&gt;&#10;                        &lt;Box style={{ alignSelf: 'flex-start', background: '#F1F5F9', borderRadius: 8, padding: '8px 10px', maxWidth: 164 }}&gt;&#10;                            &lt;Text style={{ fontSize: 12, color: '#0F2039', lineHeight: 1.6 }}&gt;检测到夏季负荷水平上移，建议触发训练验证。&lt;/Text&gt;&#10;                        &lt;/Box&gt;&#10;                        &lt;Box style={{ marginTop: 'auto' }}&gt;&#10;                            &lt;Text style={{ fontSize: 11, color: '#94A3B8' }}&gt;自然语言驱动 · 无门槛&lt;/Text&gt;&#10;                            &lt;Text style={{ fontSize: 11, color: '#94A3B8', marginTop: 4 }}&gt;业务人员直接使用，无需算法背景&lt;/Text&gt;&#10;                        &lt;/Box&gt;&#10;                    &lt;/Box&gt;&#10;                &lt;/Box&gt;&#10;                &lt;Text style={{ fontSize: 16, color: '#94A3B8', alignSelf: 'center', margin: '0 2px' }}&gt;→&lt;/Text&gt;&#10;                &lt;Box style={{ width: 244, background: '#FFFFFF', border: '1.5px solid #E2E8F0', borderRadius: 10, overflow: 'hidden', display: 'flex', flexDirection: 'column' }}&gt;&#10;                    &lt;Box style={{ background: '#0A1D37', padding: '8px 12px', flexDirection: 'row', alignItems: 'center', gap: 8 }}&gt;&#10;                        &lt;Text style={{ fontSize: 13, fontWeight: 'bold', color: '#22D3EE' }}&gt;②&lt;/Text&gt;&#10;                        &lt;Text style={{ fontSize: 14, fontWeight: 'bold', color: '#F8FAFC' }}&gt;EDM 结论沉淀&lt;/Text&gt;&#10;                    &lt;/Box&gt;&#10;                    &lt;Box style={{ padding: 12, display: 'flex', flexDirection: 'column', gap: 10, flex: 1 }}&gt;&#10;                        &lt;Box&gt;&#10;                            &lt;Text style={{ fontSize: 12.5, fontWeight: 'bold', color: '#0F2039' }}&gt;2018-07 · 水平漂移&lt;/Text&gt;&#10;                            &lt;Text style={{ fontSize: 11.5, color: '#64748B', marginTop: 2 }}&gt;置信度高 · 建议重训&lt;/Text&gt;&#10;                        &lt;/Box&gt;&#10;                        &lt;Box style={{ height: 1, background: '#E2E8F0' }} /&gt;&#10;                        &lt;Box&gt;&#10;                            &lt;Text style={{ fontSize: 12.5, fontWeight: 'bold', color: '#0F2039' }}&gt;结论落盘&lt;/Text&gt;&#10;                            &lt;Text style={{ fontSize: 11.5, color: '#64748B', marginTop: 2 }}&gt;日志 + 上下文，训练前读取&lt;/Text&gt;&#10;                        &lt;/Box&gt;&#10;                        &lt;Text style={{ fontSize: 11, color: '#94A3B8', marginTop: 'auto' }}&gt;每次分析都可追溯 · 不依赖个人经验&lt;/Text&gt;&#10;                    &lt;/Box&gt;&#10;                &lt;/Box&gt;&#10;                &lt;Text style={{ fontSize: 16, color: '#94A3B8', alignSelf: 'center', margin: '0 2px' }}&gt;→&lt;/Text&gt;&#10;                &lt;Box style={{ width: 258, background: '#FFFFFF', border: '1.5px solid #E2E8F0', borderRadius: 10, overflow: 'hidden', display: 'flex', flexDirection: 'column' }}&gt;&#10;                    &lt;Box style={{ background: '#0A1D37', padding: '8px 12px', flexDirection: 'row', alignItems: 'center', gap: 8 }}&gt;&#10;                        &lt;Text style={{ fontSize: 13, fontWeight: 'bold', color: '#22D3EE' }}&gt;③&lt;/Text&gt;&#10;                        &lt;Text style={{ fontSize: 14, fontWeight: 'bold', color: '#F8FAFC' }}&gt;Cron 定时任务&lt;/Text&gt;&#10;                    &lt;/Box&gt;&#10;                    &lt;Box style={{ padding: 12, display: 'flex', flexDirection: 'column', gap: 8, flex: 1 }}&gt;&#10;                        &lt;Text style={{ fontSize: 12.5, color: '#0F2039' }}&gt;00:00 · 训练 Skill&lt;/Text&gt;&#10;                        &lt;Text style={{ fontSize: 12.5, color: '#0F2039' }}&gt;00:40 · 时序验证&lt;/Text&gt;&#10;                        &lt;Box style={{ background: 'rgba(34,211,238,0.12)', border: '1px solid #22D3EE', borderRadius: 6, padding: 8, marginTop: 'auto' }}&gt;&#10;                            &lt;Text style={{ fontSize: 12.5, fontWeight: 'bold', color: '#0A1D37' }}&gt;01:00 · 部署 v_35 → active&lt;/Text&gt;&#10;                            &lt;Text style={{ fontSize: 11, fontWeight: 'bold', color: '#0891B2', marginTop: 2 }}&gt;新版本成为 active ✓&lt;/Text&gt;&#10;                        &lt;/Box&gt;&#10;                    &lt;/Box&gt;&#10;                &lt;/Box&gt;&#10;            &lt;/Box&gt;&#10;            &lt;Box style={{ flexDirection: 'row', alignItems: 'center', justifyContent: 'center', gap: 8, marginTop: 16 }}&gt;&#10;                &lt;Box style={{ padding: '4px 12px', background: '#F1F5F9', borderRadius: 6 }}&gt;&#10;                    &lt;Text style={{ fontSize: 12, color: '#0F2039' }}&gt;① 自然语言提问&lt;/Text&gt;&#10;                &lt;/Box&gt;&#10;                &lt;Text style={{ fontSize: 14, color: '#94A3B8' }}&gt;→&lt;/Text&gt;&#10;                &lt;Box style={{ padding: '4px 12px', background: '#F1F5F9', borderRadius: 6 }}&gt;&#10;                    &lt;Text style={{ fontSize: 12, color: '#0F2039' }}&gt;② 结论沉淀为日志&lt;/Text&gt;&#10;                &lt;/Box&gt;&#10;                &lt;Text style={{ fontSize: 14, color: '#94A3B8' }}&gt;→&lt;/Text&gt;&#10;                &lt;Box style={{ padding: '4px 12px', background: '#F1F5F9', borderRadius: 6 }}&gt;&#10;                    &lt;Text style={{ fontSize: 12, color: '#0F2039' }}&gt;③ 定时训练 + 验证&lt;/Text&gt;&#10;                &lt;/Box&gt;&#10;                &lt;Text style={{ fontSize: 14, color: '#94A3B8' }}&gt;→&lt;/Text&gt;&#10;                &lt;Box style={{ padding: '4px 12px', background: 'rgba(34,211,238,0.12)', border: '1px solid #22D3EE', borderRadius: 6 }}&gt;&#10;                    &lt;Text style={{ fontSize: 12, fontWeight: 'bold', color: '#0891B2' }}&gt;新模型成为 active&lt;/Text&gt;&#10;                &lt;/Box&gt;&#10;            &lt;/Box&gt;&#10;            &lt;Text style={{ fontSize: 12, color: '#94A3B8', textAlign: 'center', marginTop: 8 }}&gt;同一套闭环 · 训练前 Agent 自动读取既有 EDM 日志 · 全程无人工干预&lt;/Text&gt;&#10;        &lt;/Box&gt;&#10;&#10;        &lt;Box style={{ flex: 1, display: 'flex', flexDirection: 'column', gap: 12 }}&gt;&#10;            &lt;Box style={{ background: '#0A1D37', borderRadius: 12, padding: 20, flex: 1 }}&gt;&#10;                &lt;Text style={{ fontSize: 17, fontWeight: 'bold', color: '#F8FAFC' }}&gt;产业客户看到&lt;/Text&gt;&#10;                &lt;Box style={{ flexDirection: 'row', alignItems: 'center', gap: 10, marginTop: 14 }}&gt;&#10;                    &lt;Box style={{ width: 6, height: 6, background: '#22D3EE', borderRadius: 3 }} /&gt;&#10;                    &lt;Box&gt;&#10;                        &lt;Text style={{ fontSize: 13.5, fontWeight: 'bold', color: '#F8FAFC' }}&gt;可用 —— 自然语言驱动学习&lt;/Text&gt;&#10;                        &lt;Text style={{ fontSize: 11.5, color: '#94A3B8', marginTop: 2 }}&gt;业务人员零门槛发起分析&lt;/Text&gt;&#10;                    &lt;/Box&gt;&#10;                &lt;/Box&gt;&#10;                &lt;Box style={{ flexDirection: 'row', alignItems: 'center', gap: 10, marginTop: 12 }}&gt;&#10;                    &lt;Box style={{ width: 6, height: 6, background: '#22D3EE', borderRadius: 3 }} /&gt;&#10;                    &lt;Box&gt;&#10;                        &lt;Text style={{ fontSize: 13.5, fontWeight: 'bold', color: '#F8FAFC' }}&gt;可查 —— 结论沉淀为日志&lt;/Text&gt;&#10;                        &lt;Text style={{ fontSize: 11.5, color: '#94A3B8', marginTop: 2 }}&gt;漂移结论与训练依据随时回看&lt;/Text&gt;&#10;                    &lt;/Box&gt;&#10;                &lt;/Box&gt;&#10;                &lt;Box style={{ flexDirection: 'row', alignItems: 'center', gap: 10, marginTop: 12 }}&gt;&#10;                    &lt;Box style={{ width: 6, height: 6, background: '#22D3EE', borderRadius: 3 }} /&gt;&#10;                    &lt;Box&gt;&#10;                        &lt;Text style={{ fontSize: 13.5, fontWeight: 'bold', color: '#F8FAFC' }}&gt;可审计 —— 行为可追溯&lt;/Text&gt;&#10;                        &lt;Text style={{ fontSize: 11.5, color: '#94A3B8', marginTop: 2 }}&gt;所有动作约束在 Harness 边界内&lt;/Text&gt;&#10;                    &lt;/Box&gt;&#10;                &lt;/Box&gt;&#10;            &lt;/Box&gt;&#10;            &lt;Box style={{ borderLeft: '4px solid #22D3EE', background: 'rgba(34,211,238,0.07)', borderRadius: '0 10px 10px 0', padding: 16 }}&gt;&#10;                &lt;Text style={{ fontSize: 17, fontWeight: 'bold', color: '#0A1D37' }}&gt;投资人看到&lt;/Text&gt;&#10;                &lt;Text style={{ fontSize: 13, color: '#0F2039', lineHeight: 1.8, marginTop: 6 }}&gt;可复制的产品闭环——同一套 Harness 结构，可迁移到其他时序预测场景。&lt;/Text&gt;&#10;                &lt;Box style={{ flexDirection: 'row', gap: 8, marginTop: 10 }}&gt;&#10;                    &lt;Box style={{ padding: '3px 10px', border: '1px solid #22D3EE', borderRadius: 6 }}&gt;&#10;                        &lt;Text style={{ fontSize: 11.5, color: '#0891B2' }}&gt;光伏出力&lt;/Text&gt;&#10;                    &lt;/Box&gt;&#10;                    &lt;Box style={{ padding: '3px 10px', border: '1px solid #22D3EE', borderRadius: 6 }}&gt;&#10;                        &lt;Text style={{ fontSize: 11.5, color: '#0891B2' }}&gt;气象&lt;/Text&gt;&#10;                    &lt;/Box&gt;&#10;                    &lt;Box style={{ padding: '3px 10px', border: '1px solid #22D3EE', borderRadius: 6 }}&gt;&#10;                        &lt;Text style={{ fontSize: 11.5, color: '#0891B2' }}&gt;水文&lt;/Text&gt;&#10;                    &lt;/Box&gt;&#10;                &lt;/Box&gt;&#10;            &lt;/Box&gt;&#10;            &lt;Box style={{ background: '#F8FAFC', borderRadius: 8, padding: 12 }}&gt;&#10;                &lt;Text style={{ fontSize: 12, color: '#64748B', lineHeight: 1.7 }}&gt;现场以 20–30 秒预录演示呈现，避免训练耗时与网络波动影响路演。&lt;/Text&gt;&#10;            &lt;/Box&gt;&#10;        &lt;/Box&gt;&#10;    &lt;/Box&gt;&#10;&#10;    &lt;Box style={{ flexDirection: 'row', marginTop: 14, alignItems: 'center' }}&gt;&#10;        &lt;Text style={{ fontSize: 12, color: '#94A3B8' }}&gt;负荷预测持续学习引擎 · 产品演示&lt;/Text&gt;&#10;        &lt;Box style={{ marginLeft: 'auto', flexDirection: 'row', alignItems: 'center', gap: 8 }}&gt;&#10;            &lt;Box style={{ width: 10, height: 10, background: '#22D3EE' }} /&gt;&#10;            &lt;Text style={{ fontSize: 13, color: '#64748B' }}&gt;CLE · 05 / 07&lt;/Text&gt;&#10;        &lt;/Box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64" name="" descr="{&quot;isTemplate&quot;:true,&quot;type&quot;:&quot;text&quot;}"/>
          <p:cNvSpPr txBox="1"/>
          <p:nvPr/>
        </p:nvSpPr>
        <p:spPr>
          <a:xfrm rot="0" flipH="0" flipV="0">
            <a:off x="609600" y="209550"/>
            <a:ext cx="9153525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A1D37"/>
                </a:solidFill>
                <a:latin typeface="Microsoft YaHei"/>
                <a:ea typeface="Microsoft YaHei"/>
              </a:rPr>
              <a:t>聊天与</a:t>
            </a:r>
            <a:r>
              <a:rPr lang="en-US" sz="2400" b="1">
                <a:solidFill>
                  <a:srgbClr val="0A1D37"/>
                </a:solidFill>
                <a:latin typeface="Microsoft YaHei"/>
                <a:ea typeface="Microsoft YaHei"/>
              </a:rPr>
              <a:t> Cron</a:t>
            </a:r>
            <a:r>
              <a:rPr lang="zh-CN" sz="2400" b="1">
                <a:solidFill>
                  <a:srgbClr val="0A1D37"/>
                </a:solidFill>
                <a:latin typeface="Microsoft YaHei"/>
                <a:ea typeface="Microsoft YaHei"/>
              </a:rPr>
              <a:t>，让持续学习成为可运营能力</a:t>
            </a:r>
            <a:endParaRPr/>
          </a:p>
        </p:txBody>
      </p:sp>
      <p:sp>
        <p:nvSpPr>
          <p:cNvPr id="265" name="" descr="{&quot;isTemplate&quot;:true,&quot;type&quot;:&quot;text&quot;}"/>
          <p:cNvSpPr txBox="1"/>
          <p:nvPr/>
        </p:nvSpPr>
        <p:spPr>
          <a:xfrm rot="0" flipH="0" flipV="0">
            <a:off x="609600" y="638175"/>
            <a:ext cx="91535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演示产品入口：可用、可查、可审计的产品闭环</a:t>
            </a:r>
            <a:endParaRPr/>
          </a:p>
        </p:txBody>
      </p:sp>
      <p:sp>
        <p:nvSpPr>
          <p:cNvPr id="266" name=""/>
          <p:cNvSpPr/>
          <p:nvPr/>
        </p:nvSpPr>
        <p:spPr>
          <a:xfrm rot="0" flipH="0" flipV="0">
            <a:off x="9763125" y="609600"/>
            <a:ext cx="1819275" cy="219075"/>
          </a:xfrm>
          <a:prstGeom prst="roundRect">
            <a:avLst>
              <a:gd name="adj" fmla="val 4343478"/>
            </a:avLst>
          </a:prstGeom>
          <a:ln w="12700">
            <a:solidFill>
              <a:srgbClr val="22D3EE"/>
            </a:solidFill>
            <a:prstDash val="solid"/>
          </a:ln>
        </p:spPr>
        <p:txBody>
          <a:bodyPr/>
          <a:p/>
        </p:txBody>
      </p:sp>
      <p:sp>
        <p:nvSpPr>
          <p:cNvPr id="267" name="" descr="{&quot;isTemplate&quot;:true,&quot;type&quot;:&quot;text&quot;}"/>
          <p:cNvSpPr txBox="1"/>
          <p:nvPr/>
        </p:nvSpPr>
        <p:spPr>
          <a:xfrm rot="0" flipH="0" flipV="0">
            <a:off x="9877425" y="647700"/>
            <a:ext cx="15906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0891B2"/>
                </a:solidFill>
                <a:latin typeface="Microsoft YaHei"/>
                <a:ea typeface="Microsoft YaHei"/>
              </a:rPr>
              <a:t>三帧演示</a:t>
            </a:r>
            <a:r>
              <a:rPr lang="en-US" sz="900">
                <a:solidFill>
                  <a:srgbClr val="0891B2"/>
                </a:solidFill>
                <a:latin typeface="Microsoft YaHei"/>
                <a:ea typeface="Microsoft YaHei"/>
              </a:rPr>
              <a:t> · </a:t>
            </a:r>
            <a:r>
              <a:rPr lang="zh-CN" sz="900">
                <a:solidFill>
                  <a:srgbClr val="0891B2"/>
                </a:solidFill>
                <a:latin typeface="Microsoft YaHei"/>
                <a:ea typeface="Microsoft YaHei"/>
              </a:rPr>
              <a:t>与现场演示一一对应</a:t>
            </a:r>
            <a:endParaRPr/>
          </a:p>
        </p:txBody>
      </p:sp>
      <p:sp>
        <p:nvSpPr>
          <p:cNvPr id="268" name=""/>
          <p:cNvSpPr/>
          <p:nvPr/>
        </p:nvSpPr>
        <p:spPr>
          <a:xfrm rot="0" flipH="0" flipV="0">
            <a:off x="609600" y="981075"/>
            <a:ext cx="2076450" cy="2019300"/>
          </a:xfrm>
          <a:prstGeom prst="roundRect">
            <a:avLst>
              <a:gd name="adj" fmla="val 4717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269" name=""/>
          <p:cNvSpPr/>
          <p:nvPr/>
        </p:nvSpPr>
        <p:spPr>
          <a:xfrm rot="0" flipH="0" flipV="0">
            <a:off x="609600" y="981075"/>
            <a:ext cx="2076450" cy="314325"/>
          </a:xfrm>
          <a:custGeom>
            <a:pathLst>
              <a:path w="218" h="33">
                <a:moveTo>
                  <a:pt x="208" y="0"/>
                </a:moveTo>
                <a:cubicBezTo>
                  <a:pt x="214" y="0"/>
                  <a:pt x="218" y="5"/>
                  <a:pt x="218" y="10"/>
                </a:cubicBezTo>
                <a:lnTo>
                  <a:pt x="218" y="33"/>
                </a:lnTo>
                <a:lnTo>
                  <a:pt x="0" y="33"/>
                </a:lnTo>
                <a:lnTo>
                  <a:pt x="0" y="10"/>
                </a:lnTo>
                <a:cubicBezTo>
                  <a:pt x="0" y="4"/>
                  <a:pt x="4" y="0"/>
                  <a:pt x="10" y="0"/>
                </a:cubicBezTo>
                <a:lnTo>
                  <a:pt x="208" y="0"/>
                </a:lnTo>
                <a:close/>
              </a:path>
            </a:pathLst>
          </a:custGeom>
          <a:solidFill>
            <a:srgbClr val="0A1D37"/>
          </a:solidFill>
          <a:ln/>
        </p:spPr>
        <p:txBody>
          <a:bodyPr/>
          <a:p/>
        </p:txBody>
      </p:sp>
      <p:sp>
        <p:nvSpPr>
          <p:cNvPr id="270" name="" descr="{&quot;isTemplate&quot;:true,&quot;type&quot;:&quot;text&quot;}"/>
          <p:cNvSpPr txBox="1"/>
          <p:nvPr/>
        </p:nvSpPr>
        <p:spPr>
          <a:xfrm rot="0" flipH="0" flipV="0">
            <a:off x="723900" y="1066800"/>
            <a:ext cx="1238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975" b="1">
                <a:solidFill>
                  <a:srgbClr val="22D3EE"/>
                </a:solidFill>
                <a:latin typeface="Microsoft YaHei"/>
                <a:ea typeface="Microsoft YaHei"/>
              </a:rPr>
              <a:t>①</a:t>
            </a:r>
            <a:endParaRPr/>
          </a:p>
        </p:txBody>
      </p:sp>
      <p:sp>
        <p:nvSpPr>
          <p:cNvPr id="271" name="" descr="{&quot;isTemplate&quot;:true,&quot;type&quot;:&quot;text&quot;}"/>
          <p:cNvSpPr txBox="1"/>
          <p:nvPr/>
        </p:nvSpPr>
        <p:spPr>
          <a:xfrm rot="0" flipH="0" flipV="0">
            <a:off x="923925" y="1057275"/>
            <a:ext cx="533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8FAFC"/>
                </a:solidFill>
                <a:latin typeface="Microsoft YaHei"/>
                <a:ea typeface="Microsoft YaHei"/>
              </a:rPr>
              <a:t>聊天入口</a:t>
            </a:r>
            <a:endParaRPr/>
          </a:p>
        </p:txBody>
      </p:sp>
      <p:sp>
        <p:nvSpPr>
          <p:cNvPr id="272" name=""/>
          <p:cNvSpPr/>
          <p:nvPr/>
        </p:nvSpPr>
        <p:spPr>
          <a:xfrm rot="0" flipH="0" flipV="0">
            <a:off x="1123950" y="1409700"/>
            <a:ext cx="1447800" cy="381000"/>
          </a:xfrm>
          <a:prstGeom prst="roundRect">
            <a:avLst>
              <a:gd name="adj" fmla="val 20000"/>
            </a:avLst>
          </a:prstGeom>
          <a:solidFill>
            <a:srgbClr val="0A1D37"/>
          </a:solidFill>
          <a:ln/>
        </p:spPr>
        <p:txBody>
          <a:bodyPr/>
          <a:p/>
        </p:txBody>
      </p:sp>
      <p:sp>
        <p:nvSpPr>
          <p:cNvPr id="273" name="" descr="{&quot;isTemplate&quot;:true,&quot;type&quot;:&quot;text&quot;}"/>
          <p:cNvSpPr txBox="1"/>
          <p:nvPr/>
        </p:nvSpPr>
        <p:spPr>
          <a:xfrm rot="0" flipH="0" flipV="0">
            <a:off x="1219200" y="1485900"/>
            <a:ext cx="1257300" cy="22860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900">
                <a:solidFill>
                  <a:srgbClr val="F8FAFC"/>
                </a:solidFill>
                <a:latin typeface="Microsoft YaHei"/>
                <a:ea typeface="Microsoft YaHei"/>
              </a:rPr>
              <a:t>分析最新一周的负荷数据</a:t>
            </a:r>
            <a:endParaRPr/>
          </a:p>
        </p:txBody>
      </p:sp>
      <p:sp>
        <p:nvSpPr>
          <p:cNvPr id="274" name=""/>
          <p:cNvSpPr/>
          <p:nvPr/>
        </p:nvSpPr>
        <p:spPr>
          <a:xfrm rot="0" flipH="0" flipV="0">
            <a:off x="723900" y="1885950"/>
            <a:ext cx="1562100" cy="600075"/>
          </a:xfrm>
          <a:prstGeom prst="roundRect">
            <a:avLst>
              <a:gd name="adj" fmla="val 12698"/>
            </a:avLst>
          </a:prstGeom>
          <a:solidFill>
            <a:srgbClr val="F1F5F9"/>
          </a:solidFill>
          <a:ln/>
        </p:spPr>
        <p:txBody>
          <a:bodyPr/>
          <a:p/>
        </p:txBody>
      </p:sp>
      <p:sp>
        <p:nvSpPr>
          <p:cNvPr id="275" name="" descr="{&quot;isTemplate&quot;:true,&quot;type&quot;:&quot;text&quot;}"/>
          <p:cNvSpPr txBox="1"/>
          <p:nvPr/>
        </p:nvSpPr>
        <p:spPr>
          <a:xfrm rot="0" flipH="0" flipV="0">
            <a:off x="819150" y="1962150"/>
            <a:ext cx="1371600" cy="4476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900">
                <a:solidFill>
                  <a:srgbClr val="0F2039"/>
                </a:solidFill>
                <a:latin typeface="Microsoft YaHei"/>
                <a:ea typeface="Microsoft YaHei"/>
              </a:rPr>
              <a:t>检测到夏季负荷水平上移，建议触发训练验证。</a:t>
            </a:r>
            <a:endParaRPr/>
          </a:p>
        </p:txBody>
      </p:sp>
      <p:sp>
        <p:nvSpPr>
          <p:cNvPr id="276" name="" descr="{&quot;isTemplate&quot;:true,&quot;type&quot;:&quot;text&quot;}"/>
          <p:cNvSpPr txBox="1"/>
          <p:nvPr/>
        </p:nvSpPr>
        <p:spPr>
          <a:xfrm rot="0" flipH="0" flipV="0">
            <a:off x="723900" y="2581275"/>
            <a:ext cx="18478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94A3B8"/>
                </a:solidFill>
                <a:latin typeface="Microsoft YaHei"/>
                <a:ea typeface="Microsoft YaHei"/>
              </a:rPr>
              <a:t>自然语言驱动</a:t>
            </a:r>
            <a:r>
              <a:rPr lang="en-US" sz="825">
                <a:solidFill>
                  <a:srgbClr val="94A3B8"/>
                </a:solidFill>
                <a:latin typeface="Microsoft YaHei"/>
                <a:ea typeface="Microsoft YaHei"/>
              </a:rPr>
              <a:t> · </a:t>
            </a:r>
            <a:r>
              <a:rPr lang="zh-CN" sz="825">
                <a:solidFill>
                  <a:srgbClr val="94A3B8"/>
                </a:solidFill>
                <a:latin typeface="Microsoft YaHei"/>
                <a:ea typeface="Microsoft YaHei"/>
              </a:rPr>
              <a:t>无门槛</a:t>
            </a:r>
            <a:endParaRPr/>
          </a:p>
        </p:txBody>
      </p:sp>
      <p:sp>
        <p:nvSpPr>
          <p:cNvPr id="277" name="" descr="{&quot;isTemplate&quot;:true,&quot;type&quot;:&quot;text&quot;}"/>
          <p:cNvSpPr txBox="1"/>
          <p:nvPr/>
        </p:nvSpPr>
        <p:spPr>
          <a:xfrm rot="0" flipH="0" flipV="0">
            <a:off x="723900" y="2752725"/>
            <a:ext cx="18478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94A3B8"/>
                </a:solidFill>
                <a:latin typeface="Microsoft YaHei"/>
                <a:ea typeface="Microsoft YaHei"/>
              </a:rPr>
              <a:t>业务人员直接使用，无需算法背景</a:t>
            </a:r>
            <a:endParaRPr/>
          </a:p>
        </p:txBody>
      </p:sp>
      <p:sp>
        <p:nvSpPr>
          <p:cNvPr id="278" name="" descr="{&quot;isTemplate&quot;:true,&quot;type&quot;:&quot;text&quot;}"/>
          <p:cNvSpPr txBox="1"/>
          <p:nvPr/>
        </p:nvSpPr>
        <p:spPr>
          <a:xfrm rot="0" flipH="0" flipV="0">
            <a:off x="2705100" y="1895475"/>
            <a:ext cx="152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200">
                <a:solidFill>
                  <a:srgbClr val="94A3B8"/>
                </a:solidFill>
                <a:latin typeface="Microsoft YaHei"/>
                <a:ea typeface="Microsoft YaHei"/>
              </a:rPr>
              <a:t>→</a:t>
            </a:r>
            <a:endParaRPr/>
          </a:p>
        </p:txBody>
      </p:sp>
      <p:sp>
        <p:nvSpPr>
          <p:cNvPr id="279" name=""/>
          <p:cNvSpPr/>
          <p:nvPr/>
        </p:nvSpPr>
        <p:spPr>
          <a:xfrm rot="0" flipH="0" flipV="0">
            <a:off x="2876550" y="981075"/>
            <a:ext cx="2324100" cy="2019300"/>
          </a:xfrm>
          <a:prstGeom prst="roundRect">
            <a:avLst>
              <a:gd name="adj" fmla="val 4717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280" name=""/>
          <p:cNvSpPr/>
          <p:nvPr/>
        </p:nvSpPr>
        <p:spPr>
          <a:xfrm rot="0" flipH="0" flipV="0">
            <a:off x="2876550" y="981075"/>
            <a:ext cx="2324100" cy="314325"/>
          </a:xfrm>
          <a:custGeom>
            <a:pathLst>
              <a:path w="244" h="33">
                <a:moveTo>
                  <a:pt x="234" y="0"/>
                </a:moveTo>
                <a:cubicBezTo>
                  <a:pt x="240" y="0"/>
                  <a:pt x="244" y="5"/>
                  <a:pt x="244" y="10"/>
                </a:cubicBezTo>
                <a:lnTo>
                  <a:pt x="244" y="33"/>
                </a:lnTo>
                <a:lnTo>
                  <a:pt x="0" y="33"/>
                </a:lnTo>
                <a:lnTo>
                  <a:pt x="0" y="10"/>
                </a:lnTo>
                <a:cubicBezTo>
                  <a:pt x="0" y="4"/>
                  <a:pt x="4" y="0"/>
                  <a:pt x="10" y="0"/>
                </a:cubicBezTo>
                <a:lnTo>
                  <a:pt x="234" y="0"/>
                </a:lnTo>
                <a:close/>
              </a:path>
            </a:pathLst>
          </a:custGeom>
          <a:solidFill>
            <a:srgbClr val="0A1D37"/>
          </a:solidFill>
          <a:ln/>
        </p:spPr>
        <p:txBody>
          <a:bodyPr/>
          <a:p/>
        </p:txBody>
      </p:sp>
      <p:sp>
        <p:nvSpPr>
          <p:cNvPr id="281" name="" descr="{&quot;isTemplate&quot;:true,&quot;type&quot;:&quot;text&quot;}"/>
          <p:cNvSpPr txBox="1"/>
          <p:nvPr/>
        </p:nvSpPr>
        <p:spPr>
          <a:xfrm rot="0" flipH="0" flipV="0">
            <a:off x="2990850" y="1066800"/>
            <a:ext cx="1238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975" b="1">
                <a:solidFill>
                  <a:srgbClr val="22D3EE"/>
                </a:solidFill>
                <a:latin typeface="Microsoft YaHei"/>
                <a:ea typeface="Microsoft YaHei"/>
              </a:rPr>
              <a:t>②</a:t>
            </a:r>
            <a:endParaRPr/>
          </a:p>
        </p:txBody>
      </p:sp>
      <p:sp>
        <p:nvSpPr>
          <p:cNvPr id="282" name="" descr="{&quot;isTemplate&quot;:true,&quot;type&quot;:&quot;text&quot;}"/>
          <p:cNvSpPr txBox="1"/>
          <p:nvPr/>
        </p:nvSpPr>
        <p:spPr>
          <a:xfrm rot="0" flipH="0" flipV="0">
            <a:off x="3190875" y="1057275"/>
            <a:ext cx="8667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F8FAFC"/>
                </a:solidFill>
                <a:latin typeface="Microsoft YaHei"/>
                <a:ea typeface="Microsoft YaHei"/>
              </a:rPr>
              <a:t>EDM </a:t>
            </a:r>
            <a:r>
              <a:rPr lang="zh-CN" sz="1050" b="1">
                <a:solidFill>
                  <a:srgbClr val="F8FAFC"/>
                </a:solidFill>
                <a:latin typeface="Microsoft YaHei"/>
                <a:ea typeface="Microsoft YaHei"/>
              </a:rPr>
              <a:t>结论沉淀</a:t>
            </a:r>
            <a:endParaRPr/>
          </a:p>
        </p:txBody>
      </p:sp>
      <p:sp>
        <p:nvSpPr>
          <p:cNvPr id="283" name="" descr="{&quot;isTemplate&quot;:true,&quot;type&quot;:&quot;text&quot;}"/>
          <p:cNvSpPr txBox="1"/>
          <p:nvPr/>
        </p:nvSpPr>
        <p:spPr>
          <a:xfrm rot="0" flipH="0" flipV="0">
            <a:off x="2990850" y="1409700"/>
            <a:ext cx="20955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38" b="1">
                <a:solidFill>
                  <a:srgbClr val="0F2039"/>
                </a:solidFill>
                <a:latin typeface="Microsoft YaHei"/>
                <a:ea typeface="Microsoft YaHei"/>
              </a:rPr>
              <a:t>2018-07 · </a:t>
            </a:r>
            <a:r>
              <a:rPr lang="zh-CN" sz="938" b="1">
                <a:solidFill>
                  <a:srgbClr val="0F2039"/>
                </a:solidFill>
                <a:latin typeface="Microsoft YaHei"/>
                <a:ea typeface="Microsoft YaHei"/>
              </a:rPr>
              <a:t>水平漂移</a:t>
            </a:r>
            <a:endParaRPr/>
          </a:p>
        </p:txBody>
      </p:sp>
      <p:sp>
        <p:nvSpPr>
          <p:cNvPr id="284" name="" descr="{&quot;isTemplate&quot;:true,&quot;type&quot;:&quot;text&quot;}"/>
          <p:cNvSpPr txBox="1"/>
          <p:nvPr/>
        </p:nvSpPr>
        <p:spPr>
          <a:xfrm rot="0" flipH="0" flipV="0">
            <a:off x="2990850" y="1571625"/>
            <a:ext cx="20955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>
                <a:solidFill>
                  <a:srgbClr val="64748B"/>
                </a:solidFill>
                <a:latin typeface="Microsoft YaHei"/>
                <a:ea typeface="Microsoft YaHei"/>
              </a:rPr>
              <a:t>置信度高</a:t>
            </a:r>
            <a:r>
              <a:rPr lang="en-US" sz="863">
                <a:solidFill>
                  <a:srgbClr val="64748B"/>
                </a:solidFill>
                <a:latin typeface="Microsoft YaHei"/>
                <a:ea typeface="Microsoft YaHei"/>
              </a:rPr>
              <a:t> · </a:t>
            </a:r>
            <a:r>
              <a:rPr lang="zh-CN" sz="863">
                <a:solidFill>
                  <a:srgbClr val="64748B"/>
                </a:solidFill>
                <a:latin typeface="Microsoft YaHei"/>
                <a:ea typeface="Microsoft YaHei"/>
              </a:rPr>
              <a:t>建议重训</a:t>
            </a:r>
            <a:endParaRPr/>
          </a:p>
        </p:txBody>
      </p:sp>
      <p:sp>
        <p:nvSpPr>
          <p:cNvPr id="285" name=""/>
          <p:cNvSpPr/>
          <p:nvPr/>
        </p:nvSpPr>
        <p:spPr>
          <a:xfrm rot="0" flipH="0" flipV="0">
            <a:off x="2990850" y="1800225"/>
            <a:ext cx="2095500" cy="952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p/>
        </p:txBody>
      </p:sp>
      <p:sp>
        <p:nvSpPr>
          <p:cNvPr id="286" name="" descr="{&quot;isTemplate&quot;:true,&quot;type&quot;:&quot;text&quot;}"/>
          <p:cNvSpPr txBox="1"/>
          <p:nvPr/>
        </p:nvSpPr>
        <p:spPr>
          <a:xfrm rot="0" flipH="0" flipV="0">
            <a:off x="2990850" y="1905000"/>
            <a:ext cx="20955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0F2039"/>
                </a:solidFill>
                <a:latin typeface="Microsoft YaHei"/>
                <a:ea typeface="Microsoft YaHei"/>
              </a:rPr>
              <a:t>结论落盘</a:t>
            </a:r>
            <a:endParaRPr/>
          </a:p>
        </p:txBody>
      </p:sp>
      <p:sp>
        <p:nvSpPr>
          <p:cNvPr id="287" name="" descr="{&quot;isTemplate&quot;:true,&quot;type&quot;:&quot;text&quot;}"/>
          <p:cNvSpPr txBox="1"/>
          <p:nvPr/>
        </p:nvSpPr>
        <p:spPr>
          <a:xfrm rot="0" flipH="0" flipV="0">
            <a:off x="2990850" y="2066925"/>
            <a:ext cx="20955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>
                <a:solidFill>
                  <a:srgbClr val="64748B"/>
                </a:solidFill>
                <a:latin typeface="Microsoft YaHei"/>
                <a:ea typeface="Microsoft YaHei"/>
              </a:rPr>
              <a:t>日志</a:t>
            </a:r>
            <a:r>
              <a:rPr lang="en-US" sz="863">
                <a:solidFill>
                  <a:srgbClr val="64748B"/>
                </a:solidFill>
                <a:latin typeface="Microsoft YaHei"/>
                <a:ea typeface="Microsoft YaHei"/>
              </a:rPr>
              <a:t> + </a:t>
            </a:r>
            <a:r>
              <a:rPr lang="zh-CN" sz="863">
                <a:solidFill>
                  <a:srgbClr val="64748B"/>
                </a:solidFill>
                <a:latin typeface="Microsoft YaHei"/>
                <a:ea typeface="Microsoft YaHei"/>
              </a:rPr>
              <a:t>上下文，训练前读取</a:t>
            </a:r>
            <a:endParaRPr/>
          </a:p>
        </p:txBody>
      </p:sp>
      <p:sp>
        <p:nvSpPr>
          <p:cNvPr id="288" name="" descr="{&quot;isTemplate&quot;:true,&quot;type&quot;:&quot;text&quot;}"/>
          <p:cNvSpPr txBox="1"/>
          <p:nvPr/>
        </p:nvSpPr>
        <p:spPr>
          <a:xfrm rot="0" flipH="0" flipV="0">
            <a:off x="2990850" y="2752725"/>
            <a:ext cx="20955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94A3B8"/>
                </a:solidFill>
                <a:latin typeface="Microsoft YaHei"/>
                <a:ea typeface="Microsoft YaHei"/>
              </a:rPr>
              <a:t>每次分析都可追溯</a:t>
            </a:r>
            <a:r>
              <a:rPr lang="en-US" sz="825">
                <a:solidFill>
                  <a:srgbClr val="94A3B8"/>
                </a:solidFill>
                <a:latin typeface="Microsoft YaHei"/>
                <a:ea typeface="Microsoft YaHei"/>
              </a:rPr>
              <a:t> · </a:t>
            </a:r>
            <a:r>
              <a:rPr lang="zh-CN" sz="825">
                <a:solidFill>
                  <a:srgbClr val="94A3B8"/>
                </a:solidFill>
                <a:latin typeface="Microsoft YaHei"/>
                <a:ea typeface="Microsoft YaHei"/>
              </a:rPr>
              <a:t>不依赖个人经验</a:t>
            </a:r>
            <a:endParaRPr/>
          </a:p>
        </p:txBody>
      </p:sp>
      <p:sp>
        <p:nvSpPr>
          <p:cNvPr id="289" name="" descr="{&quot;isTemplate&quot;:true,&quot;type&quot;:&quot;text&quot;}"/>
          <p:cNvSpPr txBox="1"/>
          <p:nvPr/>
        </p:nvSpPr>
        <p:spPr>
          <a:xfrm rot="0" flipH="0" flipV="0">
            <a:off x="5219700" y="1895475"/>
            <a:ext cx="152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200">
                <a:solidFill>
                  <a:srgbClr val="94A3B8"/>
                </a:solidFill>
                <a:latin typeface="Microsoft YaHei"/>
                <a:ea typeface="Microsoft YaHei"/>
              </a:rPr>
              <a:t>→</a:t>
            </a:r>
            <a:endParaRPr/>
          </a:p>
        </p:txBody>
      </p:sp>
      <p:sp>
        <p:nvSpPr>
          <p:cNvPr id="290" name=""/>
          <p:cNvSpPr/>
          <p:nvPr/>
        </p:nvSpPr>
        <p:spPr>
          <a:xfrm rot="0" flipH="0" flipV="0">
            <a:off x="5391150" y="981075"/>
            <a:ext cx="2457450" cy="2019300"/>
          </a:xfrm>
          <a:prstGeom prst="roundRect">
            <a:avLst>
              <a:gd name="adj" fmla="val 4717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291" name=""/>
          <p:cNvSpPr/>
          <p:nvPr/>
        </p:nvSpPr>
        <p:spPr>
          <a:xfrm rot="0" flipH="0" flipV="0">
            <a:off x="5391150" y="981075"/>
            <a:ext cx="2457450" cy="314325"/>
          </a:xfrm>
          <a:custGeom>
            <a:pathLst>
              <a:path w="258" h="33">
                <a:moveTo>
                  <a:pt x="248" y="0"/>
                </a:moveTo>
                <a:cubicBezTo>
                  <a:pt x="254" y="0"/>
                  <a:pt x="258" y="5"/>
                  <a:pt x="258" y="10"/>
                </a:cubicBezTo>
                <a:lnTo>
                  <a:pt x="258" y="33"/>
                </a:lnTo>
                <a:lnTo>
                  <a:pt x="0" y="33"/>
                </a:lnTo>
                <a:lnTo>
                  <a:pt x="0" y="10"/>
                </a:lnTo>
                <a:cubicBezTo>
                  <a:pt x="0" y="4"/>
                  <a:pt x="4" y="0"/>
                  <a:pt x="10" y="0"/>
                </a:cubicBezTo>
                <a:lnTo>
                  <a:pt x="248" y="0"/>
                </a:lnTo>
                <a:close/>
              </a:path>
            </a:pathLst>
          </a:custGeom>
          <a:solidFill>
            <a:srgbClr val="0A1D37"/>
          </a:solidFill>
          <a:ln/>
        </p:spPr>
        <p:txBody>
          <a:bodyPr/>
          <a:p/>
        </p:txBody>
      </p:sp>
      <p:sp>
        <p:nvSpPr>
          <p:cNvPr id="292" name="" descr="{&quot;isTemplate&quot;:true,&quot;type&quot;:&quot;text&quot;}"/>
          <p:cNvSpPr txBox="1"/>
          <p:nvPr/>
        </p:nvSpPr>
        <p:spPr>
          <a:xfrm rot="0" flipH="0" flipV="0">
            <a:off x="5505450" y="1066800"/>
            <a:ext cx="1238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975" b="1">
                <a:solidFill>
                  <a:srgbClr val="22D3EE"/>
                </a:solidFill>
                <a:latin typeface="Microsoft YaHei"/>
                <a:ea typeface="Microsoft YaHei"/>
              </a:rPr>
              <a:t>③</a:t>
            </a:r>
            <a:endParaRPr/>
          </a:p>
        </p:txBody>
      </p:sp>
      <p:sp>
        <p:nvSpPr>
          <p:cNvPr id="293" name="" descr="{&quot;isTemplate&quot;:true,&quot;type&quot;:&quot;text&quot;}"/>
          <p:cNvSpPr txBox="1"/>
          <p:nvPr/>
        </p:nvSpPr>
        <p:spPr>
          <a:xfrm rot="0" flipH="0" flipV="0">
            <a:off x="5705475" y="1057275"/>
            <a:ext cx="8858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F8FAFC"/>
                </a:solidFill>
                <a:latin typeface="Microsoft YaHei"/>
                <a:ea typeface="Microsoft YaHei"/>
              </a:rPr>
              <a:t>Cron </a:t>
            </a:r>
            <a:r>
              <a:rPr lang="zh-CN" sz="1050" b="1">
                <a:solidFill>
                  <a:srgbClr val="F8FAFC"/>
                </a:solidFill>
                <a:latin typeface="Microsoft YaHei"/>
                <a:ea typeface="Microsoft YaHei"/>
              </a:rPr>
              <a:t>定时任务</a:t>
            </a:r>
            <a:endParaRPr/>
          </a:p>
        </p:txBody>
      </p:sp>
      <p:sp>
        <p:nvSpPr>
          <p:cNvPr id="294" name="" descr="{&quot;isTemplate&quot;:true,&quot;type&quot;:&quot;text&quot;}"/>
          <p:cNvSpPr txBox="1"/>
          <p:nvPr/>
        </p:nvSpPr>
        <p:spPr>
          <a:xfrm rot="0" flipH="0" flipV="0">
            <a:off x="5505450" y="1409700"/>
            <a:ext cx="22288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38">
                <a:solidFill>
                  <a:srgbClr val="0F2039"/>
                </a:solidFill>
                <a:latin typeface="Microsoft YaHei"/>
                <a:ea typeface="Microsoft YaHei"/>
              </a:rPr>
              <a:t>00:00 · </a:t>
            </a:r>
            <a:r>
              <a:rPr lang="zh-CN" sz="938">
                <a:solidFill>
                  <a:srgbClr val="0F2039"/>
                </a:solidFill>
                <a:latin typeface="Microsoft YaHei"/>
                <a:ea typeface="Microsoft YaHei"/>
              </a:rPr>
              <a:t>训练</a:t>
            </a:r>
            <a:r>
              <a:rPr lang="en-US" sz="938">
                <a:solidFill>
                  <a:srgbClr val="0F2039"/>
                </a:solidFill>
                <a:latin typeface="Microsoft YaHei"/>
                <a:ea typeface="Microsoft YaHei"/>
              </a:rPr>
              <a:t> Skill</a:t>
            </a:r>
            <a:endParaRPr/>
          </a:p>
        </p:txBody>
      </p:sp>
      <p:sp>
        <p:nvSpPr>
          <p:cNvPr id="295" name="" descr="{&quot;isTemplate&quot;:true,&quot;type&quot;:&quot;text&quot;}"/>
          <p:cNvSpPr txBox="1"/>
          <p:nvPr/>
        </p:nvSpPr>
        <p:spPr>
          <a:xfrm rot="0" flipH="0" flipV="0">
            <a:off x="5505450" y="1628775"/>
            <a:ext cx="22288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38">
                <a:solidFill>
                  <a:srgbClr val="0F2039"/>
                </a:solidFill>
                <a:latin typeface="Microsoft YaHei"/>
                <a:ea typeface="Microsoft YaHei"/>
              </a:rPr>
              <a:t>00:40 · </a:t>
            </a:r>
            <a:r>
              <a:rPr lang="zh-CN" sz="938">
                <a:solidFill>
                  <a:srgbClr val="0F2039"/>
                </a:solidFill>
                <a:latin typeface="Microsoft YaHei"/>
                <a:ea typeface="Microsoft YaHei"/>
              </a:rPr>
              <a:t>时序验证</a:t>
            </a:r>
            <a:endParaRPr/>
          </a:p>
        </p:txBody>
      </p:sp>
      <p:sp>
        <p:nvSpPr>
          <p:cNvPr id="296" name=""/>
          <p:cNvSpPr/>
          <p:nvPr/>
        </p:nvSpPr>
        <p:spPr>
          <a:xfrm rot="0" flipH="0" flipV="0">
            <a:off x="5505450" y="2438400"/>
            <a:ext cx="2228850" cy="447675"/>
          </a:xfrm>
          <a:prstGeom prst="roundRect">
            <a:avLst>
              <a:gd name="adj" fmla="val 12766"/>
            </a:avLst>
          </a:prstGeom>
          <a:solidFill>
            <a:srgbClr val="22D3EE">
              <a:alpha val="12000"/>
            </a:srgbClr>
          </a:solidFill>
          <a:ln w="12700">
            <a:solidFill>
              <a:srgbClr val="22D3EE"/>
            </a:solidFill>
            <a:prstDash val="solid"/>
          </a:ln>
        </p:spPr>
        <p:txBody>
          <a:bodyPr/>
          <a:p/>
        </p:txBody>
      </p:sp>
      <p:sp>
        <p:nvSpPr>
          <p:cNvPr id="297" name="" descr="{&quot;isTemplate&quot;:true,&quot;type&quot;:&quot;text&quot;}"/>
          <p:cNvSpPr txBox="1"/>
          <p:nvPr/>
        </p:nvSpPr>
        <p:spPr>
          <a:xfrm rot="0" flipH="0" flipV="0">
            <a:off x="5581650" y="2514600"/>
            <a:ext cx="20764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38" b="1">
                <a:solidFill>
                  <a:srgbClr val="0A1D37"/>
                </a:solidFill>
                <a:latin typeface="Microsoft YaHei"/>
                <a:ea typeface="Microsoft YaHei"/>
              </a:rPr>
              <a:t>01:00 · </a:t>
            </a:r>
            <a:r>
              <a:rPr lang="zh-CN" sz="938" b="1">
                <a:solidFill>
                  <a:srgbClr val="0A1D37"/>
                </a:solidFill>
                <a:latin typeface="Microsoft YaHei"/>
                <a:ea typeface="Microsoft YaHei"/>
              </a:rPr>
              <a:t>部署</a:t>
            </a:r>
            <a:r>
              <a:rPr lang="en-US" sz="938" b="1">
                <a:solidFill>
                  <a:srgbClr val="0A1D37"/>
                </a:solidFill>
                <a:latin typeface="Microsoft YaHei"/>
                <a:ea typeface="Microsoft YaHei"/>
              </a:rPr>
              <a:t> v_35 → active</a:t>
            </a:r>
            <a:endParaRPr/>
          </a:p>
        </p:txBody>
      </p:sp>
      <p:sp>
        <p:nvSpPr>
          <p:cNvPr id="298" name="" descr="{&quot;isTemplate&quot;:true,&quot;type&quot;:&quot;text&quot;}"/>
          <p:cNvSpPr txBox="1"/>
          <p:nvPr/>
        </p:nvSpPr>
        <p:spPr>
          <a:xfrm rot="0" flipH="0" flipV="0">
            <a:off x="5581650" y="2676525"/>
            <a:ext cx="20764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 b="1">
                <a:solidFill>
                  <a:srgbClr val="0891B2"/>
                </a:solidFill>
                <a:latin typeface="Microsoft YaHei"/>
                <a:ea typeface="Microsoft YaHei"/>
              </a:rPr>
              <a:t>新版本成为</a:t>
            </a:r>
            <a:r>
              <a:rPr lang="en-US" sz="825" b="1">
                <a:solidFill>
                  <a:srgbClr val="0891B2"/>
                </a:solidFill>
                <a:latin typeface="Microsoft YaHei"/>
                <a:ea typeface="Microsoft YaHei"/>
              </a:rPr>
              <a:t> active ✓</a:t>
            </a:r>
            <a:endParaRPr/>
          </a:p>
        </p:txBody>
      </p:sp>
      <p:sp>
        <p:nvSpPr>
          <p:cNvPr id="299" name=""/>
          <p:cNvSpPr/>
          <p:nvPr/>
        </p:nvSpPr>
        <p:spPr>
          <a:xfrm rot="0" flipH="0" flipV="0">
            <a:off x="1543050" y="3152775"/>
            <a:ext cx="1066800" cy="219075"/>
          </a:xfrm>
          <a:prstGeom prst="roundRect">
            <a:avLst>
              <a:gd name="adj" fmla="val 26087"/>
            </a:avLst>
          </a:prstGeom>
          <a:solidFill>
            <a:srgbClr val="F1F5F9"/>
          </a:solidFill>
          <a:ln/>
        </p:spPr>
        <p:txBody>
          <a:bodyPr/>
          <a:p/>
        </p:txBody>
      </p:sp>
      <p:sp>
        <p:nvSpPr>
          <p:cNvPr id="300" name="" descr="{&quot;isTemplate&quot;:true,&quot;type&quot;:&quot;text&quot;}"/>
          <p:cNvSpPr txBox="1"/>
          <p:nvPr/>
        </p:nvSpPr>
        <p:spPr>
          <a:xfrm rot="0" flipH="0" flipV="0">
            <a:off x="1657350" y="3190875"/>
            <a:ext cx="838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0F2039"/>
                </a:solidFill>
                <a:latin typeface="Microsoft YaHei"/>
                <a:ea typeface="Microsoft YaHei"/>
              </a:rPr>
              <a:t>① </a:t>
            </a:r>
            <a:r>
              <a:rPr lang="zh-CN" sz="900">
                <a:solidFill>
                  <a:srgbClr val="0F2039"/>
                </a:solidFill>
                <a:latin typeface="Microsoft YaHei"/>
                <a:ea typeface="Microsoft YaHei"/>
              </a:rPr>
              <a:t>自然语言提问</a:t>
            </a:r>
            <a:endParaRPr/>
          </a:p>
        </p:txBody>
      </p:sp>
      <p:sp>
        <p:nvSpPr>
          <p:cNvPr id="301" name="" descr="{&quot;isTemplate&quot;:true,&quot;type&quot;:&quot;text&quot;}"/>
          <p:cNvSpPr txBox="1"/>
          <p:nvPr/>
        </p:nvSpPr>
        <p:spPr>
          <a:xfrm rot="0" flipH="0" flipV="0">
            <a:off x="2686050" y="3181350"/>
            <a:ext cx="133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050">
                <a:solidFill>
                  <a:srgbClr val="94A3B8"/>
                </a:solidFill>
                <a:latin typeface="Microsoft YaHei"/>
                <a:ea typeface="Microsoft YaHei"/>
              </a:rPr>
              <a:t>→</a:t>
            </a:r>
            <a:endParaRPr/>
          </a:p>
        </p:txBody>
      </p:sp>
      <p:sp>
        <p:nvSpPr>
          <p:cNvPr id="302" name=""/>
          <p:cNvSpPr/>
          <p:nvPr/>
        </p:nvSpPr>
        <p:spPr>
          <a:xfrm rot="0" flipH="0" flipV="0">
            <a:off x="2895600" y="3152775"/>
            <a:ext cx="1181100" cy="219075"/>
          </a:xfrm>
          <a:prstGeom prst="roundRect">
            <a:avLst>
              <a:gd name="adj" fmla="val 26087"/>
            </a:avLst>
          </a:prstGeom>
          <a:solidFill>
            <a:srgbClr val="F1F5F9"/>
          </a:solidFill>
          <a:ln/>
        </p:spPr>
        <p:txBody>
          <a:bodyPr/>
          <a:p/>
        </p:txBody>
      </p:sp>
      <p:sp>
        <p:nvSpPr>
          <p:cNvPr id="303" name="" descr="{&quot;isTemplate&quot;:true,&quot;type&quot;:&quot;text&quot;}"/>
          <p:cNvSpPr txBox="1"/>
          <p:nvPr/>
        </p:nvSpPr>
        <p:spPr>
          <a:xfrm rot="0" flipH="0" flipV="0">
            <a:off x="3009900" y="3190875"/>
            <a:ext cx="9525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0F2039"/>
                </a:solidFill>
                <a:latin typeface="Microsoft YaHei"/>
                <a:ea typeface="Microsoft YaHei"/>
              </a:rPr>
              <a:t>② </a:t>
            </a:r>
            <a:r>
              <a:rPr lang="zh-CN" sz="900">
                <a:solidFill>
                  <a:srgbClr val="0F2039"/>
                </a:solidFill>
                <a:latin typeface="Microsoft YaHei"/>
                <a:ea typeface="Microsoft YaHei"/>
              </a:rPr>
              <a:t>结论沉淀为日志</a:t>
            </a:r>
            <a:endParaRPr/>
          </a:p>
        </p:txBody>
      </p:sp>
      <p:sp>
        <p:nvSpPr>
          <p:cNvPr id="304" name="" descr="{&quot;isTemplate&quot;:true,&quot;type&quot;:&quot;text&quot;}"/>
          <p:cNvSpPr txBox="1"/>
          <p:nvPr/>
        </p:nvSpPr>
        <p:spPr>
          <a:xfrm rot="0" flipH="0" flipV="0">
            <a:off x="4152900" y="3181350"/>
            <a:ext cx="133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050">
                <a:solidFill>
                  <a:srgbClr val="94A3B8"/>
                </a:solidFill>
                <a:latin typeface="Microsoft YaHei"/>
                <a:ea typeface="Microsoft YaHei"/>
              </a:rPr>
              <a:t>→</a:t>
            </a:r>
            <a:endParaRPr/>
          </a:p>
        </p:txBody>
      </p:sp>
      <p:sp>
        <p:nvSpPr>
          <p:cNvPr id="305" name=""/>
          <p:cNvSpPr/>
          <p:nvPr/>
        </p:nvSpPr>
        <p:spPr>
          <a:xfrm rot="0" flipH="0" flipV="0">
            <a:off x="4362450" y="3152775"/>
            <a:ext cx="1200150" cy="219075"/>
          </a:xfrm>
          <a:prstGeom prst="roundRect">
            <a:avLst>
              <a:gd name="adj" fmla="val 26087"/>
            </a:avLst>
          </a:prstGeom>
          <a:solidFill>
            <a:srgbClr val="F1F5F9"/>
          </a:solidFill>
          <a:ln/>
        </p:spPr>
        <p:txBody>
          <a:bodyPr/>
          <a:p/>
        </p:txBody>
      </p:sp>
      <p:sp>
        <p:nvSpPr>
          <p:cNvPr id="306" name="" descr="{&quot;isTemplate&quot;:true,&quot;type&quot;:&quot;text&quot;}"/>
          <p:cNvSpPr txBox="1"/>
          <p:nvPr/>
        </p:nvSpPr>
        <p:spPr>
          <a:xfrm rot="0" flipH="0" flipV="0">
            <a:off x="4476750" y="3190875"/>
            <a:ext cx="9715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0F2039"/>
                </a:solidFill>
                <a:latin typeface="Microsoft YaHei"/>
                <a:ea typeface="Microsoft YaHei"/>
              </a:rPr>
              <a:t>③ </a:t>
            </a:r>
            <a:r>
              <a:rPr lang="zh-CN" sz="900">
                <a:solidFill>
                  <a:srgbClr val="0F2039"/>
                </a:solidFill>
                <a:latin typeface="Microsoft YaHei"/>
                <a:ea typeface="Microsoft YaHei"/>
              </a:rPr>
              <a:t>定时训练</a:t>
            </a:r>
            <a:r>
              <a:rPr lang="en-US" sz="900">
                <a:solidFill>
                  <a:srgbClr val="0F2039"/>
                </a:solidFill>
                <a:latin typeface="Microsoft YaHei"/>
                <a:ea typeface="Microsoft YaHei"/>
              </a:rPr>
              <a:t> + </a:t>
            </a:r>
            <a:r>
              <a:rPr lang="zh-CN" sz="900">
                <a:solidFill>
                  <a:srgbClr val="0F2039"/>
                </a:solidFill>
                <a:latin typeface="Microsoft YaHei"/>
                <a:ea typeface="Microsoft YaHei"/>
              </a:rPr>
              <a:t>验证</a:t>
            </a:r>
            <a:endParaRPr/>
          </a:p>
        </p:txBody>
      </p:sp>
      <p:sp>
        <p:nvSpPr>
          <p:cNvPr id="307" name="" descr="{&quot;isTemplate&quot;:true,&quot;type&quot;:&quot;text&quot;}"/>
          <p:cNvSpPr txBox="1"/>
          <p:nvPr/>
        </p:nvSpPr>
        <p:spPr>
          <a:xfrm rot="0" flipH="0" flipV="0">
            <a:off x="5638800" y="3181350"/>
            <a:ext cx="133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050">
                <a:solidFill>
                  <a:srgbClr val="94A3B8"/>
                </a:solidFill>
                <a:latin typeface="Microsoft YaHei"/>
                <a:ea typeface="Microsoft YaHei"/>
              </a:rPr>
              <a:t>→</a:t>
            </a:r>
            <a:endParaRPr/>
          </a:p>
        </p:txBody>
      </p:sp>
      <p:sp>
        <p:nvSpPr>
          <p:cNvPr id="308" name=""/>
          <p:cNvSpPr/>
          <p:nvPr/>
        </p:nvSpPr>
        <p:spPr>
          <a:xfrm rot="0" flipH="0" flipV="0">
            <a:off x="5848350" y="3152775"/>
            <a:ext cx="1162050" cy="219075"/>
          </a:xfrm>
          <a:prstGeom prst="roundRect">
            <a:avLst>
              <a:gd name="adj" fmla="val 26087"/>
            </a:avLst>
          </a:prstGeom>
          <a:solidFill>
            <a:srgbClr val="22D3EE">
              <a:alpha val="12000"/>
            </a:srgbClr>
          </a:solidFill>
          <a:ln w="12700">
            <a:solidFill>
              <a:srgbClr val="22D3EE"/>
            </a:solidFill>
            <a:prstDash val="solid"/>
          </a:ln>
        </p:spPr>
        <p:txBody>
          <a:bodyPr/>
          <a:p/>
        </p:txBody>
      </p:sp>
      <p:sp>
        <p:nvSpPr>
          <p:cNvPr id="309" name="" descr="{&quot;isTemplate&quot;:true,&quot;type&quot;:&quot;text&quot;}"/>
          <p:cNvSpPr txBox="1"/>
          <p:nvPr/>
        </p:nvSpPr>
        <p:spPr>
          <a:xfrm rot="0" flipH="0" flipV="0">
            <a:off x="5962650" y="3190875"/>
            <a:ext cx="9334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0891B2"/>
                </a:solidFill>
                <a:latin typeface="Microsoft YaHei"/>
                <a:ea typeface="Microsoft YaHei"/>
              </a:rPr>
              <a:t>新模型成为</a:t>
            </a:r>
            <a:r>
              <a:rPr lang="en-US" sz="900" b="1">
                <a:solidFill>
                  <a:srgbClr val="0891B2"/>
                </a:solidFill>
                <a:latin typeface="Microsoft YaHei"/>
                <a:ea typeface="Microsoft YaHei"/>
              </a:rPr>
              <a:t> active</a:t>
            </a:r>
            <a:endParaRPr/>
          </a:p>
        </p:txBody>
      </p:sp>
      <p:sp>
        <p:nvSpPr>
          <p:cNvPr id="310" name="" descr="{&quot;isTemplate&quot;:true,&quot;type&quot;:&quot;text&quot;}"/>
          <p:cNvSpPr txBox="1"/>
          <p:nvPr/>
        </p:nvSpPr>
        <p:spPr>
          <a:xfrm rot="0" flipH="0" flipV="0">
            <a:off x="609600" y="3448050"/>
            <a:ext cx="7334250" cy="14287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00">
                <a:solidFill>
                  <a:srgbClr val="94A3B8"/>
                </a:solidFill>
                <a:latin typeface="Microsoft YaHei"/>
                <a:ea typeface="Microsoft YaHei"/>
              </a:rPr>
              <a:t>同一套闭环</a:t>
            </a:r>
            <a:r>
              <a:rPr lang="en-US" sz="900">
                <a:solidFill>
                  <a:srgbClr val="94A3B8"/>
                </a:solidFill>
                <a:latin typeface="Microsoft YaHei"/>
                <a:ea typeface="Microsoft YaHei"/>
              </a:rPr>
              <a:t> · </a:t>
            </a:r>
            <a:r>
              <a:rPr lang="zh-CN" sz="900">
                <a:solidFill>
                  <a:srgbClr val="94A3B8"/>
                </a:solidFill>
                <a:latin typeface="Microsoft YaHei"/>
                <a:ea typeface="Microsoft YaHei"/>
              </a:rPr>
              <a:t>训练前</a:t>
            </a:r>
            <a:r>
              <a:rPr lang="en-US" sz="900">
                <a:solidFill>
                  <a:srgbClr val="94A3B8"/>
                </a:solidFill>
                <a:latin typeface="Microsoft YaHei"/>
                <a:ea typeface="Microsoft YaHei"/>
              </a:rPr>
              <a:t> Agent </a:t>
            </a:r>
            <a:r>
              <a:rPr lang="zh-CN" sz="900">
                <a:solidFill>
                  <a:srgbClr val="94A3B8"/>
                </a:solidFill>
                <a:latin typeface="Microsoft YaHei"/>
                <a:ea typeface="Microsoft YaHei"/>
              </a:rPr>
              <a:t>自动读取既有</a:t>
            </a:r>
            <a:r>
              <a:rPr lang="en-US" sz="900">
                <a:solidFill>
                  <a:srgbClr val="94A3B8"/>
                </a:solidFill>
                <a:latin typeface="Microsoft YaHei"/>
                <a:ea typeface="Microsoft YaHei"/>
              </a:rPr>
              <a:t> EDM </a:t>
            </a:r>
            <a:r>
              <a:rPr lang="zh-CN" sz="900">
                <a:solidFill>
                  <a:srgbClr val="94A3B8"/>
                </a:solidFill>
                <a:latin typeface="Microsoft YaHei"/>
                <a:ea typeface="Microsoft YaHei"/>
              </a:rPr>
              <a:t>日志</a:t>
            </a:r>
            <a:r>
              <a:rPr lang="en-US" sz="900">
                <a:solidFill>
                  <a:srgbClr val="94A3B8"/>
                </a:solidFill>
                <a:latin typeface="Microsoft YaHei"/>
                <a:ea typeface="Microsoft YaHei"/>
              </a:rPr>
              <a:t> · </a:t>
            </a:r>
            <a:r>
              <a:rPr lang="zh-CN" sz="900">
                <a:solidFill>
                  <a:srgbClr val="94A3B8"/>
                </a:solidFill>
                <a:latin typeface="Microsoft YaHei"/>
                <a:ea typeface="Microsoft YaHei"/>
              </a:rPr>
              <a:t>全程无人工干预</a:t>
            </a:r>
            <a:endParaRPr/>
          </a:p>
        </p:txBody>
      </p:sp>
      <p:sp>
        <p:nvSpPr>
          <p:cNvPr id="311" name=""/>
          <p:cNvSpPr/>
          <p:nvPr/>
        </p:nvSpPr>
        <p:spPr>
          <a:xfrm rot="0" flipH="0" flipV="0">
            <a:off x="8191500" y="981075"/>
            <a:ext cx="3390900" cy="3124200"/>
          </a:xfrm>
          <a:prstGeom prst="roundRect">
            <a:avLst>
              <a:gd name="adj" fmla="val 3659"/>
            </a:avLst>
          </a:prstGeom>
          <a:solidFill>
            <a:srgbClr val="0A1D37"/>
          </a:solidFill>
          <a:ln/>
        </p:spPr>
        <p:txBody>
          <a:bodyPr/>
          <a:p/>
        </p:txBody>
      </p:sp>
      <p:sp>
        <p:nvSpPr>
          <p:cNvPr id="312" name="" descr="{&quot;isTemplate&quot;:true,&quot;type&quot;:&quot;text&quot;}"/>
          <p:cNvSpPr txBox="1"/>
          <p:nvPr/>
        </p:nvSpPr>
        <p:spPr>
          <a:xfrm rot="0" flipH="0" flipV="0">
            <a:off x="8382000" y="1171575"/>
            <a:ext cx="30099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8FAFC"/>
                </a:solidFill>
                <a:latin typeface="Microsoft YaHei"/>
                <a:ea typeface="Microsoft YaHei"/>
              </a:rPr>
              <a:t>产业客户看到</a:t>
            </a:r>
            <a:endParaRPr/>
          </a:p>
        </p:txBody>
      </p:sp>
      <p:sp>
        <p:nvSpPr>
          <p:cNvPr id="313" name=""/>
          <p:cNvSpPr/>
          <p:nvPr/>
        </p:nvSpPr>
        <p:spPr>
          <a:xfrm rot="0" flipH="0" flipV="0">
            <a:off x="8382000" y="1638300"/>
            <a:ext cx="57150" cy="5715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</p:spPr>
        <p:txBody>
          <a:bodyPr/>
          <a:p/>
        </p:txBody>
      </p:sp>
      <p:sp>
        <p:nvSpPr>
          <p:cNvPr id="314" name="" descr="{&quot;isTemplate&quot;:true,&quot;type&quot;:&quot;text&quot;}"/>
          <p:cNvSpPr txBox="1"/>
          <p:nvPr/>
        </p:nvSpPr>
        <p:spPr>
          <a:xfrm rot="0" flipH="0" flipV="0">
            <a:off x="8534400" y="1504950"/>
            <a:ext cx="1619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13" b="1">
                <a:solidFill>
                  <a:srgbClr val="F8FAFC"/>
                </a:solidFill>
                <a:latin typeface="Microsoft YaHei"/>
                <a:ea typeface="Microsoft YaHei"/>
              </a:rPr>
              <a:t>可用</a:t>
            </a:r>
            <a:r>
              <a:rPr lang="en-US" sz="1013" b="1">
                <a:solidFill>
                  <a:srgbClr val="F8FAFC"/>
                </a:solidFill>
                <a:latin typeface="Microsoft YaHei"/>
                <a:ea typeface="Microsoft YaHei"/>
              </a:rPr>
              <a:t> —— </a:t>
            </a:r>
            <a:r>
              <a:rPr lang="zh-CN" sz="1013" b="1">
                <a:solidFill>
                  <a:srgbClr val="F8FAFC"/>
                </a:solidFill>
                <a:latin typeface="Microsoft YaHei"/>
                <a:ea typeface="Microsoft YaHei"/>
              </a:rPr>
              <a:t>自然语言驱动学习</a:t>
            </a:r>
            <a:endParaRPr/>
          </a:p>
        </p:txBody>
      </p:sp>
      <p:sp>
        <p:nvSpPr>
          <p:cNvPr id="315" name="" descr="{&quot;isTemplate&quot;:true,&quot;type&quot;:&quot;text&quot;}"/>
          <p:cNvSpPr txBox="1"/>
          <p:nvPr/>
        </p:nvSpPr>
        <p:spPr>
          <a:xfrm rot="0" flipH="0" flipV="0">
            <a:off x="8534400" y="1685925"/>
            <a:ext cx="16192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>
                <a:solidFill>
                  <a:srgbClr val="94A3B8"/>
                </a:solidFill>
                <a:latin typeface="Microsoft YaHei"/>
                <a:ea typeface="Microsoft YaHei"/>
              </a:rPr>
              <a:t>业务人员零门槛发起分析</a:t>
            </a:r>
            <a:endParaRPr/>
          </a:p>
        </p:txBody>
      </p:sp>
      <p:sp>
        <p:nvSpPr>
          <p:cNvPr id="316" name=""/>
          <p:cNvSpPr/>
          <p:nvPr/>
        </p:nvSpPr>
        <p:spPr>
          <a:xfrm rot="0" flipH="0" flipV="0">
            <a:off x="8382000" y="2066925"/>
            <a:ext cx="57150" cy="5715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</p:spPr>
        <p:txBody>
          <a:bodyPr/>
          <a:p/>
        </p:txBody>
      </p:sp>
      <p:sp>
        <p:nvSpPr>
          <p:cNvPr id="317" name="" descr="{&quot;isTemplate&quot;:true,&quot;type&quot;:&quot;text&quot;}"/>
          <p:cNvSpPr txBox="1"/>
          <p:nvPr/>
        </p:nvSpPr>
        <p:spPr>
          <a:xfrm rot="0" flipH="0" flipV="0">
            <a:off x="8534400" y="1933575"/>
            <a:ext cx="14954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13" b="1">
                <a:solidFill>
                  <a:srgbClr val="F8FAFC"/>
                </a:solidFill>
                <a:latin typeface="Microsoft YaHei"/>
                <a:ea typeface="Microsoft YaHei"/>
              </a:rPr>
              <a:t>可查</a:t>
            </a:r>
            <a:r>
              <a:rPr lang="en-US" sz="1013" b="1">
                <a:solidFill>
                  <a:srgbClr val="F8FAFC"/>
                </a:solidFill>
                <a:latin typeface="Microsoft YaHei"/>
                <a:ea typeface="Microsoft YaHei"/>
              </a:rPr>
              <a:t> —— </a:t>
            </a:r>
            <a:r>
              <a:rPr lang="zh-CN" sz="1013" b="1">
                <a:solidFill>
                  <a:srgbClr val="F8FAFC"/>
                </a:solidFill>
                <a:latin typeface="Microsoft YaHei"/>
                <a:ea typeface="Microsoft YaHei"/>
              </a:rPr>
              <a:t>结论沉淀为日志</a:t>
            </a:r>
            <a:endParaRPr/>
          </a:p>
        </p:txBody>
      </p:sp>
      <p:sp>
        <p:nvSpPr>
          <p:cNvPr id="318" name="" descr="{&quot;isTemplate&quot;:true,&quot;type&quot;:&quot;text&quot;}"/>
          <p:cNvSpPr txBox="1"/>
          <p:nvPr/>
        </p:nvSpPr>
        <p:spPr>
          <a:xfrm rot="0" flipH="0" flipV="0">
            <a:off x="8534400" y="2114550"/>
            <a:ext cx="14954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>
                <a:solidFill>
                  <a:srgbClr val="94A3B8"/>
                </a:solidFill>
                <a:latin typeface="Microsoft YaHei"/>
                <a:ea typeface="Microsoft YaHei"/>
              </a:rPr>
              <a:t>漂移结论与训练依据随时回看</a:t>
            </a:r>
            <a:endParaRPr/>
          </a:p>
        </p:txBody>
      </p:sp>
      <p:sp>
        <p:nvSpPr>
          <p:cNvPr id="319" name=""/>
          <p:cNvSpPr/>
          <p:nvPr/>
        </p:nvSpPr>
        <p:spPr>
          <a:xfrm rot="0" flipH="0" flipV="0">
            <a:off x="8382000" y="2495550"/>
            <a:ext cx="57150" cy="5715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</p:spPr>
        <p:txBody>
          <a:bodyPr/>
          <a:p/>
        </p:txBody>
      </p:sp>
      <p:sp>
        <p:nvSpPr>
          <p:cNvPr id="320" name="" descr="{&quot;isTemplate&quot;:true,&quot;type&quot;:&quot;text&quot;}"/>
          <p:cNvSpPr txBox="1"/>
          <p:nvPr/>
        </p:nvSpPr>
        <p:spPr>
          <a:xfrm rot="0" flipH="0" flipV="0">
            <a:off x="8534400" y="2362200"/>
            <a:ext cx="15716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13" b="1">
                <a:solidFill>
                  <a:srgbClr val="F8FAFC"/>
                </a:solidFill>
                <a:latin typeface="Microsoft YaHei"/>
                <a:ea typeface="Microsoft YaHei"/>
              </a:rPr>
              <a:t>可审计</a:t>
            </a:r>
            <a:r>
              <a:rPr lang="en-US" sz="1013" b="1">
                <a:solidFill>
                  <a:srgbClr val="F8FAFC"/>
                </a:solidFill>
                <a:latin typeface="Microsoft YaHei"/>
                <a:ea typeface="Microsoft YaHei"/>
              </a:rPr>
              <a:t> —— </a:t>
            </a:r>
            <a:r>
              <a:rPr lang="zh-CN" sz="1013" b="1">
                <a:solidFill>
                  <a:srgbClr val="F8FAFC"/>
                </a:solidFill>
                <a:latin typeface="Microsoft YaHei"/>
                <a:ea typeface="Microsoft YaHei"/>
              </a:rPr>
              <a:t>行为可追溯</a:t>
            </a:r>
            <a:endParaRPr/>
          </a:p>
        </p:txBody>
      </p:sp>
      <p:sp>
        <p:nvSpPr>
          <p:cNvPr id="321" name="" descr="{&quot;isTemplate&quot;:true,&quot;type&quot;:&quot;text&quot;}"/>
          <p:cNvSpPr txBox="1"/>
          <p:nvPr/>
        </p:nvSpPr>
        <p:spPr>
          <a:xfrm rot="0" flipH="0" flipV="0">
            <a:off x="8534400" y="2543175"/>
            <a:ext cx="15716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>
                <a:solidFill>
                  <a:srgbClr val="94A3B8"/>
                </a:solidFill>
                <a:latin typeface="Microsoft YaHei"/>
                <a:ea typeface="Microsoft YaHei"/>
              </a:rPr>
              <a:t>所有动作约束在</a:t>
            </a:r>
            <a:r>
              <a:rPr lang="en-US" sz="863">
                <a:solidFill>
                  <a:srgbClr val="94A3B8"/>
                </a:solidFill>
                <a:latin typeface="Microsoft YaHei"/>
                <a:ea typeface="Microsoft YaHei"/>
              </a:rPr>
              <a:t> Harness </a:t>
            </a:r>
            <a:r>
              <a:rPr lang="zh-CN" sz="863">
                <a:solidFill>
                  <a:srgbClr val="94A3B8"/>
                </a:solidFill>
                <a:latin typeface="Microsoft YaHei"/>
                <a:ea typeface="Microsoft YaHei"/>
              </a:rPr>
              <a:t>边界内</a:t>
            </a:r>
            <a:endParaRPr/>
          </a:p>
        </p:txBody>
      </p:sp>
      <p:sp>
        <p:nvSpPr>
          <p:cNvPr id="322" name=""/>
          <p:cNvSpPr/>
          <p:nvPr/>
        </p:nvSpPr>
        <p:spPr>
          <a:xfrm rot="0" flipH="0" flipV="0">
            <a:off x="8229600" y="4219575"/>
            <a:ext cx="3390900" cy="1390650"/>
          </a:xfrm>
          <a:custGeom>
            <a:pathLst>
              <a:path w="356" h="146">
                <a:moveTo>
                  <a:pt x="0" y="0"/>
                </a:moveTo>
                <a:lnTo>
                  <a:pt x="346" y="0"/>
                </a:lnTo>
                <a:cubicBezTo>
                  <a:pt x="352" y="0"/>
                  <a:pt x="356" y="4"/>
                  <a:pt x="356" y="10"/>
                </a:cubicBezTo>
                <a:lnTo>
                  <a:pt x="356" y="136"/>
                </a:lnTo>
                <a:cubicBezTo>
                  <a:pt x="356" y="142"/>
                  <a:pt x="352" y="146"/>
                  <a:pt x="346" y="146"/>
                </a:cubicBezTo>
                <a:lnTo>
                  <a:pt x="0" y="146"/>
                </a:lnTo>
                <a:lnTo>
                  <a:pt x="0" y="146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22D3EE">
              <a:alpha val="7000"/>
            </a:srgbClr>
          </a:solidFill>
          <a:ln/>
        </p:spPr>
        <p:txBody>
          <a:bodyPr/>
          <a:p/>
        </p:txBody>
      </p:sp>
      <p:sp>
        <p:nvSpPr>
          <p:cNvPr id="323" name=""/>
          <p:cNvSpPr/>
          <p:nvPr/>
        </p:nvSpPr>
        <p:spPr>
          <a:xfrm rot="0" flipH="0" flipV="0">
            <a:off x="8229600" y="4219575"/>
            <a:ext cx="3390900" cy="1390650"/>
          </a:xfrm>
          <a:custGeom>
            <a:pathLst>
              <a:path w="356" h="146">
                <a:moveTo>
                  <a:pt x="4" y="146"/>
                </a:moveTo>
                <a:lnTo>
                  <a:pt x="0" y="146"/>
                </a:lnTo>
                <a:lnTo>
                  <a:pt x="0" y="0"/>
                </a:lnTo>
                <a:lnTo>
                  <a:pt x="4" y="0"/>
                </a:lnTo>
                <a:close/>
              </a:path>
            </a:pathLst>
          </a:custGeom>
          <a:solidFill>
            <a:srgbClr val="22D3EE"/>
          </a:solidFill>
          <a:ln/>
        </p:spPr>
        <p:txBody>
          <a:bodyPr/>
          <a:p/>
        </p:txBody>
      </p:sp>
      <p:sp>
        <p:nvSpPr>
          <p:cNvPr id="324" name="" descr="{&quot;isTemplate&quot;:true,&quot;type&quot;:&quot;text&quot;}"/>
          <p:cNvSpPr txBox="1"/>
          <p:nvPr/>
        </p:nvSpPr>
        <p:spPr>
          <a:xfrm rot="0" flipH="0" flipV="0">
            <a:off x="8382000" y="4371975"/>
            <a:ext cx="30480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A1D37"/>
                </a:solidFill>
                <a:latin typeface="Microsoft YaHei"/>
                <a:ea typeface="Microsoft YaHei"/>
              </a:rPr>
              <a:t>投资人看到</a:t>
            </a:r>
            <a:endParaRPr/>
          </a:p>
        </p:txBody>
      </p:sp>
      <p:sp>
        <p:nvSpPr>
          <p:cNvPr id="325" name="" descr="{&quot;isTemplate&quot;:true,&quot;type&quot;:&quot;text&quot;}"/>
          <p:cNvSpPr txBox="1"/>
          <p:nvPr/>
        </p:nvSpPr>
        <p:spPr>
          <a:xfrm rot="0" flipH="0" flipV="0">
            <a:off x="8382000" y="4629150"/>
            <a:ext cx="3048000" cy="5429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zh-CN" sz="975">
                <a:solidFill>
                  <a:srgbClr val="0F2039"/>
                </a:solidFill>
                <a:latin typeface="Microsoft YaHei"/>
                <a:ea typeface="Microsoft YaHei"/>
              </a:rPr>
              <a:t>可复制的产品闭环——同一套</a:t>
            </a:r>
            <a:r>
              <a:rPr lang="en-US" sz="975">
                <a:solidFill>
                  <a:srgbClr val="0F2039"/>
                </a:solidFill>
                <a:latin typeface="Microsoft YaHei"/>
                <a:ea typeface="Microsoft YaHei"/>
              </a:rPr>
              <a:t> Harness </a:t>
            </a:r>
            <a:r>
              <a:rPr lang="zh-CN" sz="975">
                <a:solidFill>
                  <a:srgbClr val="0F2039"/>
                </a:solidFill>
                <a:latin typeface="Microsoft YaHei"/>
                <a:ea typeface="Microsoft YaHei"/>
              </a:rPr>
              <a:t>结构，可迁移到其他时序预测场景。</a:t>
            </a:r>
            <a:endParaRPr/>
          </a:p>
        </p:txBody>
      </p:sp>
      <p:sp>
        <p:nvSpPr>
          <p:cNvPr id="326" name=""/>
          <p:cNvSpPr/>
          <p:nvPr/>
        </p:nvSpPr>
        <p:spPr>
          <a:xfrm rot="0" flipH="0" flipV="0">
            <a:off x="8382000" y="5267325"/>
            <a:ext cx="628650" cy="190500"/>
          </a:xfrm>
          <a:prstGeom prst="roundRect">
            <a:avLst>
              <a:gd name="adj" fmla="val 30000"/>
            </a:avLst>
          </a:prstGeom>
          <a:ln w="12700">
            <a:solidFill>
              <a:srgbClr val="22D3EE"/>
            </a:solidFill>
            <a:prstDash val="solid"/>
          </a:ln>
        </p:spPr>
        <p:txBody>
          <a:bodyPr/>
          <a:p/>
        </p:txBody>
      </p:sp>
      <p:sp>
        <p:nvSpPr>
          <p:cNvPr id="327" name="" descr="{&quot;isTemplate&quot;:true,&quot;type&quot;:&quot;text&quot;}"/>
          <p:cNvSpPr txBox="1"/>
          <p:nvPr/>
        </p:nvSpPr>
        <p:spPr>
          <a:xfrm rot="0" flipH="0" flipV="0">
            <a:off x="8477250" y="5295900"/>
            <a:ext cx="4381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>
                <a:solidFill>
                  <a:srgbClr val="0891B2"/>
                </a:solidFill>
                <a:latin typeface="Microsoft YaHei"/>
                <a:ea typeface="Microsoft YaHei"/>
              </a:rPr>
              <a:t>光伏出力</a:t>
            </a:r>
            <a:endParaRPr/>
          </a:p>
        </p:txBody>
      </p:sp>
      <p:sp>
        <p:nvSpPr>
          <p:cNvPr id="328" name=""/>
          <p:cNvSpPr/>
          <p:nvPr/>
        </p:nvSpPr>
        <p:spPr>
          <a:xfrm rot="0" flipH="0" flipV="0">
            <a:off x="9086850" y="5267325"/>
            <a:ext cx="409575" cy="190500"/>
          </a:xfrm>
          <a:prstGeom prst="roundRect">
            <a:avLst>
              <a:gd name="adj" fmla="val 30000"/>
            </a:avLst>
          </a:prstGeom>
          <a:ln w="12700">
            <a:solidFill>
              <a:srgbClr val="22D3EE"/>
            </a:solidFill>
            <a:prstDash val="solid"/>
          </a:ln>
        </p:spPr>
        <p:txBody>
          <a:bodyPr/>
          <a:p/>
        </p:txBody>
      </p:sp>
      <p:sp>
        <p:nvSpPr>
          <p:cNvPr id="329" name="" descr="{&quot;isTemplate&quot;:true,&quot;type&quot;:&quot;text&quot;}"/>
          <p:cNvSpPr txBox="1"/>
          <p:nvPr/>
        </p:nvSpPr>
        <p:spPr>
          <a:xfrm rot="0" flipH="0" flipV="0">
            <a:off x="9182100" y="5295900"/>
            <a:ext cx="2190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>
                <a:solidFill>
                  <a:srgbClr val="0891B2"/>
                </a:solidFill>
                <a:latin typeface="Microsoft YaHei"/>
                <a:ea typeface="Microsoft YaHei"/>
              </a:rPr>
              <a:t>气象</a:t>
            </a:r>
            <a:endParaRPr/>
          </a:p>
        </p:txBody>
      </p:sp>
      <p:sp>
        <p:nvSpPr>
          <p:cNvPr id="330" name=""/>
          <p:cNvSpPr/>
          <p:nvPr/>
        </p:nvSpPr>
        <p:spPr>
          <a:xfrm rot="0" flipH="0" flipV="0">
            <a:off x="9572625" y="5267325"/>
            <a:ext cx="409575" cy="190500"/>
          </a:xfrm>
          <a:prstGeom prst="roundRect">
            <a:avLst>
              <a:gd name="adj" fmla="val 30000"/>
            </a:avLst>
          </a:prstGeom>
          <a:ln w="12700">
            <a:solidFill>
              <a:srgbClr val="22D3EE"/>
            </a:solidFill>
            <a:prstDash val="solid"/>
          </a:ln>
        </p:spPr>
        <p:txBody>
          <a:bodyPr/>
          <a:p/>
        </p:txBody>
      </p:sp>
      <p:sp>
        <p:nvSpPr>
          <p:cNvPr id="331" name="" descr="{&quot;isTemplate&quot;:true,&quot;type&quot;:&quot;text&quot;}"/>
          <p:cNvSpPr txBox="1"/>
          <p:nvPr/>
        </p:nvSpPr>
        <p:spPr>
          <a:xfrm rot="0" flipH="0" flipV="0">
            <a:off x="9667875" y="5295900"/>
            <a:ext cx="2190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>
                <a:solidFill>
                  <a:srgbClr val="0891B2"/>
                </a:solidFill>
                <a:latin typeface="Microsoft YaHei"/>
                <a:ea typeface="Microsoft YaHei"/>
              </a:rPr>
              <a:t>水文</a:t>
            </a:r>
            <a:endParaRPr/>
          </a:p>
        </p:txBody>
      </p:sp>
      <p:sp>
        <p:nvSpPr>
          <p:cNvPr id="332" name=""/>
          <p:cNvSpPr/>
          <p:nvPr/>
        </p:nvSpPr>
        <p:spPr>
          <a:xfrm rot="0" flipH="0" flipV="0">
            <a:off x="8191500" y="5724525"/>
            <a:ext cx="3390900" cy="695325"/>
          </a:xfrm>
          <a:prstGeom prst="roundRect">
            <a:avLst>
              <a:gd name="adj" fmla="val 10959"/>
            </a:avLst>
          </a:prstGeom>
          <a:solidFill>
            <a:srgbClr val="F8FAFC"/>
          </a:solidFill>
          <a:ln/>
        </p:spPr>
        <p:txBody>
          <a:bodyPr/>
          <a:p/>
        </p:txBody>
      </p:sp>
      <p:sp>
        <p:nvSpPr>
          <p:cNvPr id="333" name="" descr="{&quot;isTemplate&quot;:true,&quot;type&quot;:&quot;text&quot;}"/>
          <p:cNvSpPr txBox="1"/>
          <p:nvPr/>
        </p:nvSpPr>
        <p:spPr>
          <a:xfrm rot="0" flipH="0" flipV="0">
            <a:off x="8305800" y="5838825"/>
            <a:ext cx="3162300" cy="4667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900">
                <a:solidFill>
                  <a:srgbClr val="64748B"/>
                </a:solidFill>
                <a:latin typeface="Microsoft YaHei"/>
                <a:ea typeface="Microsoft YaHei"/>
              </a:rPr>
              <a:t>现场以</a:t>
            </a:r>
            <a:r>
              <a:rPr lang="en-US" sz="900">
                <a:solidFill>
                  <a:srgbClr val="64748B"/>
                </a:solidFill>
                <a:latin typeface="Microsoft YaHei"/>
                <a:ea typeface="Microsoft YaHei"/>
              </a:rPr>
              <a:t> 20–30 </a:t>
            </a:r>
            <a:r>
              <a:rPr lang="zh-CN" sz="900">
                <a:solidFill>
                  <a:srgbClr val="64748B"/>
                </a:solidFill>
                <a:latin typeface="Microsoft YaHei"/>
                <a:ea typeface="Microsoft YaHei"/>
              </a:rPr>
              <a:t>秒预录演示呈现，避免训练耗时与网络波动影响路演。</a:t>
            </a:r>
            <a:endParaRPr/>
          </a:p>
        </p:txBody>
      </p:sp>
      <p:sp>
        <p:nvSpPr>
          <p:cNvPr id="334" name="" descr="{&quot;isTemplate&quot;:true,&quot;type&quot;:&quot;text&quot;}"/>
          <p:cNvSpPr txBox="1"/>
          <p:nvPr/>
        </p:nvSpPr>
        <p:spPr>
          <a:xfrm rot="0" flipH="0" flipV="0">
            <a:off x="609600" y="6562725"/>
            <a:ext cx="17049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94A3B8"/>
                </a:solidFill>
                <a:latin typeface="Microsoft YaHei"/>
                <a:ea typeface="Microsoft YaHei"/>
              </a:rPr>
              <a:t>负荷预测持续学习引擎</a:t>
            </a:r>
            <a:r>
              <a:rPr lang="en-US" sz="900">
                <a:solidFill>
                  <a:srgbClr val="94A3B8"/>
                </a:solidFill>
                <a:latin typeface="Microsoft YaHei"/>
                <a:ea typeface="Microsoft YaHei"/>
              </a:rPr>
              <a:t> · </a:t>
            </a:r>
            <a:r>
              <a:rPr lang="zh-CN" sz="900">
                <a:solidFill>
                  <a:srgbClr val="94A3B8"/>
                </a:solidFill>
                <a:latin typeface="Microsoft YaHei"/>
                <a:ea typeface="Microsoft YaHei"/>
              </a:rPr>
              <a:t>产品演示</a:t>
            </a:r>
            <a:endParaRPr/>
          </a:p>
        </p:txBody>
      </p:sp>
      <p:sp>
        <p:nvSpPr>
          <p:cNvPr id="335" name=""/>
          <p:cNvSpPr/>
          <p:nvPr/>
        </p:nvSpPr>
        <p:spPr>
          <a:xfrm rot="0" flipH="0" flipV="0">
            <a:off x="10677525" y="6581775"/>
            <a:ext cx="95250" cy="95250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p/>
        </p:txBody>
      </p:sp>
      <p:sp>
        <p:nvSpPr>
          <p:cNvPr id="336" name="" descr="{&quot;isTemplate&quot;:true,&quot;type&quot;:&quot;text&quot;}"/>
          <p:cNvSpPr txBox="1"/>
          <p:nvPr/>
        </p:nvSpPr>
        <p:spPr>
          <a:xfrm rot="0" flipH="0" flipV="0">
            <a:off x="10848975" y="6553200"/>
            <a:ext cx="7334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Microsoft YaHei"/>
                <a:ea typeface="Microsoft YaHei"/>
              </a:rPr>
              <a:t>CLE · 05 / 07</a:t>
            </a:r>
            <a:endParaRPr/>
          </a:p>
        </p:txBody>
      </p:sp>
    </p:spTree>
  </p:cSld>
</p:sld>
</file>

<file path=ppt/slides/slide6.xml><?xml version="1.0" encoding="utf-8"?>
<p:sld xmlns:c="http://schemas.openxmlformats.org/drawingml/2006/chart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37" name="" descr="&lt;Slide style={{ width: 1280, height: 720, background: '#0A1D37', display: 'flex', flexDirection: 'column', padding: '44px 64px 16px 64px' }}&gt;&#10;    &lt;Text style={{ fontSize: 14, color: '#22D3EE', letterSpacing: 3 }}&gt;实证 · 相同数据 · 相同模型&lt;/Text&gt;&#10;    &lt;Text style={{ fontSize: 33, fontWeight: 'bold', color: '#F8FAFC', marginTop: 8 }}&gt;相同数据、相同模型下，持续学习验证指标改善约 5.6%&lt;/Text&gt;&#10;&#10;    &lt;Box style={{ flexDirection: 'row', gap: 40, flex: 1, marginTop: 20, alignItems: 'stretch' }}&gt;&#10;        &lt;Box style={{ width: 400, display: 'flex', flexDirection: 'column' }}&gt;&#10;            &lt;Text style={{ fontSize: 104, fontWeight: 'bold', color: '#22D3EE', fontFamily: 'Space Grotesk, Inter, sans-serif', lineHeight: 1.0 }}&gt;5.6%&lt;/Text&gt;&#10;            &lt;Text style={{ fontSize: 17, color: '#F8FAFC', marginTop: 8 }}&gt;WAPE 相对改善&lt;/Text&gt;&#10;            &lt;Box style={{ height: 1, background: '#123B63', margin: '20px 0' }} /&gt;&#10;            &lt;Box style={{ flexDirection: 'row', gap: 32 }}&gt;&#10;                &lt;Box&gt;&#10;                    &lt;Text style={{ fontSize: 34, fontWeight: 'bold', color: '#F8FAFC', fontFamily: 'Space Grotesk, Inter, sans-serif' }}&gt;31 / 32&lt;/Text&gt;&#10;                    &lt;Text style={{ fontSize: 12, color: '#94A3B8', marginTop: 4 }}&gt;个月动态模型更优&lt;/Text&gt;&#10;                &lt;/Box&gt;&#10;                &lt;Box&gt;&#10;                    &lt;Text style={{ fontSize: 34, fontWeight: 'bold', color: '#F8FAFC', fontFamily: 'Space Grotesk, Inter, sans-serif' }}&gt;68,040&lt;/Text&gt;&#10;                    &lt;Text style={{ fontSize: 12, color: '#94A3B8', marginTop: 4 }}&gt;共有预测主键 · 同口径对齐&lt;/Text&gt;&#10;                &lt;/Box&gt;&#10;            &lt;/Box&gt;&#10;            &lt;Box style={{ marginTop: 18, border: '1px solid #123B63', borderRadius: 8, padding: '10px 14px' }}&gt;&#10;                &lt;Text style={{ fontSize: 12, color: '#94A3B8', lineHeight: 1.7 }}&gt;唯一回退月份：2016-07（WAPE +0.02 pp）——32 个月中仅 1 次略差，仍纳入统计、不做剔除。&lt;/Text&gt;&#10;            &lt;/Box&gt;&#10;            &lt;Text style={{ fontSize: 13, color: '#94A3B8', lineHeight: 1.8, marginTop: 'auto' }}&gt;改善不靠更换模型——在相同模型条件下，由持续学习获得。&lt;/Text&gt;&#10;        &lt;/Box&gt;&#10;&#10;        &lt;Box style={{ flex: 1, background: '#123B63', borderRadius: 14, padding: 22, display: 'flex', flexDirection: 'column' }}&gt;&#10;            &lt;Box&gt;&#10;                &lt;Box style={{ flexDirection: 'row', alignItems: 'center' }}&gt;&#10;                    &lt;Text style={{ fontSize: 14.5, fontWeight: 'bold', color: '#F8FAFC' }}&gt;WAPE｜越低越好&lt;/Text&gt;&#10;                    &lt;Box style={{ marginLeft: 'auto', border: '1px solid #22D3EE', borderRadius: 999, padding: '2px 10px' }}&gt;&#10;                        &lt;Text style={{ fontSize: 12.5, fontWeight: 'bold', color: '#22D3EE' }}&gt;−0.2176 pp&lt;/Text&gt;&#10;                    &lt;/Box&gt;&#10;                &lt;/Box&gt;&#10;                &lt;Box style={{ flexDirection: 'row', alignItems: 'center', gap: 8, marginTop: 10 }}&gt;&#10;                    &lt;Text style={{ width: 76, fontSize: 12.5, color: '#94A3B8' }}&gt;静态模型&lt;/Text&gt;&#10;                    &lt;Box style={{ width: 400, height: 20, background: '#0A1D37', borderRadius: 4, position: 'relative' }}&gt;&#10;                        &lt;Box style={{ position: 'absolute', left: 0, top: 0, width: 390, height: 20, background: '#94A3B8', borderRadius: 4 }} /&gt;&#10;                    &lt;/Box&gt;&#10;                    &lt;Text style={{ fontSize: 12.5, fontWeight: 'bold', color: '#F8FAFC', marginLeft: 6 }}&gt;3.8876%&lt;/Text&gt;&#10;                &lt;/Box&gt;&#10;                &lt;Box style={{ flexDirection: 'row', alignItems: 'center', gap: 8, marginTop: 8 }}&gt;&#10;                    &lt;Text style={{ width: 76, fontSize: 12.5, color: '#F8FAFC' }}&gt;持续学习&lt;/Text&gt;&#10;                    &lt;Box style={{ width: 400, height: 20, background: '#0A1D37', borderRadius: 4, position: 'relative' }}&gt;&#10;                        &lt;Box style={{ position: 'absolute', left: 0, top: 0, width: 368, height: 20, background: '#22D3EE', borderRadius: 4 }} /&gt;&#10;                    &lt;/Box&gt;&#10;                    &lt;Text style={{ fontSize: 12.5, fontWeight: 'bold', color: '#22D3EE', marginLeft: 6 }}&gt;3.6700%&lt;/Text&gt;&#10;                &lt;/Box&gt;&#10;            &lt;/Box&gt;&#10;&#10;            &lt;Box style={{ height: 1, background: '#0A1D37', margin: '14px 0' }} /&gt;&#10;&#10;            &lt;Box&gt;&#10;                &lt;Box style={{ flexDirection: 'row', alignItems: 'center' }}&gt;&#10;                    &lt;Text style={{ fontSize: 14.5, fontWeight: 'bold', color: '#F8FAFC' }}&gt;MAE｜越低越好&lt;/Text&gt;&#10;                    &lt;Box style={{ marginLeft: 'auto', border: '1px solid #22D3EE', borderRadius: 999, padding: '2px 10px' }}&gt;&#10;                        &lt;Text style={{ fontSize: 12.5, fontWeight: 'bold', color: '#22D3EE' }}&gt;−20.34 MW&lt;/Text&gt;&#10;                    &lt;/Box&gt;&#10;                &lt;/Box&gt;&#10;                &lt;Box style={{ flexDirection: 'row', alignItems: 'center', gap: 8, marginTop: 10 }}&gt;&#10;                    &lt;Text style={{ width: 76, fontSize: 12.5, color: '#94A3B8' }}&gt;静态模型&lt;/Text&gt;&#10;                    &lt;Box style={{ width: 400, height: 20, background: '#0A1D37', borderRadius: 4, position: 'relative' }}&gt;&#10;                        &lt;Box style={{ position: 'absolute', left: 0, top: 0, width: 363, height: 20, background: '#94A3B8', borderRadius: 4 }} /&gt;&#10;                    &lt;/Box&gt;&#10;                    &lt;Text style={{ fontSize: 12.5, fontWeight: 'bold', color: '#F8FAFC', marginLeft: 6 }}&gt;363.33&lt;/Text&gt;&#10;                &lt;/Box&gt;&#10;                &lt;Box style={{ flexDirection: 'row', alignItems: 'center', gap: 8, marginTop: 8 }}&gt;&#10;                    &lt;Text style={{ width: 76, fontSize: 12.5, color: '#F8FAFC' }}&gt;持续学习&lt;/Text&gt;&#10;                    &lt;Box style={{ width: 400, height: 20, background: '#0A1D37', borderRadius: 4, position: 'relative' }}&gt;&#10;                        &lt;Box style={{ position: 'absolute', left: 0, top: 0, width: 343, height: 20, background: '#22D3EE', borderRadius: 4 }} /&gt;&#10;                    &lt;/Box&gt;&#10;                    &lt;Text style={{ fontSize: 12.5, fontWeight: 'bold', color: '#22D3EE', marginLeft: 6 }}&gt;342.99&lt;/Text&gt;&#10;                &lt;/Box&gt;&#10;            &lt;/Box&gt;&#10;&#10;            &lt;Box style={{ height: 1, background: '#0A1D37', margin: '14px 0' }} /&gt;&#10;&#10;            &lt;Box style={{ flexDirection: 'row', alignItems: 'center', marginBottom: 6 }}&gt;&#10;                &lt;Text style={{ fontSize: 14.5, fontWeight: 'bold', color: '#F8FAFC' }}&gt;月度 WAPE 走势&lt;/Text&gt;&#10;                &lt;Text style={{ marginLeft: 12, fontSize: 11.5, color: '#94A3B8' }}&gt;2016-01 → 2018-08 · 动态模型长期低于静态&lt;/Text&gt;&#10;            &lt;/Box&gt;&#10;            &lt;Chart&#10;                style={{ height: 200 }}&#10;                chartType='lineChart'&#10;                background='#123B63'&#10;                showLegend={true}&#10;                legendColor='#94A3B8'&#10;                axisColor='#64748B'&#10;                colors={['#94A3B8', '#22D3EE']}&#10;                data={[&#10;                    ['月份', '静态 WAPE', '动态 WAPE'],&#10;                    ['16-01', 4.5448, 4.5448],&#10;                    ['16-02', 4.4292, 4.2311],&#10;                    ['16-03', 3.2708, 3.0051],&#10;                    ['16-04', 3.3004, 3.1009],&#10;                    ['16-05', 2.8832, 2.7354],&#10;                    ['16-06', 3.9656, 3.6806],&#10;                    ['16-07', 3.5909, 3.6100],&#10;                    ['16-08', 3.5359, 3.3589],&#10;                    ['16-09', 4.2052, 4.0221],&#10;                    ['16-10', 2.8927, 2.6459],&#10;                    ['16-11', 3.2834, 2.8776],&#10;                    ['16-12', 4.0062, 3.9155],&#10;                    ['17-01', 4.3050, 4.0186],&#10;                    ['17-02', 4.5920, 4.2749],&#10;                    ['17-03', 3.8754, 3.6176],&#10;                    ['17-04', 3.4790, 3.1714],&#10;                    ['17-05', 3.9822, 3.6762],&#10;                    ['17-06', 3.7651, 3.6524],&#10;                    ['17-07', 3.7563, 3.4687],&#10;                    ['17-08', 3.2999, 3.2072],&#10;                    ['17-09', 3.6859, 3.3214],&#10;                    ['17-10', 3.2119, 2.9114],&#10;                    ['17-11', 3.6483, 3.3150],&#10;                    ['17-12', 4.1561, 3.9405],&#10;                    ['18-01', 4.8647, 4.8506],&#10;                    ['18-02', 4.2964, 4.1074],&#10;                    ['18-03', 4.3352, 4.0496],&#10;                    ['18-04', 4.1911, 3.8786],&#10;                    ['18-05', 4.3633, 4.0013],&#10;                    ['18-06', 4.2547, 3.8982],&#10;                    ['18-07', 3.8659, 3.7938],&#10;                    ['18-08', 3.5641, 3.1085],&#10;                ]}&#10;            /&gt;&#10;        &lt;/Box&gt;&#10;    &lt;/Box&gt;&#10;&#10;    &lt;Box style={{ flexDirection: 'row', marginTop: 14, alignItems: 'center' }}&gt;&#10;        &lt;Text style={{ fontSize: 11.5, color: '#94A3B8' }}&gt;Source: monthly_static_dynamic_validation_metrics.csv · 68,040 共有预测主键 · 按纽约本地预测月份统计 · 验证集结果，非真实生产承诺&lt;/Text&gt;&#10;        &lt;Box style={{ marginLeft: 'auto', flexDirection: 'row', alignItems: 'center', gap: 8 }}&gt;&#10;            &lt;Box style={{ width: 10, height: 10, background: '#22D3EE' }} /&gt;&#10;            &lt;Text style={{ fontSize: 13, color: '#94A3B8' }}&gt;CLE · 06 / 07&lt;/Text&gt;&#10;        &lt;/Box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A1D37"/>
          </a:solidFill>
          <a:ln/>
        </p:spPr>
        <p:txBody>
          <a:bodyPr/>
          <a:p/>
        </p:txBody>
      </p:sp>
      <p:sp>
        <p:nvSpPr>
          <p:cNvPr id="339" name="" descr="{&quot;isTemplate&quot;:true,&quot;type&quot;:&quot;text&quot;}"/>
          <p:cNvSpPr txBox="1"/>
          <p:nvPr/>
        </p:nvSpPr>
        <p:spPr>
          <a:xfrm rot="0" flipH="0" flipV="0">
            <a:off x="609600" y="419100"/>
            <a:ext cx="10972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spc="225">
                <a:solidFill>
                  <a:srgbClr val="22D3EE"/>
                </a:solidFill>
                <a:latin typeface="Microsoft YaHei"/>
                <a:ea typeface="Microsoft YaHei"/>
              </a:rPr>
              <a:t>实证</a:t>
            </a:r>
            <a:r>
              <a:rPr lang="en-US" sz="1050" spc="225">
                <a:solidFill>
                  <a:srgbClr val="22D3EE"/>
                </a:solidFill>
                <a:latin typeface="Microsoft YaHei"/>
                <a:ea typeface="Microsoft YaHei"/>
              </a:rPr>
              <a:t> · </a:t>
            </a:r>
            <a:r>
              <a:rPr lang="zh-CN" sz="1050" spc="225">
                <a:solidFill>
                  <a:srgbClr val="22D3EE"/>
                </a:solidFill>
                <a:latin typeface="Microsoft YaHei"/>
                <a:ea typeface="Microsoft YaHei"/>
              </a:rPr>
              <a:t>相同数据</a:t>
            </a:r>
            <a:r>
              <a:rPr lang="en-US" sz="1050" spc="225">
                <a:solidFill>
                  <a:srgbClr val="22D3EE"/>
                </a:solidFill>
                <a:latin typeface="Microsoft YaHei"/>
                <a:ea typeface="Microsoft YaHei"/>
              </a:rPr>
              <a:t> · </a:t>
            </a:r>
            <a:r>
              <a:rPr lang="zh-CN" sz="1050" spc="225">
                <a:solidFill>
                  <a:srgbClr val="22D3EE"/>
                </a:solidFill>
                <a:latin typeface="Microsoft YaHei"/>
                <a:ea typeface="Microsoft YaHei"/>
              </a:rPr>
              <a:t>相同模型</a:t>
            </a:r>
            <a:endParaRPr/>
          </a:p>
        </p:txBody>
      </p:sp>
      <p:sp>
        <p:nvSpPr>
          <p:cNvPr id="340" name="" descr="{&quot;isTemplate&quot;:true,&quot;type&quot;:&quot;text&quot;}"/>
          <p:cNvSpPr txBox="1"/>
          <p:nvPr/>
        </p:nvSpPr>
        <p:spPr>
          <a:xfrm rot="0" flipH="0" flipV="0">
            <a:off x="609600" y="657225"/>
            <a:ext cx="10972800" cy="3810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75" b="1">
                <a:solidFill>
                  <a:srgbClr val="F8FAFC"/>
                </a:solidFill>
                <a:latin typeface="Microsoft YaHei"/>
                <a:ea typeface="Microsoft YaHei"/>
              </a:rPr>
              <a:t>相同数据、相同模型下，持续学习验证指标改善约</a:t>
            </a:r>
            <a:r>
              <a:rPr lang="en-US" sz="2475" b="1">
                <a:solidFill>
                  <a:srgbClr val="F8FAFC"/>
                </a:solidFill>
                <a:latin typeface="Microsoft YaHei"/>
                <a:ea typeface="Microsoft YaHei"/>
              </a:rPr>
              <a:t> 5.6%</a:t>
            </a:r>
            <a:endParaRPr/>
          </a:p>
        </p:txBody>
      </p:sp>
      <p:sp>
        <p:nvSpPr>
          <p:cNvPr id="341" name="" descr="{&quot;isTemplate&quot;:true,&quot;type&quot;:&quot;text&quot;}"/>
          <p:cNvSpPr txBox="1"/>
          <p:nvPr/>
        </p:nvSpPr>
        <p:spPr>
          <a:xfrm rot="0" flipH="0" flipV="0">
            <a:off x="609600" y="1228725"/>
            <a:ext cx="3810000" cy="11906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00" b="1">
                <a:solidFill>
                  <a:srgbClr val="22D3EE"/>
                </a:solidFill>
                <a:latin typeface="Space Grotesk"/>
                <a:ea typeface="Space Grotesk"/>
              </a:rPr>
              <a:t>5.6%</a:t>
            </a:r>
            <a:endParaRPr/>
          </a:p>
        </p:txBody>
      </p:sp>
      <p:sp>
        <p:nvSpPr>
          <p:cNvPr id="342" name="" descr="{&quot;isTemplate&quot;:true,&quot;type&quot;:&quot;text&quot;}"/>
          <p:cNvSpPr txBox="1"/>
          <p:nvPr/>
        </p:nvSpPr>
        <p:spPr>
          <a:xfrm rot="0" flipH="0" flipV="0">
            <a:off x="609600" y="2495550"/>
            <a:ext cx="38100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F8FAFC"/>
                </a:solidFill>
                <a:latin typeface="Microsoft YaHei"/>
                <a:ea typeface="Microsoft YaHei"/>
              </a:rPr>
              <a:t>WAPE </a:t>
            </a:r>
            <a:r>
              <a:rPr lang="zh-CN" sz="1275">
                <a:solidFill>
                  <a:srgbClr val="F8FAFC"/>
                </a:solidFill>
                <a:latin typeface="Microsoft YaHei"/>
                <a:ea typeface="Microsoft YaHei"/>
              </a:rPr>
              <a:t>相对改善</a:t>
            </a:r>
            <a:endParaRPr/>
          </a:p>
        </p:txBody>
      </p:sp>
      <p:sp>
        <p:nvSpPr>
          <p:cNvPr id="343" name=""/>
          <p:cNvSpPr/>
          <p:nvPr/>
        </p:nvSpPr>
        <p:spPr>
          <a:xfrm rot="0" flipH="0" flipV="0">
            <a:off x="609600" y="2886075"/>
            <a:ext cx="3810000" cy="9525"/>
          </a:xfrm>
          <a:prstGeom prst="rect">
            <a:avLst/>
          </a:prstGeom>
          <a:solidFill>
            <a:srgbClr val="123B63"/>
          </a:solidFill>
          <a:ln/>
        </p:spPr>
        <p:txBody>
          <a:bodyPr/>
          <a:p/>
        </p:txBody>
      </p:sp>
      <p:sp>
        <p:nvSpPr>
          <p:cNvPr id="344" name="" descr="{&quot;isTemplate&quot;:true,&quot;type&quot;:&quot;text&quot;}"/>
          <p:cNvSpPr txBox="1"/>
          <p:nvPr/>
        </p:nvSpPr>
        <p:spPr>
          <a:xfrm rot="0" flipH="0" flipV="0">
            <a:off x="609600" y="3086100"/>
            <a:ext cx="9906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F8FAFC"/>
                </a:solidFill>
                <a:latin typeface="Space Grotesk"/>
                <a:ea typeface="Space Grotesk"/>
              </a:rPr>
              <a:t>31 / 32</a:t>
            </a:r>
            <a:endParaRPr/>
          </a:p>
        </p:txBody>
      </p:sp>
      <p:sp>
        <p:nvSpPr>
          <p:cNvPr id="345" name="" descr="{&quot;isTemplate&quot;:true,&quot;type&quot;:&quot;text&quot;}"/>
          <p:cNvSpPr txBox="1"/>
          <p:nvPr/>
        </p:nvSpPr>
        <p:spPr>
          <a:xfrm rot="0" flipH="0" flipV="0">
            <a:off x="609600" y="3514725"/>
            <a:ext cx="9906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94A3B8"/>
                </a:solidFill>
                <a:latin typeface="Microsoft YaHei"/>
                <a:ea typeface="Microsoft YaHei"/>
              </a:rPr>
              <a:t>个月动态模型更优</a:t>
            </a:r>
            <a:endParaRPr/>
          </a:p>
        </p:txBody>
      </p:sp>
      <p:sp>
        <p:nvSpPr>
          <p:cNvPr id="346" name="" descr="{&quot;isTemplate&quot;:true,&quot;type&quot;:&quot;text&quot;}"/>
          <p:cNvSpPr txBox="1"/>
          <p:nvPr/>
        </p:nvSpPr>
        <p:spPr>
          <a:xfrm rot="0" flipH="0" flipV="0">
            <a:off x="1905000" y="3086100"/>
            <a:ext cx="136207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F8FAFC"/>
                </a:solidFill>
                <a:latin typeface="Space Grotesk"/>
                <a:ea typeface="Space Grotesk"/>
              </a:rPr>
              <a:t>68,040</a:t>
            </a:r>
            <a:endParaRPr/>
          </a:p>
        </p:txBody>
      </p:sp>
      <p:sp>
        <p:nvSpPr>
          <p:cNvPr id="347" name="" descr="{&quot;isTemplate&quot;:true,&quot;type&quot;:&quot;text&quot;}"/>
          <p:cNvSpPr txBox="1"/>
          <p:nvPr/>
        </p:nvSpPr>
        <p:spPr>
          <a:xfrm rot="0" flipH="0" flipV="0">
            <a:off x="1905000" y="3514725"/>
            <a:ext cx="13620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94A3B8"/>
                </a:solidFill>
                <a:latin typeface="Microsoft YaHei"/>
                <a:ea typeface="Microsoft YaHei"/>
              </a:rPr>
              <a:t>共有预测主键</a:t>
            </a:r>
            <a:r>
              <a:rPr lang="en-US" sz="900">
                <a:solidFill>
                  <a:srgbClr val="94A3B8"/>
                </a:solidFill>
                <a:latin typeface="Microsoft YaHei"/>
                <a:ea typeface="Microsoft YaHei"/>
              </a:rPr>
              <a:t> · </a:t>
            </a:r>
            <a:r>
              <a:rPr lang="zh-CN" sz="900">
                <a:solidFill>
                  <a:srgbClr val="94A3B8"/>
                </a:solidFill>
                <a:latin typeface="Microsoft YaHei"/>
                <a:ea typeface="Microsoft YaHei"/>
              </a:rPr>
              <a:t>同口径对齐</a:t>
            </a:r>
            <a:endParaRPr/>
          </a:p>
        </p:txBody>
      </p:sp>
      <p:sp>
        <p:nvSpPr>
          <p:cNvPr id="348" name=""/>
          <p:cNvSpPr/>
          <p:nvPr/>
        </p:nvSpPr>
        <p:spPr>
          <a:xfrm rot="0" flipH="0" flipV="0">
            <a:off x="609600" y="3829050"/>
            <a:ext cx="3810000" cy="657225"/>
          </a:xfrm>
          <a:prstGeom prst="roundRect">
            <a:avLst>
              <a:gd name="adj" fmla="val 11594"/>
            </a:avLst>
          </a:prstGeom>
          <a:ln w="12700">
            <a:solidFill>
              <a:srgbClr val="123B63"/>
            </a:solidFill>
            <a:prstDash val="solid"/>
          </a:ln>
        </p:spPr>
        <p:txBody>
          <a:bodyPr/>
          <a:p/>
        </p:txBody>
      </p:sp>
      <p:sp>
        <p:nvSpPr>
          <p:cNvPr id="349" name="" descr="{&quot;isTemplate&quot;:true,&quot;type&quot;:&quot;text&quot;}"/>
          <p:cNvSpPr txBox="1"/>
          <p:nvPr/>
        </p:nvSpPr>
        <p:spPr>
          <a:xfrm rot="0" flipH="0" flipV="0">
            <a:off x="742950" y="3924300"/>
            <a:ext cx="3543300" cy="4667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900">
                <a:solidFill>
                  <a:srgbClr val="94A3B8"/>
                </a:solidFill>
                <a:latin typeface="Microsoft YaHei"/>
                <a:ea typeface="Microsoft YaHei"/>
              </a:rPr>
              <a:t>唯一回退月份：</a:t>
            </a:r>
            <a:r>
              <a:rPr lang="en-US" sz="900">
                <a:solidFill>
                  <a:srgbClr val="94A3B8"/>
                </a:solidFill>
                <a:latin typeface="Microsoft YaHei"/>
                <a:ea typeface="Microsoft YaHei"/>
              </a:rPr>
              <a:t>2016-07</a:t>
            </a:r>
            <a:r>
              <a:rPr lang="zh-CN" sz="900">
                <a:solidFill>
                  <a:srgbClr val="94A3B8"/>
                </a:solidFill>
                <a:latin typeface="Microsoft YaHei"/>
                <a:ea typeface="Microsoft YaHei"/>
              </a:rPr>
              <a:t>（</a:t>
            </a:r>
            <a:r>
              <a:rPr lang="en-US" sz="900">
                <a:solidFill>
                  <a:srgbClr val="94A3B8"/>
                </a:solidFill>
                <a:latin typeface="Microsoft YaHei"/>
                <a:ea typeface="Microsoft YaHei"/>
              </a:rPr>
              <a:t>WAPE +0.02 pp</a:t>
            </a:r>
            <a:r>
              <a:rPr lang="zh-CN" sz="900">
                <a:solidFill>
                  <a:srgbClr val="94A3B8"/>
                </a:solidFill>
                <a:latin typeface="Microsoft YaHei"/>
                <a:ea typeface="Microsoft YaHei"/>
              </a:rPr>
              <a:t>）——</a:t>
            </a:r>
            <a:r>
              <a:rPr lang="en-US" sz="900">
                <a:solidFill>
                  <a:srgbClr val="94A3B8"/>
                </a:solidFill>
                <a:latin typeface="Microsoft YaHei"/>
                <a:ea typeface="Microsoft YaHei"/>
              </a:rPr>
              <a:t>32 </a:t>
            </a:r>
            <a:r>
              <a:rPr lang="zh-CN" sz="900">
                <a:solidFill>
                  <a:srgbClr val="94A3B8"/>
                </a:solidFill>
                <a:latin typeface="Microsoft YaHei"/>
                <a:ea typeface="Microsoft YaHei"/>
              </a:rPr>
              <a:t>个月中仅</a:t>
            </a:r>
            <a:r>
              <a:rPr lang="en-US" sz="900">
                <a:solidFill>
                  <a:srgbClr val="94A3B8"/>
                </a:solidFill>
                <a:latin typeface="Microsoft YaHei"/>
                <a:ea typeface="Microsoft YaHei"/>
              </a:rPr>
              <a:t> 1 </a:t>
            </a:r>
            <a:r>
              <a:rPr lang="zh-CN" sz="900">
                <a:solidFill>
                  <a:srgbClr val="94A3B8"/>
                </a:solidFill>
                <a:latin typeface="Microsoft YaHei"/>
                <a:ea typeface="Microsoft YaHei"/>
              </a:rPr>
              <a:t>次略差，仍纳入统计、不做剔除。</a:t>
            </a:r>
            <a:endParaRPr/>
          </a:p>
        </p:txBody>
      </p:sp>
      <p:sp>
        <p:nvSpPr>
          <p:cNvPr id="350" name="" descr="{&quot;isTemplate&quot;:true,&quot;type&quot;:&quot;text&quot;}"/>
          <p:cNvSpPr txBox="1"/>
          <p:nvPr/>
        </p:nvSpPr>
        <p:spPr>
          <a:xfrm rot="0" flipH="0" flipV="0">
            <a:off x="609600" y="6143625"/>
            <a:ext cx="3810000" cy="276225"/>
          </a:xfrm>
          <a:prstGeom prst="rect"/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zh-CN" sz="975">
                <a:solidFill>
                  <a:srgbClr val="94A3B8"/>
                </a:solidFill>
                <a:latin typeface="Microsoft YaHei"/>
                <a:ea typeface="Microsoft YaHei"/>
              </a:rPr>
              <a:t>改善不靠更换模型——在相同模型条件下，由持续学习获得。</a:t>
            </a:r>
            <a:endParaRPr/>
          </a:p>
        </p:txBody>
      </p:sp>
      <p:sp>
        <p:nvSpPr>
          <p:cNvPr id="351" name=""/>
          <p:cNvSpPr/>
          <p:nvPr/>
        </p:nvSpPr>
        <p:spPr>
          <a:xfrm rot="0" flipH="0" flipV="0">
            <a:off x="4800600" y="1228725"/>
            <a:ext cx="6781800" cy="5191125"/>
          </a:xfrm>
          <a:prstGeom prst="roundRect">
            <a:avLst>
              <a:gd name="adj" fmla="val 2569"/>
            </a:avLst>
          </a:prstGeom>
          <a:solidFill>
            <a:srgbClr val="123B63"/>
          </a:solidFill>
          <a:ln/>
        </p:spPr>
        <p:txBody>
          <a:bodyPr/>
          <a:p/>
        </p:txBody>
      </p:sp>
      <p:sp>
        <p:nvSpPr>
          <p:cNvPr id="352" name="" descr="{&quot;isTemplate&quot;:true,&quot;type&quot;:&quot;text&quot;}"/>
          <p:cNvSpPr txBox="1"/>
          <p:nvPr/>
        </p:nvSpPr>
        <p:spPr>
          <a:xfrm rot="0" flipH="0" flipV="0">
            <a:off x="5010150" y="1447800"/>
            <a:ext cx="11049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88" b="1">
                <a:solidFill>
                  <a:srgbClr val="F8FAFC"/>
                </a:solidFill>
                <a:latin typeface="Microsoft YaHei"/>
                <a:ea typeface="Microsoft YaHei"/>
              </a:rPr>
              <a:t>WAPE</a:t>
            </a:r>
            <a:r>
              <a:rPr lang="zh-CN" sz="1088" b="1">
                <a:solidFill>
                  <a:srgbClr val="F8FAFC"/>
                </a:solidFill>
                <a:latin typeface="Microsoft YaHei"/>
                <a:ea typeface="Microsoft YaHei"/>
              </a:rPr>
              <a:t>｜越低越好</a:t>
            </a:r>
            <a:endParaRPr/>
          </a:p>
        </p:txBody>
      </p:sp>
      <p:sp>
        <p:nvSpPr>
          <p:cNvPr id="353" name=""/>
          <p:cNvSpPr/>
          <p:nvPr/>
        </p:nvSpPr>
        <p:spPr>
          <a:xfrm rot="0" flipH="0" flipV="0">
            <a:off x="10563225" y="1438275"/>
            <a:ext cx="809625" cy="180975"/>
          </a:xfrm>
          <a:prstGeom prst="roundRect">
            <a:avLst>
              <a:gd name="adj" fmla="val 5257895"/>
            </a:avLst>
          </a:prstGeom>
          <a:ln w="12700">
            <a:solidFill>
              <a:srgbClr val="22D3EE"/>
            </a:solidFill>
            <a:prstDash val="solid"/>
          </a:ln>
        </p:spPr>
        <p:txBody>
          <a:bodyPr/>
          <a:p/>
        </p:txBody>
      </p:sp>
      <p:sp>
        <p:nvSpPr>
          <p:cNvPr id="354" name="" descr="{&quot;isTemplate&quot;:true,&quot;type&quot;:&quot;text&quot;}"/>
          <p:cNvSpPr txBox="1"/>
          <p:nvPr/>
        </p:nvSpPr>
        <p:spPr>
          <a:xfrm rot="0" flipH="0" flipV="0">
            <a:off x="10658475" y="1457325"/>
            <a:ext cx="6191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38" b="1">
                <a:solidFill>
                  <a:srgbClr val="22D3EE"/>
                </a:solidFill>
                <a:latin typeface="Microsoft YaHei"/>
                <a:ea typeface="Microsoft YaHei"/>
              </a:rPr>
              <a:t>−0.2176 pp</a:t>
            </a:r>
            <a:endParaRPr/>
          </a:p>
        </p:txBody>
      </p:sp>
      <p:sp>
        <p:nvSpPr>
          <p:cNvPr id="355" name="" descr="{&quot;isTemplate&quot;:true,&quot;type&quot;:&quot;text&quot;}"/>
          <p:cNvSpPr txBox="1"/>
          <p:nvPr/>
        </p:nvSpPr>
        <p:spPr>
          <a:xfrm rot="0" flipH="0" flipV="0">
            <a:off x="5010150" y="1743075"/>
            <a:ext cx="7239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>
                <a:solidFill>
                  <a:srgbClr val="94A3B8"/>
                </a:solidFill>
                <a:latin typeface="Microsoft YaHei"/>
                <a:ea typeface="Microsoft YaHei"/>
              </a:rPr>
              <a:t>静态模型</a:t>
            </a:r>
            <a:endParaRPr/>
          </a:p>
        </p:txBody>
      </p:sp>
      <p:sp>
        <p:nvSpPr>
          <p:cNvPr id="356" name="" descr="{&quot;isTemplate&quot;:true,&quot;type&quot;:&quot;text&quot;}"/>
          <p:cNvSpPr txBox="1"/>
          <p:nvPr/>
        </p:nvSpPr>
        <p:spPr>
          <a:xfrm rot="0" flipH="0" flipV="0">
            <a:off x="9753600" y="1743075"/>
            <a:ext cx="4762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38" b="1">
                <a:solidFill>
                  <a:srgbClr val="F8FAFC"/>
                </a:solidFill>
                <a:latin typeface="Microsoft YaHei"/>
                <a:ea typeface="Microsoft YaHei"/>
              </a:rPr>
              <a:t>3.8876%</a:t>
            </a:r>
            <a:endParaRPr/>
          </a:p>
        </p:txBody>
      </p:sp>
      <p:sp>
        <p:nvSpPr>
          <p:cNvPr id="357" name="" descr="{&quot;isTemplate&quot;:true,&quot;type&quot;:&quot;text&quot;}"/>
          <p:cNvSpPr txBox="1"/>
          <p:nvPr/>
        </p:nvSpPr>
        <p:spPr>
          <a:xfrm rot="0" flipH="0" flipV="0">
            <a:off x="5010150" y="2009775"/>
            <a:ext cx="7239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>
                <a:solidFill>
                  <a:srgbClr val="F8FAFC"/>
                </a:solidFill>
                <a:latin typeface="Microsoft YaHei"/>
                <a:ea typeface="Microsoft YaHei"/>
              </a:rPr>
              <a:t>持续学习</a:t>
            </a:r>
            <a:endParaRPr/>
          </a:p>
        </p:txBody>
      </p:sp>
      <p:sp>
        <p:nvSpPr>
          <p:cNvPr id="358" name="" descr="{&quot;isTemplate&quot;:true,&quot;type&quot;:&quot;text&quot;}"/>
          <p:cNvSpPr txBox="1"/>
          <p:nvPr/>
        </p:nvSpPr>
        <p:spPr>
          <a:xfrm rot="0" flipH="0" flipV="0">
            <a:off x="9753600" y="2009775"/>
            <a:ext cx="4762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38" b="1">
                <a:solidFill>
                  <a:srgbClr val="22D3EE"/>
                </a:solidFill>
                <a:latin typeface="Microsoft YaHei"/>
                <a:ea typeface="Microsoft YaHei"/>
              </a:rPr>
              <a:t>3.6700%</a:t>
            </a:r>
            <a:endParaRPr/>
          </a:p>
        </p:txBody>
      </p:sp>
      <p:sp>
        <p:nvSpPr>
          <p:cNvPr id="359" name=""/>
          <p:cNvSpPr/>
          <p:nvPr/>
        </p:nvSpPr>
        <p:spPr>
          <a:xfrm rot="0" flipH="0" flipV="0">
            <a:off x="5010150" y="2305050"/>
            <a:ext cx="6362700" cy="9525"/>
          </a:xfrm>
          <a:prstGeom prst="rect">
            <a:avLst/>
          </a:prstGeom>
          <a:solidFill>
            <a:srgbClr val="0A1D37"/>
          </a:solidFill>
          <a:ln/>
        </p:spPr>
        <p:txBody>
          <a:bodyPr/>
          <a:p/>
        </p:txBody>
      </p:sp>
      <p:sp>
        <p:nvSpPr>
          <p:cNvPr id="360" name="" descr="{&quot;isTemplate&quot;:true,&quot;type&quot;:&quot;text&quot;}"/>
          <p:cNvSpPr txBox="1"/>
          <p:nvPr/>
        </p:nvSpPr>
        <p:spPr>
          <a:xfrm rot="0" flipH="0" flipV="0">
            <a:off x="5010150" y="2457450"/>
            <a:ext cx="10001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88" b="1">
                <a:solidFill>
                  <a:srgbClr val="F8FAFC"/>
                </a:solidFill>
                <a:latin typeface="Microsoft YaHei"/>
                <a:ea typeface="Microsoft YaHei"/>
              </a:rPr>
              <a:t>MAE</a:t>
            </a:r>
            <a:r>
              <a:rPr lang="zh-CN" sz="1088" b="1">
                <a:solidFill>
                  <a:srgbClr val="F8FAFC"/>
                </a:solidFill>
                <a:latin typeface="Microsoft YaHei"/>
                <a:ea typeface="Microsoft YaHei"/>
              </a:rPr>
              <a:t>｜越低越好</a:t>
            </a:r>
            <a:endParaRPr/>
          </a:p>
        </p:txBody>
      </p:sp>
      <p:sp>
        <p:nvSpPr>
          <p:cNvPr id="361" name=""/>
          <p:cNvSpPr/>
          <p:nvPr/>
        </p:nvSpPr>
        <p:spPr>
          <a:xfrm rot="0" flipH="0" flipV="0">
            <a:off x="10563225" y="2447925"/>
            <a:ext cx="809625" cy="180975"/>
          </a:xfrm>
          <a:prstGeom prst="roundRect">
            <a:avLst>
              <a:gd name="adj" fmla="val 5257895"/>
            </a:avLst>
          </a:prstGeom>
          <a:ln w="12700">
            <a:solidFill>
              <a:srgbClr val="22D3EE"/>
            </a:solidFill>
            <a:prstDash val="solid"/>
          </a:ln>
        </p:spPr>
        <p:txBody>
          <a:bodyPr/>
          <a:p/>
        </p:txBody>
      </p:sp>
      <p:sp>
        <p:nvSpPr>
          <p:cNvPr id="362" name="" descr="{&quot;isTemplate&quot;:true,&quot;type&quot;:&quot;text&quot;}"/>
          <p:cNvSpPr txBox="1"/>
          <p:nvPr/>
        </p:nvSpPr>
        <p:spPr>
          <a:xfrm rot="0" flipH="0" flipV="0">
            <a:off x="10658475" y="2466975"/>
            <a:ext cx="6191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38" b="1">
                <a:solidFill>
                  <a:srgbClr val="22D3EE"/>
                </a:solidFill>
                <a:latin typeface="Microsoft YaHei"/>
                <a:ea typeface="Microsoft YaHei"/>
              </a:rPr>
              <a:t>−20.34 MW</a:t>
            </a:r>
            <a:endParaRPr/>
          </a:p>
        </p:txBody>
      </p:sp>
      <p:sp>
        <p:nvSpPr>
          <p:cNvPr id="363" name="" descr="{&quot;isTemplate&quot;:true,&quot;type&quot;:&quot;text&quot;}"/>
          <p:cNvSpPr txBox="1"/>
          <p:nvPr/>
        </p:nvSpPr>
        <p:spPr>
          <a:xfrm rot="0" flipH="0" flipV="0">
            <a:off x="5010150" y="2752725"/>
            <a:ext cx="7239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>
                <a:solidFill>
                  <a:srgbClr val="94A3B8"/>
                </a:solidFill>
                <a:latin typeface="Microsoft YaHei"/>
                <a:ea typeface="Microsoft YaHei"/>
              </a:rPr>
              <a:t>静态模型</a:t>
            </a:r>
            <a:endParaRPr/>
          </a:p>
        </p:txBody>
      </p:sp>
      <p:sp>
        <p:nvSpPr>
          <p:cNvPr id="364" name="" descr="{&quot;isTemplate&quot;:true,&quot;type&quot;:&quot;text&quot;}"/>
          <p:cNvSpPr txBox="1"/>
          <p:nvPr/>
        </p:nvSpPr>
        <p:spPr>
          <a:xfrm rot="0" flipH="0" flipV="0">
            <a:off x="9753600" y="2752725"/>
            <a:ext cx="3714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38" b="1">
                <a:solidFill>
                  <a:srgbClr val="F8FAFC"/>
                </a:solidFill>
                <a:latin typeface="Microsoft YaHei"/>
                <a:ea typeface="Microsoft YaHei"/>
              </a:rPr>
              <a:t>363.33</a:t>
            </a:r>
            <a:endParaRPr/>
          </a:p>
        </p:txBody>
      </p:sp>
      <p:sp>
        <p:nvSpPr>
          <p:cNvPr id="365" name="" descr="{&quot;isTemplate&quot;:true,&quot;type&quot;:&quot;text&quot;}"/>
          <p:cNvSpPr txBox="1"/>
          <p:nvPr/>
        </p:nvSpPr>
        <p:spPr>
          <a:xfrm rot="0" flipH="0" flipV="0">
            <a:off x="5010150" y="3019425"/>
            <a:ext cx="7239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>
                <a:solidFill>
                  <a:srgbClr val="F8FAFC"/>
                </a:solidFill>
                <a:latin typeface="Microsoft YaHei"/>
                <a:ea typeface="Microsoft YaHei"/>
              </a:rPr>
              <a:t>持续学习</a:t>
            </a:r>
            <a:endParaRPr/>
          </a:p>
        </p:txBody>
      </p:sp>
      <p:sp>
        <p:nvSpPr>
          <p:cNvPr id="366" name="" descr="{&quot;isTemplate&quot;:true,&quot;type&quot;:&quot;text&quot;}"/>
          <p:cNvSpPr txBox="1"/>
          <p:nvPr/>
        </p:nvSpPr>
        <p:spPr>
          <a:xfrm rot="0" flipH="0" flipV="0">
            <a:off x="9753600" y="3019425"/>
            <a:ext cx="3714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38" b="1">
                <a:solidFill>
                  <a:srgbClr val="22D3EE"/>
                </a:solidFill>
                <a:latin typeface="Microsoft YaHei"/>
                <a:ea typeface="Microsoft YaHei"/>
              </a:rPr>
              <a:t>342.99</a:t>
            </a:r>
            <a:endParaRPr/>
          </a:p>
        </p:txBody>
      </p:sp>
      <p:sp>
        <p:nvSpPr>
          <p:cNvPr id="367" name=""/>
          <p:cNvSpPr/>
          <p:nvPr/>
        </p:nvSpPr>
        <p:spPr>
          <a:xfrm rot="0" flipH="0" flipV="0">
            <a:off x="5010150" y="3314700"/>
            <a:ext cx="6362700" cy="9525"/>
          </a:xfrm>
          <a:prstGeom prst="rect">
            <a:avLst/>
          </a:prstGeom>
          <a:solidFill>
            <a:srgbClr val="0A1D37"/>
          </a:solidFill>
          <a:ln/>
        </p:spPr>
        <p:txBody>
          <a:bodyPr/>
          <a:p/>
        </p:txBody>
      </p:sp>
      <p:sp>
        <p:nvSpPr>
          <p:cNvPr id="368" name="" descr="{&quot;isTemplate&quot;:true,&quot;type&quot;:&quot;text&quot;}"/>
          <p:cNvSpPr txBox="1"/>
          <p:nvPr/>
        </p:nvSpPr>
        <p:spPr>
          <a:xfrm rot="0" flipH="0" flipV="0">
            <a:off x="5010150" y="3457575"/>
            <a:ext cx="10382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88" b="1">
                <a:solidFill>
                  <a:srgbClr val="F8FAFC"/>
                </a:solidFill>
                <a:latin typeface="Microsoft YaHei"/>
                <a:ea typeface="Microsoft YaHei"/>
              </a:rPr>
              <a:t>月度</a:t>
            </a:r>
            <a:r>
              <a:rPr lang="en-US" sz="1088" b="1">
                <a:solidFill>
                  <a:srgbClr val="F8FAFC"/>
                </a:solidFill>
                <a:latin typeface="Microsoft YaHei"/>
                <a:ea typeface="Microsoft YaHei"/>
              </a:rPr>
              <a:t> WAPE </a:t>
            </a:r>
            <a:r>
              <a:rPr lang="zh-CN" sz="1088" b="1">
                <a:solidFill>
                  <a:srgbClr val="F8FAFC"/>
                </a:solidFill>
                <a:latin typeface="Microsoft YaHei"/>
                <a:ea typeface="Microsoft YaHei"/>
              </a:rPr>
              <a:t>走势</a:t>
            </a:r>
            <a:endParaRPr/>
          </a:p>
        </p:txBody>
      </p:sp>
      <p:sp>
        <p:nvSpPr>
          <p:cNvPr id="369" name="" descr="{&quot;isTemplate&quot;:true,&quot;type&quot;:&quot;text&quot;}"/>
          <p:cNvSpPr txBox="1"/>
          <p:nvPr/>
        </p:nvSpPr>
        <p:spPr>
          <a:xfrm rot="0" flipH="0" flipV="0">
            <a:off x="6162675" y="3476625"/>
            <a:ext cx="21717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63">
                <a:solidFill>
                  <a:srgbClr val="94A3B8"/>
                </a:solidFill>
                <a:latin typeface="Microsoft YaHei"/>
                <a:ea typeface="Microsoft YaHei"/>
              </a:rPr>
              <a:t>2016-01 → 2018-08 · </a:t>
            </a:r>
            <a:r>
              <a:rPr lang="zh-CN" sz="863">
                <a:solidFill>
                  <a:srgbClr val="94A3B8"/>
                </a:solidFill>
                <a:latin typeface="Microsoft YaHei"/>
                <a:ea typeface="Microsoft YaHei"/>
              </a:rPr>
              <a:t>动态模型长期低于静态</a:t>
            </a:r>
            <a:endParaRPr/>
          </a:p>
        </p:txBody>
      </p:sp>
      <p:graphicFrame>
        <p:nvGraphicFramePr>
          <p:cNvPr id="370" name="370"/>
          <p:cNvGraphicFramePr/>
          <p:nvPr/>
        </p:nvGraphicFramePr>
        <p:xfrm rot="0" flipH="0" flipV="0">
          <a:off x="5010150" y="3686175"/>
          <a:ext cx="6362700" cy="1905000"/>
        </p:xfrm>
        <a:graphic>
          <a:graphicData uri="http://schemas.openxmlformats.org/drawingml/2006/chart">
            <c:chart r:id="rId0"/>
          </a:graphicData>
        </a:graphic>
      </p:graphicFrame>
      <p:sp>
        <p:nvSpPr>
          <p:cNvPr id="371" name="" descr="{&quot;isTemplate&quot;:true,&quot;type&quot;:&quot;text&quot;}"/>
          <p:cNvSpPr txBox="1"/>
          <p:nvPr/>
        </p:nvSpPr>
        <p:spPr>
          <a:xfrm rot="0" flipH="0" flipV="0">
            <a:off x="609600" y="6562725"/>
            <a:ext cx="66579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63">
                <a:solidFill>
                  <a:srgbClr val="94A3B8"/>
                </a:solidFill>
                <a:latin typeface="Microsoft YaHei"/>
                <a:ea typeface="Microsoft YaHei"/>
              </a:rPr>
              <a:t>Source: monthly_static_dynamic_validation_metrics.csv · 68,040 </a:t>
            </a:r>
            <a:r>
              <a:rPr lang="zh-CN" sz="863">
                <a:solidFill>
                  <a:srgbClr val="94A3B8"/>
                </a:solidFill>
                <a:latin typeface="Microsoft YaHei"/>
                <a:ea typeface="Microsoft YaHei"/>
              </a:rPr>
              <a:t>共有预测主键</a:t>
            </a:r>
            <a:r>
              <a:rPr lang="en-US" sz="863">
                <a:solidFill>
                  <a:srgbClr val="94A3B8"/>
                </a:solidFill>
                <a:latin typeface="Microsoft YaHei"/>
                <a:ea typeface="Microsoft YaHei"/>
              </a:rPr>
              <a:t> · </a:t>
            </a:r>
            <a:r>
              <a:rPr lang="zh-CN" sz="863">
                <a:solidFill>
                  <a:srgbClr val="94A3B8"/>
                </a:solidFill>
                <a:latin typeface="Microsoft YaHei"/>
                <a:ea typeface="Microsoft YaHei"/>
              </a:rPr>
              <a:t>按纽约本地预测月份统计</a:t>
            </a:r>
            <a:r>
              <a:rPr lang="en-US" sz="863">
                <a:solidFill>
                  <a:srgbClr val="94A3B8"/>
                </a:solidFill>
                <a:latin typeface="Microsoft YaHei"/>
                <a:ea typeface="Microsoft YaHei"/>
              </a:rPr>
              <a:t> · </a:t>
            </a:r>
            <a:r>
              <a:rPr lang="zh-CN" sz="863">
                <a:solidFill>
                  <a:srgbClr val="94A3B8"/>
                </a:solidFill>
                <a:latin typeface="Microsoft YaHei"/>
                <a:ea typeface="Microsoft YaHei"/>
              </a:rPr>
              <a:t>验证集结果，非真实生产承诺</a:t>
            </a:r>
            <a:endParaRPr/>
          </a:p>
        </p:txBody>
      </p:sp>
      <p:sp>
        <p:nvSpPr>
          <p:cNvPr id="372" name=""/>
          <p:cNvSpPr/>
          <p:nvPr/>
        </p:nvSpPr>
        <p:spPr>
          <a:xfrm rot="0" flipH="0" flipV="0">
            <a:off x="10677525" y="6581775"/>
            <a:ext cx="95250" cy="95250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p/>
        </p:txBody>
      </p:sp>
      <p:sp>
        <p:nvSpPr>
          <p:cNvPr id="373" name="" descr="{&quot;isTemplate&quot;:true,&quot;type&quot;:&quot;text&quot;}"/>
          <p:cNvSpPr txBox="1"/>
          <p:nvPr/>
        </p:nvSpPr>
        <p:spPr>
          <a:xfrm rot="0" flipH="0" flipV="0">
            <a:off x="10848975" y="6553200"/>
            <a:ext cx="7334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94A3B8"/>
                </a:solidFill>
                <a:latin typeface="Microsoft YaHei"/>
                <a:ea typeface="Microsoft YaHei"/>
              </a:rPr>
              <a:t>CLE · 06 / 07</a:t>
            </a:r>
            <a:endParaRPr/>
          </a:p>
        </p:txBody>
      </p:sp>
      <p:sp>
        <p:nvSpPr>
          <p:cNvPr id="374" name=""/>
          <p:cNvSpPr/>
          <p:nvPr/>
        </p:nvSpPr>
        <p:spPr>
          <a:xfrm rot="0" flipH="0" flipV="0">
            <a:off x="5810250" y="1714500"/>
            <a:ext cx="3810000" cy="190500"/>
          </a:xfrm>
          <a:prstGeom prst="roundRect">
            <a:avLst>
              <a:gd name="adj" fmla="val 20000"/>
            </a:avLst>
          </a:prstGeom>
          <a:solidFill>
            <a:srgbClr val="0A1D37"/>
          </a:solidFill>
          <a:ln/>
        </p:spPr>
        <p:txBody>
          <a:bodyPr/>
          <a:p/>
        </p:txBody>
      </p:sp>
      <p:sp>
        <p:nvSpPr>
          <p:cNvPr id="375" name=""/>
          <p:cNvSpPr/>
          <p:nvPr/>
        </p:nvSpPr>
        <p:spPr>
          <a:xfrm rot="0" flipH="0" flipV="0">
            <a:off x="5810250" y="1714500"/>
            <a:ext cx="3714750" cy="190500"/>
          </a:xfrm>
          <a:prstGeom prst="roundRect">
            <a:avLst>
              <a:gd name="adj" fmla="val 20000"/>
            </a:avLst>
          </a:prstGeom>
          <a:solidFill>
            <a:srgbClr val="94A3B8"/>
          </a:solidFill>
          <a:ln/>
        </p:spPr>
        <p:txBody>
          <a:bodyPr/>
          <a:p/>
        </p:txBody>
      </p:sp>
      <p:sp>
        <p:nvSpPr>
          <p:cNvPr id="376" name=""/>
          <p:cNvSpPr/>
          <p:nvPr/>
        </p:nvSpPr>
        <p:spPr>
          <a:xfrm rot="0" flipH="0" flipV="0">
            <a:off x="5810250" y="1981200"/>
            <a:ext cx="3810000" cy="190500"/>
          </a:xfrm>
          <a:prstGeom prst="roundRect">
            <a:avLst>
              <a:gd name="adj" fmla="val 20000"/>
            </a:avLst>
          </a:prstGeom>
          <a:solidFill>
            <a:srgbClr val="0A1D37"/>
          </a:solidFill>
          <a:ln/>
        </p:spPr>
        <p:txBody>
          <a:bodyPr/>
          <a:p/>
        </p:txBody>
      </p:sp>
      <p:sp>
        <p:nvSpPr>
          <p:cNvPr id="377" name=""/>
          <p:cNvSpPr/>
          <p:nvPr/>
        </p:nvSpPr>
        <p:spPr>
          <a:xfrm rot="0" flipH="0" flipV="0">
            <a:off x="5810250" y="1981200"/>
            <a:ext cx="3505200" cy="190500"/>
          </a:xfrm>
          <a:prstGeom prst="roundRect">
            <a:avLst>
              <a:gd name="adj" fmla="val 20000"/>
            </a:avLst>
          </a:prstGeom>
          <a:solidFill>
            <a:srgbClr val="22D3EE"/>
          </a:solidFill>
          <a:ln/>
        </p:spPr>
        <p:txBody>
          <a:bodyPr/>
          <a:p/>
        </p:txBody>
      </p:sp>
      <p:sp>
        <p:nvSpPr>
          <p:cNvPr id="378" name=""/>
          <p:cNvSpPr/>
          <p:nvPr/>
        </p:nvSpPr>
        <p:spPr>
          <a:xfrm rot="0" flipH="0" flipV="0">
            <a:off x="5810250" y="2724150"/>
            <a:ext cx="3810000" cy="190500"/>
          </a:xfrm>
          <a:prstGeom prst="roundRect">
            <a:avLst>
              <a:gd name="adj" fmla="val 20000"/>
            </a:avLst>
          </a:prstGeom>
          <a:solidFill>
            <a:srgbClr val="0A1D37"/>
          </a:solidFill>
          <a:ln/>
        </p:spPr>
        <p:txBody>
          <a:bodyPr/>
          <a:p/>
        </p:txBody>
      </p:sp>
      <p:sp>
        <p:nvSpPr>
          <p:cNvPr id="379" name=""/>
          <p:cNvSpPr/>
          <p:nvPr/>
        </p:nvSpPr>
        <p:spPr>
          <a:xfrm rot="0" flipH="0" flipV="0">
            <a:off x="5810250" y="2724150"/>
            <a:ext cx="3457575" cy="190500"/>
          </a:xfrm>
          <a:prstGeom prst="roundRect">
            <a:avLst>
              <a:gd name="adj" fmla="val 20000"/>
            </a:avLst>
          </a:prstGeom>
          <a:solidFill>
            <a:srgbClr val="94A3B8"/>
          </a:solidFill>
          <a:ln/>
        </p:spPr>
        <p:txBody>
          <a:bodyPr/>
          <a:p/>
        </p:txBody>
      </p:sp>
      <p:sp>
        <p:nvSpPr>
          <p:cNvPr id="380" name=""/>
          <p:cNvSpPr/>
          <p:nvPr/>
        </p:nvSpPr>
        <p:spPr>
          <a:xfrm rot="0" flipH="0" flipV="0">
            <a:off x="5810250" y="2990850"/>
            <a:ext cx="3810000" cy="190500"/>
          </a:xfrm>
          <a:prstGeom prst="roundRect">
            <a:avLst>
              <a:gd name="adj" fmla="val 20000"/>
            </a:avLst>
          </a:prstGeom>
          <a:solidFill>
            <a:srgbClr val="0A1D37"/>
          </a:solidFill>
          <a:ln/>
        </p:spPr>
        <p:txBody>
          <a:bodyPr/>
          <a:p/>
        </p:txBody>
      </p:sp>
      <p:sp>
        <p:nvSpPr>
          <p:cNvPr id="381" name=""/>
          <p:cNvSpPr/>
          <p:nvPr/>
        </p:nvSpPr>
        <p:spPr>
          <a:xfrm rot="0" flipH="0" flipV="0">
            <a:off x="5810250" y="2990850"/>
            <a:ext cx="3267075" cy="190500"/>
          </a:xfrm>
          <a:prstGeom prst="roundRect">
            <a:avLst>
              <a:gd name="adj" fmla="val 20000"/>
            </a:avLst>
          </a:prstGeom>
          <a:solidFill>
            <a:srgbClr val="22D3EE"/>
          </a:solidFill>
          <a:ln/>
        </p:spPr>
        <p:txBody>
          <a:bodyPr/>
          <a:p/>
        </p:txBody>
      </p:sp>
    </p:spTree>
  </p:cSld>
</p:sld>
</file>

<file path=ppt/slides/slide7.xml><?xml version="1.0" encoding="utf-8"?>
<p:sld xmlns:a="http://schemas.openxmlformats.org/drawingml/2006/main" xmlns:p="http://schemas.openxmlformats.org/presentationml/2006/main">
  <p:cSld>
    <p:spTree>
      <p:nvGrpSpPr>
        <p:cNvPr id="382" name="" descr="&lt;Slide style={{ width: 1280, height: 720, background: '#0A1D37', display: 'flex', flexDirection: 'column', padding: '42px 64px 16px 64px' }}&gt;&#10;    &lt;Text style={{ fontSize: 14, color: '#22D3EE', letterSpacing: 3 }}&gt;路线图 · 未来 100 天&lt;/Text&gt;&#10;    &lt;Text style={{ fontSize: 33, fontWeight: 'bold', color: '#F8FAFC', marginTop: 8 }}&gt;先补强工具，再以科研项目验证价值&lt;/Text&gt;&#10;&#10;    &lt;Box style={{ flexDirection: 'row', gap: 28, flex: 1, marginTop: 22, alignItems: 'flex-start' }}&gt;&#10;        &lt;Box style={{ width: 400, display: 'flex', flexDirection: 'column' }}&gt;&#10;            &lt;Box style={{ flexDirection: 'row', alignItems: 'center', gap: 12 }}&gt;&#10;                &lt;Box style={{ borderLeft: '4px solid #22D3EE', paddingLeft: 10 }}&gt;&#10;                    &lt;Text style={{ fontSize: 15, fontWeight: 'bold', color: '#F8FAFC' }}&gt;技术 · 补强工具&lt;/Text&gt;&#10;                &lt;/Box&gt;&#10;                &lt;Box style={{ padding: '2px 10px', border: '1px solid #123B63', borderRadius: 999 }}&gt;&#10;                    &lt;Text style={{ fontSize: 11.5, color: '#94A3B8' }}&gt;产出：可比较的候选方案集&lt;/Text&gt;&#10;                &lt;/Box&gt;&#10;            &lt;/Box&gt;&#10;            &lt;Box style={{ flexDirection: 'column', gap: 12, marginTop: 14 }}&gt;&#10;                &lt;Box style={{ background: '#123B63', borderRadius: 8, padding: '12px 16px', flexDirection: 'row', alignItems: 'center', gap: 14 }}&gt;&#10;                    &lt;Text style={{ fontSize: 20, fontWeight: 'bold', color: '#22D3EE', fontFamily: 'Space Grotesk, Inter, sans-serif' }}&gt;1&lt;/Text&gt;&#10;                    &lt;Box style={{ flex: 1 }}&gt;&#10;                        &lt;Text style={{ fontSize: 14, color: '#F8FAFC' }}&gt;补足当前有限的 EDM 方法&lt;/Text&gt;&#10;                        &lt;Text style={{ fontSize: 11.5, color: '#94A3B8', marginTop: 3 }}&gt;漂移检测更敏感，减少漏判&lt;/Text&gt;&#10;                    &lt;/Box&gt;&#10;                    &lt;Text style={{ fontSize: 11.5, color: '#22D3EE' }}&gt;0–30 天&lt;/Text&gt;&#10;                &lt;/Box&gt;&#10;                &lt;Box style={{ background: '#123B63', borderRadius: 8, padding: '12px 16px', flexDirection: 'row', alignItems: 'center', gap: 14 }}&gt;&#10;                    &lt;Text style={{ fontSize: 20, fontWeight: 'bold', color: '#22D3EE', fontFamily: 'Space Grotesk, Inter, sans-serif' }}&gt;2&lt;/Text&gt;&#10;                    &lt;Box style={{ flex: 1 }}&gt;&#10;                        &lt;Text style={{ fontSize: 14, color: '#F8FAFC' }}&gt;自然语言调用更多数据分析与训练工具&lt;/Text&gt;&#10;                        &lt;Text style={{ fontSize: 11.5, color: '#94A3B8', marginTop: 3 }}&gt;工具覆盖训练全流程&lt;/Text&gt;&#10;                    &lt;/Box&gt;&#10;                    &lt;Text style={{ fontSize: 11.5, color: '#22D3EE' }}&gt;30–60 天&lt;/Text&gt;&#10;                &lt;/Box&gt;&#10;                &lt;Box style={{ background: '#123B63', borderRadius: 8, padding: '12px 16px', flexDirection: 'row', alignItems: 'center', gap: 14 }}&gt;&#10;                    &lt;Text style={{ fontSize: 20, fontWeight: 'bold', color: '#22D3EE', fontFamily: 'Space Grotesk, Inter, sans-serif' }}&gt;3&lt;/Text&gt;&#10;                    &lt;Box style={{ flex: 1 }}&gt;&#10;                        &lt;Text style={{ fontSize: 14, color: '#F8FAFC' }}&gt;统一时序验证口径下比较候选方案&lt;/Text&gt;&#10;                        &lt;Text style={{ fontSize: 11.5, color: '#94A3B8', marginTop: 3 }}&gt;模型能力可横向对比&lt;/Text&gt;&#10;                    &lt;/Box&gt;&#10;                    &lt;Text style={{ fontSize: 11.5, color: '#22D3EE' }}&gt;60–100 天&lt;/Text&gt;&#10;                &lt;/Box&gt;&#10;            &lt;/Box&gt;&#10;            &lt;Text style={{ fontSize: 12.5, color: '#94A3B8', marginTop: 12, lineHeight: 1.7 }}&gt;模型能力从单一模型，扩展为可比较的候选方案集。&lt;/Text&gt;&#10;        &lt;/Box&gt;&#10;&#10;        &lt;Box style={{ flex: 1, display: 'flex', flexDirection: 'column' }}&gt;&#10;            &lt;Box style={{ flexDirection: 'row', alignItems: 'center', gap: 12 }}&gt;&#10;                &lt;Box style={{ borderLeft: '4px solid #94A3B8', paddingLeft: 10 }}&gt;&#10;                    &lt;Text style={{ fontSize: 15, fontWeight: 'bold', color: '#F8FAFC' }}&gt;商业 · 科研验证&lt;/Text&gt;&#10;                &lt;/Box&gt;&#10;                &lt;Box style={{ padding: '2px 10px', border: '1px solid #123B63', borderRadius: 999 }}&gt;&#10;                    &lt;Text style={{ fontSize: 11.5, color: '#94A3B8' }}&gt;量化收益后再灰度&lt;/Text&gt;&#10;                &lt;/Box&gt;&#10;            &lt;/Box&gt;&#10;            &lt;Box style={{ flexDirection: 'row', alignItems: 'center', marginTop: 14, justifyContent: 'space-between' }}&gt;&#10;                &lt;Box style={{ width: 168, height: 96, background: '#123B63', borderRadius: 8, padding: 12, justifyContent: 'center', alignItems: 'center' }}&gt;&#10;                    &lt;Text style={{ fontSize: 14.5, fontWeight: 'bold', color: '#F8FAFC', textAlign: 'center' }}&gt;① 科研合作&lt;/Text&gt;&#10;                    &lt;Text style={{ fontSize: 11.5, color: '#94A3B8', marginTop: 6, textAlign: 'center' }}&gt;电科院 · 数字电网研究院&lt;/Text&gt;&#10;                &lt;/Box&gt;&#10;                &lt;Text style={{ fontSize: 20, color: '#94A3B8' }}&gt;→&lt;/Text&gt;&#10;                &lt;Box style={{ width: 168, height: 96, background: '#123B63', borderRadius: 8, padding: 12, justifyContent: 'center', alignItems: 'center' }}&gt;&#10;                    &lt;Text style={{ fontSize: 14.5, fontWeight: 'bold', color: '#F8FAFC', textAlign: 'center' }}&gt;② 影子模式验证&lt;/Text&gt;&#10;                    &lt;Text style={{ fontSize: 11.5, color: '#94A3B8', marginTop: 6, textAlign: 'center' }}&gt;接入真实数据&lt;/Text&gt;&#10;                &lt;/Box&gt;&#10;                &lt;Text style={{ fontSize: 20, color: '#94A3B8' }}&gt;→&lt;/Text&gt;&#10;                &lt;Box style={{ width: 168, height: 96, background: '#123B63', borderRadius: 8, padding: 12, justifyContent: 'center', alignItems: 'center' }}&gt;&#10;                    &lt;Text style={{ fontSize: 14.5, fontWeight: 'bold', color: '#F8FAFC', textAlign: 'center' }}&gt;③ 局部试点&lt;/Text&gt;&#10;                    &lt;Text style={{ fontSize: 11.5, color: '#94A3B8', marginTop: 6, textAlign: 'center' }}&gt;量化收益&lt;/Text&gt;&#10;                &lt;/Box&gt;&#10;                &lt;Text style={{ fontSize: 20, color: '#94A3B8' }}&gt;→&lt;/Text&gt;&#10;                &lt;Box style={{ width: 168, height: 96, background: 'rgba(34,211,238,0.14)', border: '1.5px solid #22D3EE', borderRadius: 8, padding: 12, justifyContent: 'center', alignItems: 'center' }}&gt;&#10;                    &lt;Text style={{ fontSize: 14.5, fontWeight: 'bold', color: '#22D3EE', textAlign: 'center' }}&gt;④ 灰度发布&lt;/Text&gt;&#10;                    &lt;Text style={{ fontSize: 11.5, color: '#94A3B8', marginTop: 6, textAlign: 'center' }}&gt;量化后再放量&lt;/Text&gt;&#10;                &lt;/Box&gt;&#10;            &lt;/Box&gt;&#10;            &lt;Text style={{ fontSize: 12.5, color: '#94A3B8', marginTop: 12, lineHeight: 1.7 }}&gt;方法仍较新，不直接进入生产环境——以科技项目形式先行，量化收益后再灰度发布。&lt;/Text&gt;&#10;            &lt;Box style={{ marginTop: 12, border: '1px solid #123B63', borderRadius: 8, padding: '10px 14px' }}&gt;&#10;                &lt;Text style={{ fontSize: 12.5, color: '#CBD5E1', lineHeight: 1.7 }}&gt;100 天目标：工具补强完成 · 签署科研合作 · 影子模式接入真实数据&lt;/Text&gt;&#10;            &lt;/Box&gt;&#10;        &lt;/Box&gt;&#10;    &lt;/Box&gt;&#10;&#10;    &lt;Box style={{ flexDirection: 'row', alignItems: 'center', gap: 18, marginTop: 'auto', marginBottom: 22 }}&gt;&#10;        &lt;Box style={{ width: 6, height: 56, background: '#22D3EE' }} /&gt;&#10;        &lt;Box&gt;&#10;            &lt;Text style={{ fontSize: 25, fontWeight: 'bold', color: '#F8FAFC', lineHeight: 1.5 }}&gt;让负荷预测，从一次性项目，&lt;/Text&gt;&#10;            &lt;Text style={{ fontSize: 25, fontWeight: 'bold', color: '#F8FAFC', lineHeight: 1.5 }}&gt;变成持续自我适应的基础能力。&lt;/Text&gt;&#10;        &lt;/Box&gt;&#10;    &lt;/Box&gt;&#10;&#10;    &lt;Box style={{ flexDirection: 'row', marginTop: 10, alignItems: 'center' }}&gt;&#10;        &lt;Text style={{ fontSize: 12, color: '#64748B' }}&gt;负荷预测持续学习引擎 · 路线图&lt;/Text&gt;&#10;        &lt;Box style={{ marginLeft: 'auto', flexDirection: 'row', alignItems: 'center', gap: 8 }}&gt;&#10;            &lt;Box style={{ width: 10, height: 10, background: '#22D3EE' }} /&gt;&#10;            &lt;Text style={{ fontSize: 13, color: '#94A3B8' }}&gt;CLE · 07 / 07&lt;/Text&gt;&#10;        &lt;/Box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A1D37"/>
          </a:solidFill>
          <a:ln/>
        </p:spPr>
        <p:txBody>
          <a:bodyPr/>
          <a:p/>
        </p:txBody>
      </p:sp>
      <p:sp>
        <p:nvSpPr>
          <p:cNvPr id="384" name="" descr="{&quot;isTemplate&quot;:true,&quot;type&quot;:&quot;text&quot;}"/>
          <p:cNvSpPr txBox="1"/>
          <p:nvPr/>
        </p:nvSpPr>
        <p:spPr>
          <a:xfrm rot="0" flipH="0" flipV="0">
            <a:off x="609600" y="400050"/>
            <a:ext cx="10972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spc="225">
                <a:solidFill>
                  <a:srgbClr val="22D3EE"/>
                </a:solidFill>
                <a:latin typeface="Microsoft YaHei"/>
                <a:ea typeface="Microsoft YaHei"/>
              </a:rPr>
              <a:t>路线图</a:t>
            </a:r>
            <a:r>
              <a:rPr lang="en-US" sz="1050" spc="225">
                <a:solidFill>
                  <a:srgbClr val="22D3EE"/>
                </a:solidFill>
                <a:latin typeface="Microsoft YaHei"/>
                <a:ea typeface="Microsoft YaHei"/>
              </a:rPr>
              <a:t> · </a:t>
            </a:r>
            <a:r>
              <a:rPr lang="zh-CN" sz="1050" spc="225">
                <a:solidFill>
                  <a:srgbClr val="22D3EE"/>
                </a:solidFill>
                <a:latin typeface="Microsoft YaHei"/>
                <a:ea typeface="Microsoft YaHei"/>
              </a:rPr>
              <a:t>未来</a:t>
            </a:r>
            <a:r>
              <a:rPr lang="en-US" sz="1050" spc="225">
                <a:solidFill>
                  <a:srgbClr val="22D3EE"/>
                </a:solidFill>
                <a:latin typeface="Microsoft YaHei"/>
                <a:ea typeface="Microsoft YaHei"/>
              </a:rPr>
              <a:t> 100 </a:t>
            </a:r>
            <a:r>
              <a:rPr lang="zh-CN" sz="1050" spc="225">
                <a:solidFill>
                  <a:srgbClr val="22D3EE"/>
                </a:solidFill>
                <a:latin typeface="Microsoft YaHei"/>
                <a:ea typeface="Microsoft YaHei"/>
              </a:rPr>
              <a:t>天</a:t>
            </a:r>
            <a:endParaRPr/>
          </a:p>
        </p:txBody>
      </p:sp>
      <p:sp>
        <p:nvSpPr>
          <p:cNvPr id="385" name="" descr="{&quot;isTemplate&quot;:true,&quot;type&quot;:&quot;text&quot;}"/>
          <p:cNvSpPr txBox="1"/>
          <p:nvPr/>
        </p:nvSpPr>
        <p:spPr>
          <a:xfrm rot="0" flipH="0" flipV="0">
            <a:off x="609600" y="638175"/>
            <a:ext cx="10972800" cy="3810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75" b="1">
                <a:solidFill>
                  <a:srgbClr val="F8FAFC"/>
                </a:solidFill>
                <a:latin typeface="Microsoft YaHei"/>
                <a:ea typeface="Microsoft YaHei"/>
              </a:rPr>
              <a:t>先补强工具，再以科研项目验证价值</a:t>
            </a:r>
            <a:endParaRPr/>
          </a:p>
        </p:txBody>
      </p:sp>
      <p:sp>
        <p:nvSpPr>
          <p:cNvPr id="386" name=""/>
          <p:cNvSpPr/>
          <p:nvPr/>
        </p:nvSpPr>
        <p:spPr>
          <a:xfrm rot="0" flipH="0" flipV="0">
            <a:off x="609600" y="1228725"/>
            <a:ext cx="1162050" cy="171450"/>
          </a:xfrm>
          <a:custGeom>
            <a:pathLst>
              <a:path w="122" h="18">
                <a:moveTo>
                  <a:pt x="0" y="0"/>
                </a:moveTo>
                <a:lnTo>
                  <a:pt x="4" y="0"/>
                </a:lnTo>
                <a:lnTo>
                  <a:pt x="4" y="18"/>
                </a:lnTo>
                <a:lnTo>
                  <a:pt x="0" y="18"/>
                </a:lnTo>
                <a:close/>
              </a:path>
            </a:pathLst>
          </a:custGeom>
          <a:solidFill>
            <a:srgbClr val="22D3EE"/>
          </a:solidFill>
          <a:ln/>
        </p:spPr>
        <p:txBody>
          <a:bodyPr/>
          <a:p/>
        </p:txBody>
      </p:sp>
      <p:sp>
        <p:nvSpPr>
          <p:cNvPr id="387" name="" descr="{&quot;isTemplate&quot;:true,&quot;type&quot;:&quot;text&quot;}"/>
          <p:cNvSpPr txBox="1"/>
          <p:nvPr/>
        </p:nvSpPr>
        <p:spPr>
          <a:xfrm rot="0" flipH="0" flipV="0">
            <a:off x="742950" y="1228725"/>
            <a:ext cx="9906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8FAFC"/>
                </a:solidFill>
                <a:latin typeface="Microsoft YaHei"/>
                <a:ea typeface="Microsoft YaHei"/>
              </a:rPr>
              <a:t>技术</a:t>
            </a:r>
            <a:r>
              <a:rPr lang="en-US" sz="1125" b="1">
                <a:solidFill>
                  <a:srgbClr val="F8FAFC"/>
                </a:solidFill>
                <a:latin typeface="Microsoft YaHei"/>
                <a:ea typeface="Microsoft YaHei"/>
              </a:rPr>
              <a:t> · </a:t>
            </a:r>
            <a:r>
              <a:rPr lang="zh-CN" sz="1125" b="1">
                <a:solidFill>
                  <a:srgbClr val="F8FAFC"/>
                </a:solidFill>
                <a:latin typeface="Microsoft YaHei"/>
                <a:ea typeface="Microsoft YaHei"/>
              </a:rPr>
              <a:t>补强工具</a:t>
            </a:r>
            <a:endParaRPr/>
          </a:p>
        </p:txBody>
      </p:sp>
      <p:sp>
        <p:nvSpPr>
          <p:cNvPr id="388" name=""/>
          <p:cNvSpPr/>
          <p:nvPr/>
        </p:nvSpPr>
        <p:spPr>
          <a:xfrm rot="0" flipH="0" flipV="0">
            <a:off x="1847850" y="1228725"/>
            <a:ext cx="1504950" cy="171450"/>
          </a:xfrm>
          <a:prstGeom prst="roundRect">
            <a:avLst>
              <a:gd name="adj" fmla="val 5550000"/>
            </a:avLst>
          </a:prstGeom>
          <a:ln w="12700">
            <a:solidFill>
              <a:srgbClr val="123B63"/>
            </a:solidFill>
            <a:prstDash val="solid"/>
          </a:ln>
        </p:spPr>
        <p:txBody>
          <a:bodyPr/>
          <a:p/>
        </p:txBody>
      </p:sp>
      <p:sp>
        <p:nvSpPr>
          <p:cNvPr id="389" name="" descr="{&quot;isTemplate&quot;:true,&quot;type&quot;:&quot;text&quot;}"/>
          <p:cNvSpPr txBox="1"/>
          <p:nvPr/>
        </p:nvSpPr>
        <p:spPr>
          <a:xfrm rot="0" flipH="0" flipV="0">
            <a:off x="1943100" y="1247775"/>
            <a:ext cx="13144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>
                <a:solidFill>
                  <a:srgbClr val="94A3B8"/>
                </a:solidFill>
                <a:latin typeface="Microsoft YaHei"/>
                <a:ea typeface="Microsoft YaHei"/>
              </a:rPr>
              <a:t>产出：可比较的候选方案集</a:t>
            </a:r>
            <a:endParaRPr/>
          </a:p>
        </p:txBody>
      </p:sp>
      <p:sp>
        <p:nvSpPr>
          <p:cNvPr id="390" name=""/>
          <p:cNvSpPr/>
          <p:nvPr/>
        </p:nvSpPr>
        <p:spPr>
          <a:xfrm rot="0" flipH="0" flipV="0">
            <a:off x="609600" y="1533525"/>
            <a:ext cx="3810000" cy="552450"/>
          </a:xfrm>
          <a:prstGeom prst="roundRect">
            <a:avLst>
              <a:gd name="adj" fmla="val 13793"/>
            </a:avLst>
          </a:prstGeom>
          <a:solidFill>
            <a:srgbClr val="123B63"/>
          </a:solidFill>
          <a:ln/>
        </p:spPr>
        <p:txBody>
          <a:bodyPr/>
          <a:p/>
        </p:txBody>
      </p:sp>
      <p:sp>
        <p:nvSpPr>
          <p:cNvPr id="391" name="" descr="{&quot;isTemplate&quot;:true,&quot;type&quot;:&quot;text&quot;}"/>
          <p:cNvSpPr txBox="1"/>
          <p:nvPr/>
        </p:nvSpPr>
        <p:spPr>
          <a:xfrm rot="0" flipH="0" flipV="0">
            <a:off x="762000" y="1695450"/>
            <a:ext cx="1143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22D3EE"/>
                </a:solidFill>
                <a:latin typeface="Space Grotesk"/>
                <a:ea typeface="Space Grotesk"/>
              </a:rPr>
              <a:t>1</a:t>
            </a:r>
            <a:endParaRPr/>
          </a:p>
        </p:txBody>
      </p:sp>
      <p:sp>
        <p:nvSpPr>
          <p:cNvPr id="392" name="" descr="{&quot;isTemplate&quot;:true,&quot;type&quot;:&quot;text&quot;}"/>
          <p:cNvSpPr txBox="1"/>
          <p:nvPr/>
        </p:nvSpPr>
        <p:spPr>
          <a:xfrm rot="0" flipH="0" flipV="0">
            <a:off x="1009650" y="1647825"/>
            <a:ext cx="27336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F8FAFC"/>
                </a:solidFill>
                <a:latin typeface="Microsoft YaHei"/>
                <a:ea typeface="Microsoft YaHei"/>
              </a:rPr>
              <a:t>补足当前有限的</a:t>
            </a:r>
            <a:r>
              <a:rPr lang="en-US" sz="1050">
                <a:solidFill>
                  <a:srgbClr val="F8FAFC"/>
                </a:solidFill>
                <a:latin typeface="Microsoft YaHei"/>
                <a:ea typeface="Microsoft YaHei"/>
              </a:rPr>
              <a:t> EDM </a:t>
            </a:r>
            <a:r>
              <a:rPr lang="zh-CN" sz="1050">
                <a:solidFill>
                  <a:srgbClr val="F8FAFC"/>
                </a:solidFill>
                <a:latin typeface="Microsoft YaHei"/>
                <a:ea typeface="Microsoft YaHei"/>
              </a:rPr>
              <a:t>方法</a:t>
            </a:r>
            <a:endParaRPr/>
          </a:p>
        </p:txBody>
      </p:sp>
      <p:sp>
        <p:nvSpPr>
          <p:cNvPr id="393" name="" descr="{&quot;isTemplate&quot;:true,&quot;type&quot;:&quot;text&quot;}"/>
          <p:cNvSpPr txBox="1"/>
          <p:nvPr/>
        </p:nvSpPr>
        <p:spPr>
          <a:xfrm rot="0" flipH="0" flipV="0">
            <a:off x="1009650" y="1838325"/>
            <a:ext cx="27336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>
                <a:solidFill>
                  <a:srgbClr val="94A3B8"/>
                </a:solidFill>
                <a:latin typeface="Microsoft YaHei"/>
                <a:ea typeface="Microsoft YaHei"/>
              </a:rPr>
              <a:t>漂移检测更敏感，减少漏判</a:t>
            </a:r>
            <a:endParaRPr/>
          </a:p>
        </p:txBody>
      </p:sp>
      <p:sp>
        <p:nvSpPr>
          <p:cNvPr id="394" name="" descr="{&quot;isTemplate&quot;:true,&quot;type&quot;:&quot;text&quot;}"/>
          <p:cNvSpPr txBox="1"/>
          <p:nvPr/>
        </p:nvSpPr>
        <p:spPr>
          <a:xfrm rot="0" flipH="0" flipV="0">
            <a:off x="3876675" y="1743075"/>
            <a:ext cx="3905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63">
                <a:solidFill>
                  <a:srgbClr val="22D3EE"/>
                </a:solidFill>
                <a:latin typeface="Microsoft YaHei"/>
                <a:ea typeface="Microsoft YaHei"/>
              </a:rPr>
              <a:t>0–30 </a:t>
            </a:r>
            <a:r>
              <a:rPr lang="zh-CN" sz="863">
                <a:solidFill>
                  <a:srgbClr val="22D3EE"/>
                </a:solidFill>
                <a:latin typeface="Microsoft YaHei"/>
                <a:ea typeface="Microsoft YaHei"/>
              </a:rPr>
              <a:t>天</a:t>
            </a:r>
            <a:endParaRPr/>
          </a:p>
        </p:txBody>
      </p:sp>
      <p:sp>
        <p:nvSpPr>
          <p:cNvPr id="395" name=""/>
          <p:cNvSpPr/>
          <p:nvPr/>
        </p:nvSpPr>
        <p:spPr>
          <a:xfrm rot="0" flipH="0" flipV="0">
            <a:off x="609600" y="2200275"/>
            <a:ext cx="3810000" cy="552450"/>
          </a:xfrm>
          <a:prstGeom prst="roundRect">
            <a:avLst>
              <a:gd name="adj" fmla="val 13793"/>
            </a:avLst>
          </a:prstGeom>
          <a:solidFill>
            <a:srgbClr val="123B63"/>
          </a:solidFill>
          <a:ln/>
        </p:spPr>
        <p:txBody>
          <a:bodyPr/>
          <a:p/>
        </p:txBody>
      </p:sp>
      <p:sp>
        <p:nvSpPr>
          <p:cNvPr id="396" name="" descr="{&quot;isTemplate&quot;:true,&quot;type&quot;:&quot;text&quot;}"/>
          <p:cNvSpPr txBox="1"/>
          <p:nvPr/>
        </p:nvSpPr>
        <p:spPr>
          <a:xfrm rot="0" flipH="0" flipV="0">
            <a:off x="762000" y="2362200"/>
            <a:ext cx="1143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22D3EE"/>
                </a:solidFill>
                <a:latin typeface="Space Grotesk"/>
                <a:ea typeface="Space Grotesk"/>
              </a:rPr>
              <a:t>2</a:t>
            </a:r>
            <a:endParaRPr/>
          </a:p>
        </p:txBody>
      </p:sp>
      <p:sp>
        <p:nvSpPr>
          <p:cNvPr id="397" name="" descr="{&quot;isTemplate&quot;:true,&quot;type&quot;:&quot;text&quot;}"/>
          <p:cNvSpPr txBox="1"/>
          <p:nvPr/>
        </p:nvSpPr>
        <p:spPr>
          <a:xfrm rot="0" flipH="0" flipV="0">
            <a:off x="1009650" y="2314575"/>
            <a:ext cx="26765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F8FAFC"/>
                </a:solidFill>
                <a:latin typeface="Microsoft YaHei"/>
                <a:ea typeface="Microsoft YaHei"/>
              </a:rPr>
              <a:t>自然语言调用更多数据分析与训练工具</a:t>
            </a:r>
            <a:endParaRPr/>
          </a:p>
        </p:txBody>
      </p:sp>
      <p:sp>
        <p:nvSpPr>
          <p:cNvPr id="398" name="" descr="{&quot;isTemplate&quot;:true,&quot;type&quot;:&quot;text&quot;}"/>
          <p:cNvSpPr txBox="1"/>
          <p:nvPr/>
        </p:nvSpPr>
        <p:spPr>
          <a:xfrm rot="0" flipH="0" flipV="0">
            <a:off x="1009650" y="2505075"/>
            <a:ext cx="26765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>
                <a:solidFill>
                  <a:srgbClr val="94A3B8"/>
                </a:solidFill>
                <a:latin typeface="Microsoft YaHei"/>
                <a:ea typeface="Microsoft YaHei"/>
              </a:rPr>
              <a:t>工具覆盖训练全流程</a:t>
            </a:r>
            <a:endParaRPr/>
          </a:p>
        </p:txBody>
      </p:sp>
      <p:sp>
        <p:nvSpPr>
          <p:cNvPr id="399" name="" descr="{&quot;isTemplate&quot;:true,&quot;type&quot;:&quot;text&quot;}"/>
          <p:cNvSpPr txBox="1"/>
          <p:nvPr/>
        </p:nvSpPr>
        <p:spPr>
          <a:xfrm rot="0" flipH="0" flipV="0">
            <a:off x="3819525" y="2409825"/>
            <a:ext cx="4476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63">
                <a:solidFill>
                  <a:srgbClr val="22D3EE"/>
                </a:solidFill>
                <a:latin typeface="Microsoft YaHei"/>
                <a:ea typeface="Microsoft YaHei"/>
              </a:rPr>
              <a:t>30–60 </a:t>
            </a:r>
            <a:r>
              <a:rPr lang="zh-CN" sz="863">
                <a:solidFill>
                  <a:srgbClr val="22D3EE"/>
                </a:solidFill>
                <a:latin typeface="Microsoft YaHei"/>
                <a:ea typeface="Microsoft YaHei"/>
              </a:rPr>
              <a:t>天</a:t>
            </a:r>
            <a:endParaRPr/>
          </a:p>
        </p:txBody>
      </p:sp>
      <p:sp>
        <p:nvSpPr>
          <p:cNvPr id="400" name=""/>
          <p:cNvSpPr/>
          <p:nvPr/>
        </p:nvSpPr>
        <p:spPr>
          <a:xfrm rot="0" flipH="0" flipV="0">
            <a:off x="609600" y="2867025"/>
            <a:ext cx="3810000" cy="552450"/>
          </a:xfrm>
          <a:prstGeom prst="roundRect">
            <a:avLst>
              <a:gd name="adj" fmla="val 13793"/>
            </a:avLst>
          </a:prstGeom>
          <a:solidFill>
            <a:srgbClr val="123B63"/>
          </a:solidFill>
          <a:ln/>
        </p:spPr>
        <p:txBody>
          <a:bodyPr/>
          <a:p/>
        </p:txBody>
      </p:sp>
      <p:sp>
        <p:nvSpPr>
          <p:cNvPr id="401" name="" descr="{&quot;isTemplate&quot;:true,&quot;type&quot;:&quot;text&quot;}"/>
          <p:cNvSpPr txBox="1"/>
          <p:nvPr/>
        </p:nvSpPr>
        <p:spPr>
          <a:xfrm rot="0" flipH="0" flipV="0">
            <a:off x="762000" y="3028950"/>
            <a:ext cx="1143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22D3EE"/>
                </a:solidFill>
                <a:latin typeface="Space Grotesk"/>
                <a:ea typeface="Space Grotesk"/>
              </a:rPr>
              <a:t>3</a:t>
            </a:r>
            <a:endParaRPr/>
          </a:p>
        </p:txBody>
      </p:sp>
      <p:sp>
        <p:nvSpPr>
          <p:cNvPr id="402" name="" descr="{&quot;isTemplate&quot;:true,&quot;type&quot;:&quot;text&quot;}"/>
          <p:cNvSpPr txBox="1"/>
          <p:nvPr/>
        </p:nvSpPr>
        <p:spPr>
          <a:xfrm rot="0" flipH="0" flipV="0">
            <a:off x="1009650" y="2981325"/>
            <a:ext cx="26098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F8FAFC"/>
                </a:solidFill>
                <a:latin typeface="Microsoft YaHei"/>
                <a:ea typeface="Microsoft YaHei"/>
              </a:rPr>
              <a:t>统一时序验证口径下比较候选方案</a:t>
            </a:r>
            <a:endParaRPr/>
          </a:p>
        </p:txBody>
      </p:sp>
      <p:sp>
        <p:nvSpPr>
          <p:cNvPr id="403" name="" descr="{&quot;isTemplate&quot;:true,&quot;type&quot;:&quot;text&quot;}"/>
          <p:cNvSpPr txBox="1"/>
          <p:nvPr/>
        </p:nvSpPr>
        <p:spPr>
          <a:xfrm rot="0" flipH="0" flipV="0">
            <a:off x="1009650" y="3171825"/>
            <a:ext cx="26098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>
                <a:solidFill>
                  <a:srgbClr val="94A3B8"/>
                </a:solidFill>
                <a:latin typeface="Microsoft YaHei"/>
                <a:ea typeface="Microsoft YaHei"/>
              </a:rPr>
              <a:t>模型能力可横向对比</a:t>
            </a:r>
            <a:endParaRPr/>
          </a:p>
        </p:txBody>
      </p:sp>
      <p:sp>
        <p:nvSpPr>
          <p:cNvPr id="404" name="" descr="{&quot;isTemplate&quot;:true,&quot;type&quot;:&quot;text&quot;}"/>
          <p:cNvSpPr txBox="1"/>
          <p:nvPr/>
        </p:nvSpPr>
        <p:spPr>
          <a:xfrm rot="0" flipH="0" flipV="0">
            <a:off x="3752850" y="3076575"/>
            <a:ext cx="5143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63">
                <a:solidFill>
                  <a:srgbClr val="22D3EE"/>
                </a:solidFill>
                <a:latin typeface="Microsoft YaHei"/>
                <a:ea typeface="Microsoft YaHei"/>
              </a:rPr>
              <a:t>60–100 </a:t>
            </a:r>
            <a:r>
              <a:rPr lang="zh-CN" sz="863">
                <a:solidFill>
                  <a:srgbClr val="22D3EE"/>
                </a:solidFill>
                <a:latin typeface="Microsoft YaHei"/>
                <a:ea typeface="Microsoft YaHei"/>
              </a:rPr>
              <a:t>天</a:t>
            </a:r>
            <a:endParaRPr/>
          </a:p>
        </p:txBody>
      </p:sp>
      <p:sp>
        <p:nvSpPr>
          <p:cNvPr id="405" name="" descr="{&quot;isTemplate&quot;:true,&quot;type&quot;:&quot;text&quot;}"/>
          <p:cNvSpPr txBox="1"/>
          <p:nvPr/>
        </p:nvSpPr>
        <p:spPr>
          <a:xfrm rot="0" flipH="0" flipV="0">
            <a:off x="609600" y="3533775"/>
            <a:ext cx="3810000" cy="247650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938">
                <a:solidFill>
                  <a:srgbClr val="94A3B8"/>
                </a:solidFill>
                <a:latin typeface="Microsoft YaHei"/>
                <a:ea typeface="Microsoft YaHei"/>
              </a:rPr>
              <a:t>模型能力从单一模型，扩展为可比较的候选方案集。</a:t>
            </a:r>
            <a:endParaRPr/>
          </a:p>
        </p:txBody>
      </p:sp>
      <p:sp>
        <p:nvSpPr>
          <p:cNvPr id="406" name=""/>
          <p:cNvSpPr/>
          <p:nvPr/>
        </p:nvSpPr>
        <p:spPr>
          <a:xfrm rot="0" flipH="0" flipV="0">
            <a:off x="4686300" y="1228725"/>
            <a:ext cx="1162050" cy="171450"/>
          </a:xfrm>
          <a:custGeom>
            <a:pathLst>
              <a:path w="122" h="18">
                <a:moveTo>
                  <a:pt x="0" y="0"/>
                </a:moveTo>
                <a:lnTo>
                  <a:pt x="4" y="0"/>
                </a:lnTo>
                <a:lnTo>
                  <a:pt x="4" y="18"/>
                </a:lnTo>
                <a:lnTo>
                  <a:pt x="0" y="18"/>
                </a:lnTo>
                <a:close/>
              </a:path>
            </a:pathLst>
          </a:custGeom>
          <a:solidFill>
            <a:srgbClr val="94A3B8"/>
          </a:solidFill>
          <a:ln/>
        </p:spPr>
        <p:txBody>
          <a:bodyPr/>
          <a:p/>
        </p:txBody>
      </p:sp>
      <p:sp>
        <p:nvSpPr>
          <p:cNvPr id="407" name="" descr="{&quot;isTemplate&quot;:true,&quot;type&quot;:&quot;text&quot;}"/>
          <p:cNvSpPr txBox="1"/>
          <p:nvPr/>
        </p:nvSpPr>
        <p:spPr>
          <a:xfrm rot="0" flipH="0" flipV="0">
            <a:off x="4819650" y="1228725"/>
            <a:ext cx="9906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8FAFC"/>
                </a:solidFill>
                <a:latin typeface="Microsoft YaHei"/>
                <a:ea typeface="Microsoft YaHei"/>
              </a:rPr>
              <a:t>商业</a:t>
            </a:r>
            <a:r>
              <a:rPr lang="en-US" sz="1125" b="1">
                <a:solidFill>
                  <a:srgbClr val="F8FAFC"/>
                </a:solidFill>
                <a:latin typeface="Microsoft YaHei"/>
                <a:ea typeface="Microsoft YaHei"/>
              </a:rPr>
              <a:t> · </a:t>
            </a:r>
            <a:r>
              <a:rPr lang="zh-CN" sz="1125" b="1">
                <a:solidFill>
                  <a:srgbClr val="F8FAFC"/>
                </a:solidFill>
                <a:latin typeface="Microsoft YaHei"/>
                <a:ea typeface="Microsoft YaHei"/>
              </a:rPr>
              <a:t>科研验证</a:t>
            </a:r>
            <a:endParaRPr/>
          </a:p>
        </p:txBody>
      </p:sp>
      <p:sp>
        <p:nvSpPr>
          <p:cNvPr id="408" name=""/>
          <p:cNvSpPr/>
          <p:nvPr/>
        </p:nvSpPr>
        <p:spPr>
          <a:xfrm rot="0" flipH="0" flipV="0">
            <a:off x="5924550" y="1228725"/>
            <a:ext cx="1066800" cy="171450"/>
          </a:xfrm>
          <a:prstGeom prst="roundRect">
            <a:avLst>
              <a:gd name="adj" fmla="val 5550000"/>
            </a:avLst>
          </a:prstGeom>
          <a:ln w="12700">
            <a:solidFill>
              <a:srgbClr val="123B63"/>
            </a:solidFill>
            <a:prstDash val="solid"/>
          </a:ln>
        </p:spPr>
        <p:txBody>
          <a:bodyPr/>
          <a:p/>
        </p:txBody>
      </p:sp>
      <p:sp>
        <p:nvSpPr>
          <p:cNvPr id="409" name="" descr="{&quot;isTemplate&quot;:true,&quot;type&quot;:&quot;text&quot;}"/>
          <p:cNvSpPr txBox="1"/>
          <p:nvPr/>
        </p:nvSpPr>
        <p:spPr>
          <a:xfrm rot="0" flipH="0" flipV="0">
            <a:off x="6019800" y="1247775"/>
            <a:ext cx="8763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>
                <a:solidFill>
                  <a:srgbClr val="94A3B8"/>
                </a:solidFill>
                <a:latin typeface="Microsoft YaHei"/>
                <a:ea typeface="Microsoft YaHei"/>
              </a:rPr>
              <a:t>量化收益后再灰度</a:t>
            </a:r>
            <a:endParaRPr/>
          </a:p>
        </p:txBody>
      </p:sp>
      <p:sp>
        <p:nvSpPr>
          <p:cNvPr id="410" name=""/>
          <p:cNvSpPr/>
          <p:nvPr/>
        </p:nvSpPr>
        <p:spPr>
          <a:xfrm rot="0" flipH="0" flipV="0">
            <a:off x="4686300" y="1533525"/>
            <a:ext cx="1600200" cy="914400"/>
          </a:xfrm>
          <a:prstGeom prst="roundRect">
            <a:avLst>
              <a:gd name="adj" fmla="val 8333"/>
            </a:avLst>
          </a:prstGeom>
          <a:solidFill>
            <a:srgbClr val="123B63"/>
          </a:solidFill>
          <a:ln/>
        </p:spPr>
        <p:txBody>
          <a:bodyPr/>
          <a:p/>
        </p:txBody>
      </p:sp>
      <p:sp>
        <p:nvSpPr>
          <p:cNvPr id="411" name="" descr="{&quot;isTemplate&quot;:true,&quot;type&quot;:&quot;text&quot;}"/>
          <p:cNvSpPr txBox="1"/>
          <p:nvPr/>
        </p:nvSpPr>
        <p:spPr>
          <a:xfrm rot="0" flipH="0" flipV="0">
            <a:off x="5124450" y="1809750"/>
            <a:ext cx="733425" cy="17145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1088" b="1">
                <a:solidFill>
                  <a:srgbClr val="F8FAFC"/>
                </a:solidFill>
                <a:latin typeface="Microsoft YaHei"/>
                <a:ea typeface="Microsoft YaHei"/>
              </a:rPr>
              <a:t>① </a:t>
            </a:r>
            <a:r>
              <a:rPr lang="zh-CN" sz="1088" b="1">
                <a:solidFill>
                  <a:srgbClr val="F8FAFC"/>
                </a:solidFill>
                <a:latin typeface="Microsoft YaHei"/>
                <a:ea typeface="Microsoft YaHei"/>
              </a:rPr>
              <a:t>科研合作</a:t>
            </a:r>
            <a:endParaRPr/>
          </a:p>
        </p:txBody>
      </p:sp>
      <p:sp>
        <p:nvSpPr>
          <p:cNvPr id="412" name="" descr="{&quot;isTemplate&quot;:true,&quot;type&quot;:&quot;text&quot;}"/>
          <p:cNvSpPr txBox="1"/>
          <p:nvPr/>
        </p:nvSpPr>
        <p:spPr>
          <a:xfrm rot="0" flipH="0" flipV="0">
            <a:off x="4886325" y="2038350"/>
            <a:ext cx="1200150" cy="13335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863">
                <a:solidFill>
                  <a:srgbClr val="94A3B8"/>
                </a:solidFill>
                <a:latin typeface="Microsoft YaHei"/>
                <a:ea typeface="Microsoft YaHei"/>
              </a:rPr>
              <a:t>电科院</a:t>
            </a:r>
            <a:r>
              <a:rPr lang="en-US" sz="863">
                <a:solidFill>
                  <a:srgbClr val="94A3B8"/>
                </a:solidFill>
                <a:latin typeface="Microsoft YaHei"/>
                <a:ea typeface="Microsoft YaHei"/>
              </a:rPr>
              <a:t> · </a:t>
            </a:r>
            <a:r>
              <a:rPr lang="zh-CN" sz="863">
                <a:solidFill>
                  <a:srgbClr val="94A3B8"/>
                </a:solidFill>
                <a:latin typeface="Microsoft YaHei"/>
                <a:ea typeface="Microsoft YaHei"/>
              </a:rPr>
              <a:t>数字电网研究院</a:t>
            </a:r>
            <a:endParaRPr/>
          </a:p>
        </p:txBody>
      </p:sp>
      <p:sp>
        <p:nvSpPr>
          <p:cNvPr id="413" name="" descr="{&quot;isTemplate&quot;:true,&quot;type&quot;:&quot;text&quot;}"/>
          <p:cNvSpPr txBox="1"/>
          <p:nvPr/>
        </p:nvSpPr>
        <p:spPr>
          <a:xfrm rot="0" flipH="0" flipV="0">
            <a:off x="6267450" y="1876425"/>
            <a:ext cx="190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500">
                <a:solidFill>
                  <a:srgbClr val="94A3B8"/>
                </a:solidFill>
                <a:latin typeface="Microsoft YaHei"/>
                <a:ea typeface="Microsoft YaHei"/>
              </a:rPr>
              <a:t>→</a:t>
            </a:r>
            <a:endParaRPr/>
          </a:p>
        </p:txBody>
      </p:sp>
      <p:sp>
        <p:nvSpPr>
          <p:cNvPr id="414" name=""/>
          <p:cNvSpPr/>
          <p:nvPr/>
        </p:nvSpPr>
        <p:spPr>
          <a:xfrm rot="0" flipH="0" flipV="0">
            <a:off x="6457950" y="1533525"/>
            <a:ext cx="1600200" cy="914400"/>
          </a:xfrm>
          <a:prstGeom prst="roundRect">
            <a:avLst>
              <a:gd name="adj" fmla="val 8333"/>
            </a:avLst>
          </a:prstGeom>
          <a:solidFill>
            <a:srgbClr val="123B63"/>
          </a:solidFill>
          <a:ln/>
        </p:spPr>
        <p:txBody>
          <a:bodyPr/>
          <a:p/>
        </p:txBody>
      </p:sp>
      <p:sp>
        <p:nvSpPr>
          <p:cNvPr id="415" name="" descr="{&quot;isTemplate&quot;:true,&quot;type&quot;:&quot;text&quot;}"/>
          <p:cNvSpPr txBox="1"/>
          <p:nvPr/>
        </p:nvSpPr>
        <p:spPr>
          <a:xfrm rot="0" flipH="0" flipV="0">
            <a:off x="6753225" y="1809750"/>
            <a:ext cx="1009650" cy="17145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1088" b="1">
                <a:solidFill>
                  <a:srgbClr val="F8FAFC"/>
                </a:solidFill>
                <a:latin typeface="Microsoft YaHei"/>
                <a:ea typeface="Microsoft YaHei"/>
              </a:rPr>
              <a:t>② </a:t>
            </a:r>
            <a:r>
              <a:rPr lang="zh-CN" sz="1088" b="1">
                <a:solidFill>
                  <a:srgbClr val="F8FAFC"/>
                </a:solidFill>
                <a:latin typeface="Microsoft YaHei"/>
                <a:ea typeface="Microsoft YaHei"/>
              </a:rPr>
              <a:t>影子模式验证</a:t>
            </a:r>
            <a:endParaRPr/>
          </a:p>
        </p:txBody>
      </p:sp>
      <p:sp>
        <p:nvSpPr>
          <p:cNvPr id="416" name="" descr="{&quot;isTemplate&quot;:true,&quot;type&quot;:&quot;text&quot;}"/>
          <p:cNvSpPr txBox="1"/>
          <p:nvPr/>
        </p:nvSpPr>
        <p:spPr>
          <a:xfrm rot="0" flipH="0" flipV="0">
            <a:off x="6934200" y="2038350"/>
            <a:ext cx="657225" cy="13335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863">
                <a:solidFill>
                  <a:srgbClr val="94A3B8"/>
                </a:solidFill>
                <a:latin typeface="Microsoft YaHei"/>
                <a:ea typeface="Microsoft YaHei"/>
              </a:rPr>
              <a:t>接入真实数据</a:t>
            </a:r>
            <a:endParaRPr/>
          </a:p>
        </p:txBody>
      </p:sp>
      <p:sp>
        <p:nvSpPr>
          <p:cNvPr id="417" name="" descr="{&quot;isTemplate&quot;:true,&quot;type&quot;:&quot;text&quot;}"/>
          <p:cNvSpPr txBox="1"/>
          <p:nvPr/>
        </p:nvSpPr>
        <p:spPr>
          <a:xfrm rot="0" flipH="0" flipV="0">
            <a:off x="8039100" y="1876425"/>
            <a:ext cx="190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500">
                <a:solidFill>
                  <a:srgbClr val="94A3B8"/>
                </a:solidFill>
                <a:latin typeface="Microsoft YaHei"/>
                <a:ea typeface="Microsoft YaHei"/>
              </a:rPr>
              <a:t>→</a:t>
            </a:r>
            <a:endParaRPr/>
          </a:p>
        </p:txBody>
      </p:sp>
      <p:sp>
        <p:nvSpPr>
          <p:cNvPr id="418" name=""/>
          <p:cNvSpPr/>
          <p:nvPr/>
        </p:nvSpPr>
        <p:spPr>
          <a:xfrm rot="0" flipH="0" flipV="0">
            <a:off x="8229600" y="1533525"/>
            <a:ext cx="1600200" cy="914400"/>
          </a:xfrm>
          <a:prstGeom prst="roundRect">
            <a:avLst>
              <a:gd name="adj" fmla="val 8333"/>
            </a:avLst>
          </a:prstGeom>
          <a:solidFill>
            <a:srgbClr val="123B63"/>
          </a:solidFill>
          <a:ln/>
        </p:spPr>
        <p:txBody>
          <a:bodyPr/>
          <a:p/>
        </p:txBody>
      </p:sp>
      <p:sp>
        <p:nvSpPr>
          <p:cNvPr id="419" name="" descr="{&quot;isTemplate&quot;:true,&quot;type&quot;:&quot;text&quot;}"/>
          <p:cNvSpPr txBox="1"/>
          <p:nvPr/>
        </p:nvSpPr>
        <p:spPr>
          <a:xfrm rot="0" flipH="0" flipV="0">
            <a:off x="8667750" y="1809750"/>
            <a:ext cx="733425" cy="17145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1088" b="1">
                <a:solidFill>
                  <a:srgbClr val="F8FAFC"/>
                </a:solidFill>
                <a:latin typeface="Microsoft YaHei"/>
                <a:ea typeface="Microsoft YaHei"/>
              </a:rPr>
              <a:t>③ </a:t>
            </a:r>
            <a:r>
              <a:rPr lang="zh-CN" sz="1088" b="1">
                <a:solidFill>
                  <a:srgbClr val="F8FAFC"/>
                </a:solidFill>
                <a:latin typeface="Microsoft YaHei"/>
                <a:ea typeface="Microsoft YaHei"/>
              </a:rPr>
              <a:t>局部试点</a:t>
            </a:r>
            <a:endParaRPr/>
          </a:p>
        </p:txBody>
      </p:sp>
      <p:sp>
        <p:nvSpPr>
          <p:cNvPr id="420" name="" descr="{&quot;isTemplate&quot;:true,&quot;type&quot;:&quot;text&quot;}"/>
          <p:cNvSpPr txBox="1"/>
          <p:nvPr/>
        </p:nvSpPr>
        <p:spPr>
          <a:xfrm rot="0" flipH="0" flipV="0">
            <a:off x="8810625" y="2038350"/>
            <a:ext cx="438150" cy="13335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863">
                <a:solidFill>
                  <a:srgbClr val="94A3B8"/>
                </a:solidFill>
                <a:latin typeface="Microsoft YaHei"/>
                <a:ea typeface="Microsoft YaHei"/>
              </a:rPr>
              <a:t>量化收益</a:t>
            </a:r>
            <a:endParaRPr/>
          </a:p>
        </p:txBody>
      </p:sp>
      <p:sp>
        <p:nvSpPr>
          <p:cNvPr id="421" name="" descr="{&quot;isTemplate&quot;:true,&quot;type&quot;:&quot;text&quot;}"/>
          <p:cNvSpPr txBox="1"/>
          <p:nvPr/>
        </p:nvSpPr>
        <p:spPr>
          <a:xfrm rot="0" flipH="0" flipV="0">
            <a:off x="9810750" y="1876425"/>
            <a:ext cx="190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500">
                <a:solidFill>
                  <a:srgbClr val="94A3B8"/>
                </a:solidFill>
                <a:latin typeface="Microsoft YaHei"/>
                <a:ea typeface="Microsoft YaHei"/>
              </a:rPr>
              <a:t>→</a:t>
            </a:r>
            <a:endParaRPr/>
          </a:p>
        </p:txBody>
      </p:sp>
      <p:sp>
        <p:nvSpPr>
          <p:cNvPr id="422" name=""/>
          <p:cNvSpPr/>
          <p:nvPr/>
        </p:nvSpPr>
        <p:spPr>
          <a:xfrm rot="0" flipH="0" flipV="0">
            <a:off x="10001250" y="1533525"/>
            <a:ext cx="1600200" cy="914400"/>
          </a:xfrm>
          <a:prstGeom prst="roundRect">
            <a:avLst>
              <a:gd name="adj" fmla="val 8333"/>
            </a:avLst>
          </a:prstGeom>
          <a:solidFill>
            <a:srgbClr val="22D3EE">
              <a:alpha val="14000"/>
            </a:srgbClr>
          </a:solidFill>
          <a:ln w="19050">
            <a:solidFill>
              <a:srgbClr val="22D3EE"/>
            </a:solidFill>
            <a:prstDash val="solid"/>
          </a:ln>
        </p:spPr>
        <p:txBody>
          <a:bodyPr/>
          <a:p/>
        </p:txBody>
      </p:sp>
      <p:sp>
        <p:nvSpPr>
          <p:cNvPr id="423" name="" descr="{&quot;isTemplate&quot;:true,&quot;type&quot;:&quot;text&quot;}"/>
          <p:cNvSpPr txBox="1"/>
          <p:nvPr/>
        </p:nvSpPr>
        <p:spPr>
          <a:xfrm rot="0" flipH="0" flipV="0">
            <a:off x="10439400" y="1809750"/>
            <a:ext cx="733425" cy="17145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1088" b="1">
                <a:solidFill>
                  <a:srgbClr val="22D3EE"/>
                </a:solidFill>
                <a:latin typeface="Microsoft YaHei"/>
                <a:ea typeface="Microsoft YaHei"/>
              </a:rPr>
              <a:t>④ </a:t>
            </a:r>
            <a:r>
              <a:rPr lang="zh-CN" sz="1088" b="1">
                <a:solidFill>
                  <a:srgbClr val="22D3EE"/>
                </a:solidFill>
                <a:latin typeface="Microsoft YaHei"/>
                <a:ea typeface="Microsoft YaHei"/>
              </a:rPr>
              <a:t>灰度发布</a:t>
            </a:r>
            <a:endParaRPr/>
          </a:p>
        </p:txBody>
      </p:sp>
      <p:sp>
        <p:nvSpPr>
          <p:cNvPr id="424" name="" descr="{&quot;isTemplate&quot;:true,&quot;type&quot;:&quot;text&quot;}"/>
          <p:cNvSpPr txBox="1"/>
          <p:nvPr/>
        </p:nvSpPr>
        <p:spPr>
          <a:xfrm rot="0" flipH="0" flipV="0">
            <a:off x="10477500" y="2038350"/>
            <a:ext cx="657225" cy="13335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863">
                <a:solidFill>
                  <a:srgbClr val="94A3B8"/>
                </a:solidFill>
                <a:latin typeface="Microsoft YaHei"/>
                <a:ea typeface="Microsoft YaHei"/>
              </a:rPr>
              <a:t>量化后再放量</a:t>
            </a:r>
            <a:endParaRPr/>
          </a:p>
        </p:txBody>
      </p:sp>
      <p:sp>
        <p:nvSpPr>
          <p:cNvPr id="425" name="" descr="{&quot;isTemplate&quot;:true,&quot;type&quot;:&quot;text&quot;}"/>
          <p:cNvSpPr txBox="1"/>
          <p:nvPr/>
        </p:nvSpPr>
        <p:spPr>
          <a:xfrm rot="0" flipH="0" flipV="0">
            <a:off x="4686300" y="2562225"/>
            <a:ext cx="6896100" cy="247650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938">
                <a:solidFill>
                  <a:srgbClr val="94A3B8"/>
                </a:solidFill>
                <a:latin typeface="Microsoft YaHei"/>
                <a:ea typeface="Microsoft YaHei"/>
              </a:rPr>
              <a:t>方法仍较新，不直接进入生产环境——以科技项目形式先行，量化收益后再灰度发布。</a:t>
            </a:r>
            <a:endParaRPr/>
          </a:p>
        </p:txBody>
      </p:sp>
      <p:sp>
        <p:nvSpPr>
          <p:cNvPr id="426" name=""/>
          <p:cNvSpPr/>
          <p:nvPr/>
        </p:nvSpPr>
        <p:spPr>
          <a:xfrm rot="0" flipH="0" flipV="0">
            <a:off x="4686300" y="2924175"/>
            <a:ext cx="6896100" cy="438150"/>
          </a:xfrm>
          <a:prstGeom prst="roundRect">
            <a:avLst>
              <a:gd name="adj" fmla="val 17391"/>
            </a:avLst>
          </a:prstGeom>
          <a:ln w="12700">
            <a:solidFill>
              <a:srgbClr val="123B63"/>
            </a:solidFill>
            <a:prstDash val="solid"/>
          </a:ln>
        </p:spPr>
        <p:txBody>
          <a:bodyPr/>
          <a:p/>
        </p:txBody>
      </p:sp>
      <p:sp>
        <p:nvSpPr>
          <p:cNvPr id="427" name="" descr="{&quot;isTemplate&quot;:true,&quot;type&quot;:&quot;text&quot;}"/>
          <p:cNvSpPr txBox="1"/>
          <p:nvPr/>
        </p:nvSpPr>
        <p:spPr>
          <a:xfrm rot="0" flipH="0" flipV="0">
            <a:off x="4819650" y="3019425"/>
            <a:ext cx="6629400" cy="247650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38">
                <a:solidFill>
                  <a:srgbClr val="CBD5E1"/>
                </a:solidFill>
                <a:latin typeface="Microsoft YaHei"/>
                <a:ea typeface="Microsoft YaHei"/>
              </a:rPr>
              <a:t>100 </a:t>
            </a:r>
            <a:r>
              <a:rPr lang="zh-CN" sz="938">
                <a:solidFill>
                  <a:srgbClr val="CBD5E1"/>
                </a:solidFill>
                <a:latin typeface="Microsoft YaHei"/>
                <a:ea typeface="Microsoft YaHei"/>
              </a:rPr>
              <a:t>天目标：工具补强完成</a:t>
            </a:r>
            <a:r>
              <a:rPr lang="en-US" sz="938">
                <a:solidFill>
                  <a:srgbClr val="CBD5E1"/>
                </a:solidFill>
                <a:latin typeface="Microsoft YaHei"/>
                <a:ea typeface="Microsoft YaHei"/>
              </a:rPr>
              <a:t> · </a:t>
            </a:r>
            <a:r>
              <a:rPr lang="zh-CN" sz="938">
                <a:solidFill>
                  <a:srgbClr val="CBD5E1"/>
                </a:solidFill>
                <a:latin typeface="Microsoft YaHei"/>
                <a:ea typeface="Microsoft YaHei"/>
              </a:rPr>
              <a:t>签署科研合作</a:t>
            </a:r>
            <a:r>
              <a:rPr lang="en-US" sz="938">
                <a:solidFill>
                  <a:srgbClr val="CBD5E1"/>
                </a:solidFill>
                <a:latin typeface="Microsoft YaHei"/>
                <a:ea typeface="Microsoft YaHei"/>
              </a:rPr>
              <a:t> · </a:t>
            </a:r>
            <a:r>
              <a:rPr lang="zh-CN" sz="938">
                <a:solidFill>
                  <a:srgbClr val="CBD5E1"/>
                </a:solidFill>
                <a:latin typeface="Microsoft YaHei"/>
                <a:ea typeface="Microsoft YaHei"/>
              </a:rPr>
              <a:t>影子模式接入真实数据</a:t>
            </a:r>
            <a:endParaRPr/>
          </a:p>
        </p:txBody>
      </p:sp>
      <p:sp>
        <p:nvSpPr>
          <p:cNvPr id="428" name=""/>
          <p:cNvSpPr/>
          <p:nvPr/>
        </p:nvSpPr>
        <p:spPr>
          <a:xfrm rot="0" flipH="0" flipV="0">
            <a:off x="609600" y="5553075"/>
            <a:ext cx="57150" cy="533400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p/>
        </p:txBody>
      </p:sp>
      <p:sp>
        <p:nvSpPr>
          <p:cNvPr id="429" name="" descr="{&quot;isTemplate&quot;:true,&quot;type&quot;:&quot;text&quot;}"/>
          <p:cNvSpPr txBox="1"/>
          <p:nvPr/>
        </p:nvSpPr>
        <p:spPr>
          <a:xfrm rot="0" flipH="0" flipV="0">
            <a:off x="838200" y="5391150"/>
            <a:ext cx="3333750" cy="4286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875" b="1">
                <a:solidFill>
                  <a:srgbClr val="F8FAFC"/>
                </a:solidFill>
                <a:latin typeface="Microsoft YaHei"/>
                <a:ea typeface="Microsoft YaHei"/>
              </a:rPr>
              <a:t>让负荷预测，从一次性项目，</a:t>
            </a:r>
            <a:endParaRPr/>
          </a:p>
        </p:txBody>
      </p:sp>
      <p:sp>
        <p:nvSpPr>
          <p:cNvPr id="430" name="" descr="{&quot;isTemplate&quot;:true,&quot;type&quot;:&quot;text&quot;}"/>
          <p:cNvSpPr txBox="1"/>
          <p:nvPr/>
        </p:nvSpPr>
        <p:spPr>
          <a:xfrm rot="0" flipH="0" flipV="0">
            <a:off x="838200" y="5819775"/>
            <a:ext cx="3333750" cy="4286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875" b="1">
                <a:solidFill>
                  <a:srgbClr val="F8FAFC"/>
                </a:solidFill>
                <a:latin typeface="Microsoft YaHei"/>
                <a:ea typeface="Microsoft YaHei"/>
              </a:rPr>
              <a:t>变成持续自我适应的基础能力。</a:t>
            </a:r>
            <a:endParaRPr/>
          </a:p>
        </p:txBody>
      </p:sp>
      <p:sp>
        <p:nvSpPr>
          <p:cNvPr id="431" name="" descr="{&quot;isTemplate&quot;:true,&quot;type&quot;:&quot;text&quot;}"/>
          <p:cNvSpPr txBox="1"/>
          <p:nvPr/>
        </p:nvSpPr>
        <p:spPr>
          <a:xfrm rot="0" flipH="0" flipV="0">
            <a:off x="609600" y="6562725"/>
            <a:ext cx="15906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64748B"/>
                </a:solidFill>
                <a:latin typeface="Microsoft YaHei"/>
                <a:ea typeface="Microsoft YaHei"/>
              </a:rPr>
              <a:t>负荷预测持续学习引擎</a:t>
            </a:r>
            <a:r>
              <a:rPr lang="en-US" sz="900">
                <a:solidFill>
                  <a:srgbClr val="64748B"/>
                </a:solidFill>
                <a:latin typeface="Microsoft YaHei"/>
                <a:ea typeface="Microsoft YaHei"/>
              </a:rPr>
              <a:t> · </a:t>
            </a:r>
            <a:r>
              <a:rPr lang="zh-CN" sz="900">
                <a:solidFill>
                  <a:srgbClr val="64748B"/>
                </a:solidFill>
                <a:latin typeface="Microsoft YaHei"/>
                <a:ea typeface="Microsoft YaHei"/>
              </a:rPr>
              <a:t>路线图</a:t>
            </a:r>
            <a:endParaRPr/>
          </a:p>
        </p:txBody>
      </p:sp>
      <p:sp>
        <p:nvSpPr>
          <p:cNvPr id="432" name=""/>
          <p:cNvSpPr/>
          <p:nvPr/>
        </p:nvSpPr>
        <p:spPr>
          <a:xfrm rot="0" flipH="0" flipV="0">
            <a:off x="10677525" y="6581775"/>
            <a:ext cx="95250" cy="95250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p/>
        </p:txBody>
      </p:sp>
      <p:sp>
        <p:nvSpPr>
          <p:cNvPr id="433" name="" descr="{&quot;isTemplate&quot;:true,&quot;type&quot;:&quot;text&quot;}"/>
          <p:cNvSpPr txBox="1"/>
          <p:nvPr/>
        </p:nvSpPr>
        <p:spPr>
          <a:xfrm rot="0" flipH="0" flipV="0">
            <a:off x="10848975" y="6553200"/>
            <a:ext cx="7334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94A3B8"/>
                </a:solidFill>
                <a:latin typeface="Microsoft YaHei"/>
                <a:ea typeface="Microsoft YaHei"/>
              </a:rPr>
              <a:t>CLE · 07 / 07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Application>Tencent office</Application>
</Properties>
</file>

<file path=docProps/core.xml><?xml version="1.0" encoding="utf-8"?>
<cp:coreProperties xmlns:xsi="http://www.w3.org/2001/XMLSchema-instance" xmlns:dcmitype="http://purl.org/dc/dcmitype/" xmlns:dcterms="http://purl.org/dc/terms/" xmlns:dc="http://purl.org/dc/elements/1.1/" xmlns:cp="http://schemas.openxmlformats.org/package/2006/metadata/core-properties">
  <dcterms:created xsi:type="dcterms:W3CDTF">2026-08-29T23:16:28Z</dcterms:created>
  <dcterms:modified xsi:type="dcterms:W3CDTF">2026-08-29T23:16:28Z</dcterms:modified>
</cp:coreProperties>
</file>