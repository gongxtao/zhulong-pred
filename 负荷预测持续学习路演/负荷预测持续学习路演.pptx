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charts/chart2.xml" ContentType="application/vnd.openxmlformats-officedocument.drawingml.char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slides/charts/chart1.xml" ContentType="application/vnd.openxmlformats-officedocument.drawingml.chart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2.xml" /><Relationship Id="rId8" Type="http://schemas.openxmlformats.org/officeDocument/2006/relationships/notesMaster" Target="notesMasters/notesMaster1.xml" /><Relationship Id="rId11" Type="http://schemas.openxmlformats.org/officeDocument/2006/relationships/viewProps" Target="viewProps.xml" /><Relationship Id="rId6" Type="http://schemas.openxmlformats.org/officeDocument/2006/relationships/slide" Target="slides/slide6.xml" /><Relationship Id="rId10" Type="http://schemas.openxmlformats.org/officeDocument/2006/relationships/tableStyles" Target="tableStyles.xml" /><Relationship Id="rId5" Type="http://schemas.openxmlformats.org/officeDocument/2006/relationships/slide" Target="slides/slide5.xml" /><Relationship Id="rId9" Type="http://schemas.openxmlformats.org/officeDocument/2006/relationships/presProps" Target="presProps.xml" /><Relationship Id="rId4" Type="http://schemas.openxmlformats.org/officeDocument/2006/relationships/slide" Target="slides/slide4.xml" /><Relationship Id="rId0" Type="http://schemas.openxmlformats.org/officeDocument/2006/relationships/slideMaster" Target="slideMasters/slideMaster1.xml" /><Relationship Id="rId3" Type="http://schemas.openxmlformats.org/officeDocument/2006/relationships/slide" Target="slides/slide3.xml" /><Relationship Id="rId1" Type="http://schemas.openxmlformats.org/officeDocument/2006/relationships/slide" Target="slides/slide1.xml" /><Relationship Id="rId7" Type="http://schemas.openxmlformats.org/officeDocument/2006/relationships/slide" Target="slides/slide7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0" Type="http://schemas.openxmlformats.org/officeDocument/2006/relationships/chart" Target="charts/chart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charts/chart1.xml><?xml version="1.0" encoding="utf-8"?>
<c:chartSpace xmlns:c="http://schemas.openxmlformats.org/drawingml/2006/chart" xmlns:a="http://schemas.openxmlformats.org/drawingml/2006/main">
  <c:chart>
    <c:plotArea>
      <c:lineChart>
        <c:grouping val="stack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实际负荷</c:v>
                </c:pt>
              </c:strCache>
            </c:strRef>
          </c:tx>
          <c:spPr>
            <a:ln w="19050" cap="flat">
              <a:solidFill>
                <a:srgbClr val="F8FAFC"/>
              </a:solidFill>
              <a:round/>
            </a:ln>
          </c:spPr>
          <c:cat>
            <c:strRef>
              <c:strCache>
                <c:ptCount val="24"/>
                <c:pt idx="0">
                  <c:v>00:00</c:v>
                </c:pt>
                <c:pt idx="1">
                  <c:v>01:00</c:v>
                </c:pt>
                <c:pt idx="2">
                  <c:v>02:00</c:v>
                </c:pt>
                <c:pt idx="3">
                  <c:v>03:00</c:v>
                </c:pt>
                <c:pt idx="4">
                  <c:v>04:00</c:v>
                </c:pt>
                <c:pt idx="5">
                  <c:v>05:00</c:v>
                </c:pt>
                <c:pt idx="6">
                  <c:v>06:00</c:v>
                </c:pt>
                <c:pt idx="7">
                  <c:v>07:00</c:v>
                </c:pt>
                <c:pt idx="8">
                  <c:v>08:00</c:v>
                </c:pt>
                <c:pt idx="9">
                  <c:v>09:00</c:v>
                </c:pt>
                <c:pt idx="10">
                  <c:v>10:00</c:v>
                </c:pt>
                <c:pt idx="11">
                  <c:v>11:00</c:v>
                </c:pt>
                <c:pt idx="12">
                  <c:v>12:00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  <c:pt idx="16">
                  <c:v>16:00</c:v>
                </c:pt>
                <c:pt idx="17">
                  <c:v>17:00</c:v>
                </c:pt>
                <c:pt idx="18">
                  <c:v>18:00</c:v>
                </c:pt>
                <c:pt idx="19">
                  <c:v>19:00</c:v>
                </c:pt>
                <c:pt idx="20">
                  <c:v>20:00</c:v>
                </c:pt>
                <c:pt idx="21">
                  <c:v>21:00</c:v>
                </c:pt>
                <c:pt idx="22">
                  <c:v>22:00</c:v>
                </c:pt>
                <c:pt idx="23">
                  <c:v>23:00</c:v>
                </c:pt>
              </c:strCache>
            </c:strRef>
          </c:cat>
          <c:val>
            <c:numRef>
              <c:numCache>
                <c:formatCode>General</c:formatCode>
                <c:ptCount val="24"/>
                <c:pt idx="0">
                  <c:v>2280</c:v>
                </c:pt>
                <c:pt idx="1">
                  <c:v>2150</c:v>
                </c:pt>
                <c:pt idx="2">
                  <c:v>2090</c:v>
                </c:pt>
                <c:pt idx="3">
                  <c:v>2120</c:v>
                </c:pt>
                <c:pt idx="4">
                  <c:v>2260</c:v>
                </c:pt>
                <c:pt idx="5">
                  <c:v>2540</c:v>
                </c:pt>
                <c:pt idx="6">
                  <c:v>2850</c:v>
                </c:pt>
                <c:pt idx="7">
                  <c:v>3080</c:v>
                </c:pt>
                <c:pt idx="8">
                  <c:v>3180</c:v>
                </c:pt>
                <c:pt idx="9">
                  <c:v>3220</c:v>
                </c:pt>
                <c:pt idx="10">
                  <c:v>3300</c:v>
                </c:pt>
                <c:pt idx="11">
                  <c:v>3400</c:v>
                </c:pt>
                <c:pt idx="12">
                  <c:v>3460</c:v>
                </c:pt>
                <c:pt idx="13">
                  <c:v>3480</c:v>
                </c:pt>
                <c:pt idx="14">
                  <c:v>3520</c:v>
                </c:pt>
                <c:pt idx="15">
                  <c:v>3440</c:v>
                </c:pt>
                <c:pt idx="16">
                  <c:v>3380</c:v>
                </c:pt>
                <c:pt idx="17">
                  <c:v>3320</c:v>
                </c:pt>
                <c:pt idx="18">
                  <c:v>3260</c:v>
                </c:pt>
                <c:pt idx="19">
                  <c:v>3150</c:v>
                </c:pt>
                <c:pt idx="20">
                  <c:v>2980</c:v>
                </c:pt>
                <c:pt idx="21">
                  <c:v>2760</c:v>
                </c:pt>
                <c:pt idx="22">
                  <c:v>2540</c:v>
                </c:pt>
                <c:pt idx="23">
                  <c:v>2360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预测负荷</c:v>
                </c:pt>
              </c:strCache>
            </c:strRef>
          </c:tx>
          <c:spPr>
            <a:ln w="19050" cap="flat">
              <a:solidFill>
                <a:srgbClr val="22D3EE"/>
              </a:solidFill>
              <a:round/>
            </a:ln>
          </c:spPr>
          <c:cat>
            <c:strRef>
              <c:strCache>
                <c:ptCount val="24"/>
                <c:pt idx="0">
                  <c:v>00:00</c:v>
                </c:pt>
                <c:pt idx="1">
                  <c:v>01:00</c:v>
                </c:pt>
                <c:pt idx="2">
                  <c:v>02:00</c:v>
                </c:pt>
                <c:pt idx="3">
                  <c:v>03:00</c:v>
                </c:pt>
                <c:pt idx="4">
                  <c:v>04:00</c:v>
                </c:pt>
                <c:pt idx="5">
                  <c:v>05:00</c:v>
                </c:pt>
                <c:pt idx="6">
                  <c:v>06:00</c:v>
                </c:pt>
                <c:pt idx="7">
                  <c:v>07:00</c:v>
                </c:pt>
                <c:pt idx="8">
                  <c:v>08:00</c:v>
                </c:pt>
                <c:pt idx="9">
                  <c:v>09:00</c:v>
                </c:pt>
                <c:pt idx="10">
                  <c:v>10:00</c:v>
                </c:pt>
                <c:pt idx="11">
                  <c:v>11:00</c:v>
                </c:pt>
                <c:pt idx="12">
                  <c:v>12:00</c:v>
                </c:pt>
                <c:pt idx="13">
                  <c:v>13:00</c:v>
                </c:pt>
                <c:pt idx="14">
                  <c:v>14:00</c:v>
                </c:pt>
                <c:pt idx="15">
                  <c:v>15:00</c:v>
                </c:pt>
                <c:pt idx="16">
                  <c:v>16:00</c:v>
                </c:pt>
                <c:pt idx="17">
                  <c:v>17:00</c:v>
                </c:pt>
                <c:pt idx="18">
                  <c:v>18:00</c:v>
                </c:pt>
                <c:pt idx="19">
                  <c:v>19:00</c:v>
                </c:pt>
                <c:pt idx="20">
                  <c:v>20:00</c:v>
                </c:pt>
                <c:pt idx="21">
                  <c:v>21:00</c:v>
                </c:pt>
                <c:pt idx="22">
                  <c:v>22:00</c:v>
                </c:pt>
                <c:pt idx="23">
                  <c:v>23:00</c:v>
                </c:pt>
              </c:strCache>
            </c:strRef>
          </c:cat>
          <c:val>
            <c:numRef>
              <c:numCache>
                <c:formatCode>General</c:formatCode>
                <c:ptCount val="24"/>
                <c:pt idx="0">
                  <c:v>2180</c:v>
                </c:pt>
                <c:pt idx="1">
                  <c:v>2080</c:v>
                </c:pt>
                <c:pt idx="2">
                  <c:v>2020</c:v>
                </c:pt>
                <c:pt idx="3">
                  <c:v>2050</c:v>
                </c:pt>
                <c:pt idx="4">
                  <c:v>2160</c:v>
                </c:pt>
                <c:pt idx="5">
                  <c:v>2420</c:v>
                </c:pt>
                <c:pt idx="6">
                  <c:v>2720</c:v>
                </c:pt>
                <c:pt idx="7">
                  <c:v>2950</c:v>
                </c:pt>
                <c:pt idx="8">
                  <c:v>3060</c:v>
                </c:pt>
                <c:pt idx="9">
                  <c:v>3120</c:v>
                </c:pt>
                <c:pt idx="10">
                  <c:v>3180</c:v>
                </c:pt>
                <c:pt idx="11">
                  <c:v>3240</c:v>
                </c:pt>
                <c:pt idx="12">
                  <c:v>3300</c:v>
                </c:pt>
                <c:pt idx="13">
                  <c:v>3320</c:v>
                </c:pt>
                <c:pt idx="14">
                  <c:v>3260</c:v>
                </c:pt>
                <c:pt idx="15">
                  <c:v>3200</c:v>
                </c:pt>
                <c:pt idx="16">
                  <c:v>3160</c:v>
                </c:pt>
                <c:pt idx="17">
                  <c:v>3120</c:v>
                </c:pt>
                <c:pt idx="18">
                  <c:v>3080</c:v>
                </c:pt>
                <c:pt idx="19">
                  <c:v>2980</c:v>
                </c:pt>
                <c:pt idx="20">
                  <c:v>2860</c:v>
                </c:pt>
                <c:pt idx="21">
                  <c:v>2680</c:v>
                </c:pt>
                <c:pt idx="22">
                  <c:v>2460</c:v>
                </c:pt>
                <c:pt idx="23">
                  <c:v>2300</c:v>
                </c:pt>
              </c:numCache>
            </c:numRef>
          </c:val>
        </c:ser>
        <c:marker/>
        <c:axId val="89736801"/>
        <c:axId val="89736802"/>
      </c:line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1"/>
        <c:crossBetween val="between"/>
      </c:valAx>
      <c:spPr>
        <a:solidFill>
          <a:srgbClr val="0A1D37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/>
        <a:p>
          <a:pPr>
            <a:defRPr sz="900">
              <a:solidFill>
                <a:srgbClr val="94A3B8"/>
              </a:solidFill>
            </a:defRPr>
          </a:pPr>
        </a:p>
      </c:txPr>
    </c:legend>
    <c:dispBlanksAs val="gap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plotArea>
      <c:lineChart>
        <c:grouping val="stack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静态 WAPE</c:v>
                </c:pt>
              </c:strCache>
            </c:strRef>
          </c:tx>
          <c:spPr>
            <a:ln w="19050" cap="flat">
              <a:solidFill>
                <a:srgbClr val="94A3B8"/>
              </a:solidFill>
              <a:round/>
            </a:ln>
          </c:spPr>
          <c:cat>
            <c:strRef>
              <c:strCache>
                <c:ptCount val="32"/>
                <c:pt idx="0">
                  <c:v>16-01</c:v>
                </c:pt>
                <c:pt idx="1">
                  <c:v>16-02</c:v>
                </c:pt>
                <c:pt idx="2">
                  <c:v>16-03</c:v>
                </c:pt>
                <c:pt idx="3">
                  <c:v>16-04</c:v>
                </c:pt>
                <c:pt idx="4">
                  <c:v>16-05</c:v>
                </c:pt>
                <c:pt idx="5">
                  <c:v>16-06</c:v>
                </c:pt>
                <c:pt idx="6">
                  <c:v>16-07</c:v>
                </c:pt>
                <c:pt idx="7">
                  <c:v>16-08</c:v>
                </c:pt>
                <c:pt idx="8">
                  <c:v>16-09</c:v>
                </c:pt>
                <c:pt idx="9">
                  <c:v>16-10</c:v>
                </c:pt>
                <c:pt idx="10">
                  <c:v>16-11</c:v>
                </c:pt>
                <c:pt idx="11">
                  <c:v>16-12</c:v>
                </c:pt>
                <c:pt idx="12">
                  <c:v>17-01</c:v>
                </c:pt>
                <c:pt idx="13">
                  <c:v>17-02</c:v>
                </c:pt>
                <c:pt idx="14">
                  <c:v>17-03</c:v>
                </c:pt>
                <c:pt idx="15">
                  <c:v>17-04</c:v>
                </c:pt>
                <c:pt idx="16">
                  <c:v>17-05</c:v>
                </c:pt>
                <c:pt idx="17">
                  <c:v>17-06</c:v>
                </c:pt>
                <c:pt idx="18">
                  <c:v>17-07</c:v>
                </c:pt>
                <c:pt idx="19">
                  <c:v>17-08</c:v>
                </c:pt>
                <c:pt idx="20">
                  <c:v>17-09</c:v>
                </c:pt>
                <c:pt idx="21">
                  <c:v>17-10</c:v>
                </c:pt>
                <c:pt idx="22">
                  <c:v>17-11</c:v>
                </c:pt>
                <c:pt idx="23">
                  <c:v>17-12</c:v>
                </c:pt>
                <c:pt idx="24">
                  <c:v>18-01</c:v>
                </c:pt>
                <c:pt idx="25">
                  <c:v>18-02</c:v>
                </c:pt>
                <c:pt idx="26">
                  <c:v>18-03</c:v>
                </c:pt>
                <c:pt idx="27">
                  <c:v>18-04</c:v>
                </c:pt>
                <c:pt idx="28">
                  <c:v>18-05</c:v>
                </c:pt>
                <c:pt idx="29">
                  <c:v>18-06</c:v>
                </c:pt>
                <c:pt idx="30">
                  <c:v>18-07</c:v>
                </c:pt>
                <c:pt idx="31">
                  <c:v>18-08</c:v>
                </c:pt>
              </c:strCache>
            </c:strRef>
          </c:cat>
          <c:val>
            <c:numRef>
              <c:numCache>
                <c:formatCode>General</c:formatCode>
                <c:ptCount val="32"/>
                <c:pt idx="0">
                  <c:v>4.5448</c:v>
                </c:pt>
                <c:pt idx="1">
                  <c:v>4.4292</c:v>
                </c:pt>
                <c:pt idx="2">
                  <c:v>3.2708</c:v>
                </c:pt>
                <c:pt idx="3">
                  <c:v>3.3004</c:v>
                </c:pt>
                <c:pt idx="4">
                  <c:v>2.8832</c:v>
                </c:pt>
                <c:pt idx="5">
                  <c:v>3.9656</c:v>
                </c:pt>
                <c:pt idx="6">
                  <c:v>3.5909</c:v>
                </c:pt>
                <c:pt idx="7">
                  <c:v>3.5359</c:v>
                </c:pt>
                <c:pt idx="8">
                  <c:v>4.2052</c:v>
                </c:pt>
                <c:pt idx="9">
                  <c:v>2.8927</c:v>
                </c:pt>
                <c:pt idx="10">
                  <c:v>3.2834</c:v>
                </c:pt>
                <c:pt idx="11">
                  <c:v>4.0062</c:v>
                </c:pt>
                <c:pt idx="12">
                  <c:v>4.305</c:v>
                </c:pt>
                <c:pt idx="13">
                  <c:v>4.592</c:v>
                </c:pt>
                <c:pt idx="14">
                  <c:v>3.8754</c:v>
                </c:pt>
                <c:pt idx="15">
                  <c:v>3.479</c:v>
                </c:pt>
                <c:pt idx="16">
                  <c:v>3.9822</c:v>
                </c:pt>
                <c:pt idx="17">
                  <c:v>3.7651</c:v>
                </c:pt>
                <c:pt idx="18">
                  <c:v>3.7563</c:v>
                </c:pt>
                <c:pt idx="19">
                  <c:v>3.2999</c:v>
                </c:pt>
                <c:pt idx="20">
                  <c:v>3.6859</c:v>
                </c:pt>
                <c:pt idx="21">
                  <c:v>3.2119</c:v>
                </c:pt>
                <c:pt idx="22">
                  <c:v>3.6483</c:v>
                </c:pt>
                <c:pt idx="23">
                  <c:v>4.1561</c:v>
                </c:pt>
                <c:pt idx="24">
                  <c:v>4.8647</c:v>
                </c:pt>
                <c:pt idx="25">
                  <c:v>4.2964</c:v>
                </c:pt>
                <c:pt idx="26">
                  <c:v>4.3352</c:v>
                </c:pt>
                <c:pt idx="27">
                  <c:v>4.1911</c:v>
                </c:pt>
                <c:pt idx="28">
                  <c:v>4.3633</c:v>
                </c:pt>
                <c:pt idx="29">
                  <c:v>4.2547</c:v>
                </c:pt>
                <c:pt idx="30">
                  <c:v>3.8659</c:v>
                </c:pt>
                <c:pt idx="31">
                  <c:v>3.5641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动态 WAPE</c:v>
                </c:pt>
              </c:strCache>
            </c:strRef>
          </c:tx>
          <c:spPr>
            <a:ln w="19050" cap="flat">
              <a:solidFill>
                <a:srgbClr val="22D3EE"/>
              </a:solidFill>
              <a:round/>
            </a:ln>
          </c:spPr>
          <c:cat>
            <c:strRef>
              <c:strCache>
                <c:ptCount val="32"/>
                <c:pt idx="0">
                  <c:v>16-01</c:v>
                </c:pt>
                <c:pt idx="1">
                  <c:v>16-02</c:v>
                </c:pt>
                <c:pt idx="2">
                  <c:v>16-03</c:v>
                </c:pt>
                <c:pt idx="3">
                  <c:v>16-04</c:v>
                </c:pt>
                <c:pt idx="4">
                  <c:v>16-05</c:v>
                </c:pt>
                <c:pt idx="5">
                  <c:v>16-06</c:v>
                </c:pt>
                <c:pt idx="6">
                  <c:v>16-07</c:v>
                </c:pt>
                <c:pt idx="7">
                  <c:v>16-08</c:v>
                </c:pt>
                <c:pt idx="8">
                  <c:v>16-09</c:v>
                </c:pt>
                <c:pt idx="9">
                  <c:v>16-10</c:v>
                </c:pt>
                <c:pt idx="10">
                  <c:v>16-11</c:v>
                </c:pt>
                <c:pt idx="11">
                  <c:v>16-12</c:v>
                </c:pt>
                <c:pt idx="12">
                  <c:v>17-01</c:v>
                </c:pt>
                <c:pt idx="13">
                  <c:v>17-02</c:v>
                </c:pt>
                <c:pt idx="14">
                  <c:v>17-03</c:v>
                </c:pt>
                <c:pt idx="15">
                  <c:v>17-04</c:v>
                </c:pt>
                <c:pt idx="16">
                  <c:v>17-05</c:v>
                </c:pt>
                <c:pt idx="17">
                  <c:v>17-06</c:v>
                </c:pt>
                <c:pt idx="18">
                  <c:v>17-07</c:v>
                </c:pt>
                <c:pt idx="19">
                  <c:v>17-08</c:v>
                </c:pt>
                <c:pt idx="20">
                  <c:v>17-09</c:v>
                </c:pt>
                <c:pt idx="21">
                  <c:v>17-10</c:v>
                </c:pt>
                <c:pt idx="22">
                  <c:v>17-11</c:v>
                </c:pt>
                <c:pt idx="23">
                  <c:v>17-12</c:v>
                </c:pt>
                <c:pt idx="24">
                  <c:v>18-01</c:v>
                </c:pt>
                <c:pt idx="25">
                  <c:v>18-02</c:v>
                </c:pt>
                <c:pt idx="26">
                  <c:v>18-03</c:v>
                </c:pt>
                <c:pt idx="27">
                  <c:v>18-04</c:v>
                </c:pt>
                <c:pt idx="28">
                  <c:v>18-05</c:v>
                </c:pt>
                <c:pt idx="29">
                  <c:v>18-06</c:v>
                </c:pt>
                <c:pt idx="30">
                  <c:v>18-07</c:v>
                </c:pt>
                <c:pt idx="31">
                  <c:v>18-08</c:v>
                </c:pt>
              </c:strCache>
            </c:strRef>
          </c:cat>
          <c:val>
            <c:numRef>
              <c:numCache>
                <c:formatCode>General</c:formatCode>
                <c:ptCount val="32"/>
                <c:pt idx="0">
                  <c:v>4.5448</c:v>
                </c:pt>
                <c:pt idx="1">
                  <c:v>4.2311</c:v>
                </c:pt>
                <c:pt idx="2">
                  <c:v>3.0051</c:v>
                </c:pt>
                <c:pt idx="3">
                  <c:v>3.1009</c:v>
                </c:pt>
                <c:pt idx="4">
                  <c:v>2.7354</c:v>
                </c:pt>
                <c:pt idx="5">
                  <c:v>3.6806</c:v>
                </c:pt>
                <c:pt idx="6">
                  <c:v>3.61</c:v>
                </c:pt>
                <c:pt idx="7">
                  <c:v>3.3589</c:v>
                </c:pt>
                <c:pt idx="8">
                  <c:v>4.0221</c:v>
                </c:pt>
                <c:pt idx="9">
                  <c:v>2.6459</c:v>
                </c:pt>
                <c:pt idx="10">
                  <c:v>2.8776</c:v>
                </c:pt>
                <c:pt idx="11">
                  <c:v>3.9155</c:v>
                </c:pt>
                <c:pt idx="12">
                  <c:v>4.0186</c:v>
                </c:pt>
                <c:pt idx="13">
                  <c:v>4.2749</c:v>
                </c:pt>
                <c:pt idx="14">
                  <c:v>3.6176</c:v>
                </c:pt>
                <c:pt idx="15">
                  <c:v>3.1714</c:v>
                </c:pt>
                <c:pt idx="16">
                  <c:v>3.6762</c:v>
                </c:pt>
                <c:pt idx="17">
                  <c:v>3.6524</c:v>
                </c:pt>
                <c:pt idx="18">
                  <c:v>3.4687</c:v>
                </c:pt>
                <c:pt idx="19">
                  <c:v>3.2072</c:v>
                </c:pt>
                <c:pt idx="20">
                  <c:v>3.3214</c:v>
                </c:pt>
                <c:pt idx="21">
                  <c:v>2.9114</c:v>
                </c:pt>
                <c:pt idx="22">
                  <c:v>3.315</c:v>
                </c:pt>
                <c:pt idx="23">
                  <c:v>3.9405</c:v>
                </c:pt>
                <c:pt idx="24">
                  <c:v>4.8506</c:v>
                </c:pt>
                <c:pt idx="25">
                  <c:v>4.1074</c:v>
                </c:pt>
                <c:pt idx="26">
                  <c:v>4.0496</c:v>
                </c:pt>
                <c:pt idx="27">
                  <c:v>3.8786</c:v>
                </c:pt>
                <c:pt idx="28">
                  <c:v>4.0013</c:v>
                </c:pt>
                <c:pt idx="29">
                  <c:v>3.8982</c:v>
                </c:pt>
                <c:pt idx="30">
                  <c:v>3.7938</c:v>
                </c:pt>
                <c:pt idx="31">
                  <c:v>3.1085</c:v>
                </c:pt>
              </c:numCache>
            </c:numRef>
          </c:val>
        </c:ser>
        <c:marker/>
        <c:axId val="89736801"/>
        <c:axId val="89736802"/>
      </c:line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64748B"/>
                </a:solidFill>
              </a:defRPr>
            </a:pPr>
          </a:p>
        </c:txPr>
        <c:crossAx val="89736801"/>
        <c:crossBetween val="between"/>
      </c:valAx>
      <c:spPr>
        <a:solidFill>
          <a:srgbClr val="123B63"/>
        </a:solidFill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/>
        <a:p>
          <a:pPr>
            <a:defRPr sz="900">
              <a:solidFill>
                <a:srgbClr val="94A3B8"/>
              </a:solidFill>
            </a:defRPr>
          </a:pPr>
        </a:p>
      </c:txPr>
    </c:legend>
    <c:dispBlanksAs val="gap"/>
  </c:chart>
</c:chartSpace>
</file>

<file path=ppt/slides/slide1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 1280, height: 720, background: '#0A1D37', position: 'relative', overflow: 'hidden' }}&gt;&#10;    &lt;Box style={{ position: 'absolute', right: -120, top: -180, width: 440, height: 440, borderRadius: 220, background: 'rgba(34,211,238,0.05)' }} /&gt;&#10;    &lt;Box style={{ position: 'absolute', left: 340, bottom: -220, width: 380, height: 380, borderRadius: 190, background: 'rgba(34,211,238,0.04)' }} /&gt;&#10;&#10;    &lt;Box style={{ position: 'absolute', left: 64, top: 42, flexDirection: 'row', alignItems: 'center', gap: 10 }}&gt;&#10;        &lt;Box style={{ padding: '5px 12px', border: '1px solid #123B63', borderRadius: 6 }}&gt;&#10;            &lt;Text style={{ fontSize: 12.5, color: '#94A3B8' }}&gt;AI Agent&lt;/Text&gt;&#10;        &lt;/Box&gt;&#10;        &lt;Box style={{ padding: '5px 12px', border: '1px solid #123B63', borderRadius: 6 }}&gt;&#10;            &lt;Text style={{ fontSize: 12.5, color: '#94A3B8' }}&gt;持续学习闭环&lt;/Text&gt;&#10;        &lt;/Box&gt;&#10;        &lt;Box style={{ padding: '5px 12px', border: '1px solid #123B63', borderRadius: 6 }}&gt;&#10;            &lt;Text style={{ fontSize: 12.5, color: '#94A3B8' }}&gt;电力时序预测&lt;/Text&gt;&#10;        &lt;/Box&gt;&#10;    &lt;/Box&gt;&#10;    &lt;Box style={{ position: 'absolute', right: 64, top: 42, flexDirection: 'row', alignItems: 'center', gap: 8 }}&gt;&#10;        &lt;Box style={{ width: 8, height: 8, background: '#22D3EE' }} /&gt;&#10;        &lt;Text style={{ fontSize: 12.5, color: '#94A3B8' }}&gt;投资人 × 产业客户 · 路演版 · 2026&lt;/Text&gt;&#10;    &lt;/Box&gt;&#10;&#10;    &lt;Chart&#10;        style={{ position: 'absolute', left: 470, top: 116, width: 740, height: 430 }}&#10;        chartType='lineChart'&#10;        background='#0A1D37'&#10;        showLegend={true}&#10;        legendColor='#94A3B8'&#10;        axisColor='#64748B'&#10;        colors={['#F8FAFC', '#22D3EE']}&#10;        data={[&#10;            ['小时', '实际负荷', '预测负荷'],&#10;            ['00:00', 2280, 2180],&#10;            ['01:00', 2150, 2080],&#10;            ['02:00', 2090, 2020],&#10;            ['03:00', 2120, 2050],&#10;            ['04:00', 2260, 2160],&#10;            ['05:00', 2540, 2420],&#10;            ['06:00', 2850, 2720],&#10;            ['07:00', 3080, 2950],&#10;            ['08:00', 3180, 3060],&#10;            ['09:00', 3220, 3120],&#10;            ['10:00', 3300, 3180],&#10;            ['11:00', 3400, 3240],&#10;            ['12:00', 3460, 3300],&#10;            ['13:00', 3480, 3320],&#10;            ['14:00', 3520, 3260],&#10;            ['15:00', 3440, 3200],&#10;            ['16:00', 3380, 3160],&#10;            ['17:00', 3320, 3120],&#10;            ['18:00', 3260, 3080],&#10;            ['19:00', 3150, 2980],&#10;            ['20:00', 2980, 2860],&#10;            ['21:00', 2760, 2680],&#10;            ['22:00', 2540, 2460],&#10;            ['23:00', 2360, 2300],&#10;        ]}&#10;    /&gt;&#10;    &lt;Box style={{ position: 'absolute', left: 828, top: 168, width: 164, height: 286, background: '#F59E0B', opacity: 0.06 }} /&gt;&#10;    &lt;Box style={{ position: 'absolute', left: 910, top: 168, width: 2, height: 286, background: '#F59E0B', opacity: 0.7 }} /&gt;&#10;    &lt;Text style={{ position: 'absolute', left: 480, top: 552, fontSize: 13, color: '#64748B' }}&gt;未来 24 小时负荷曲线 · 实际 vs 预测&lt;/Text&gt;&#10;    &lt;Text style={{ position: 'absolute', left: 925, top: 140, fontSize: 15, fontWeight: 'bold', color: '#F8FAFC' }}&gt;实际峰值&lt;/Text&gt;&#10;    &lt;Text style={{ position: 'absolute', left: 925, top: 188, fontSize: 15, fontWeight: 'bold', color: '#F59E0B' }}&gt;未预见峰值&lt;/Text&gt;&#10;    &lt;Text style={{ position: 'absolute', left: 925, top: 236, fontSize: 15, color: '#22D3EE' }}&gt;预测负荷&lt;/Text&gt;&#10;&#10;    &lt;Text style={{ position: 'absolute', left: 64, top: 116, fontSize: 14, color: '#22D3EE', letterSpacing: 3, fontFamily: 'Space Grotesk, Inter, sans-serif' }}&gt;AGENT · CONTINUAL LEARNING ENGINE&lt;/Text&gt;&#10;    &lt;Text style={{ position: 'absolute', left: 64, top: 154, fontSize: 50, fontWeight: 'bold', color: '#F8FAFC', lineHeight: 1.25 }}&gt;面向电力负荷预测&lt;/Text&gt;&#10;    &lt;Text style={{ position: 'absolute', left: 64, top: 218, fontSize: 50, fontWeight: 'bold', color: '#F8FAFC', lineHeight: 1.25 }}&gt;持续学习的智能引擎&lt;/Text&gt;&#10;    &lt;Box style={{ position: 'absolute', left: 64, top: 294, width: 48, height: 5, background: '#22D3EE' }} /&gt;&#10;    &lt;Text style={{ position: 'absolute', left: 64, top: 318, fontSize: 23, color: '#F8FAFC' }}&gt;让 &lt;span style={{ color: '#22D3EE', fontWeight: 'bold' }}&gt;Agent&lt;/span&gt; 指导小模型持续学习&lt;/Text&gt;&#10;    &lt;Text style={{ position: 'absolute', left: 64, top: 376, width: 390, fontSize: 15.5, color: '#94A3B8', lineHeight: 1.8 }}&gt;如果无法准确预测用电负荷峰值何时到来，就无法及时安排应对措施，变压器可能持续重过载，进而造成设备损坏。&lt;/Text&gt;&#10;&#10;    &lt;Box style={{ position: 'absolute', left: 64, top: 502, width: 396, flexDirection: 'row', alignItems: 'stretch' }}&gt;&#10;        &lt;Box style={{ flex: 1 }}&gt;&#10;            &lt;Text style={{ fontSize: 24, fontWeight: 'bold', color: '#22D3EE', fontFamily: 'Space Grotesk, Inter, sans-serif' }}&gt;5.6%&lt;/Text&gt;&#10;            &lt;Text style={{ fontSize: 11.5, color: '#94A3B8', marginTop: 4 }}&gt;WAPE 相对改善&lt;/Text&gt;&#10;        &lt;/Box&gt;&#10;        &lt;Box style={{ width: 1, background: '#123B63', margin: '0 14px' }} /&gt;&#10;        &lt;Box style={{ flex: 1 }}&gt;&#10;            &lt;Text style={{ fontSize: 24, fontWeight: 'bold', color: '#22D3EE', fontFamily: 'Space Grotesk, Inter, sans-serif' }}&gt;31/32&lt;/Text&gt;&#10;            &lt;Text style={{ fontSize: 11.5, color: '#94A3B8', marginTop: 4 }}&gt;个月动态模型更优&lt;/Text&gt;&#10;        &lt;/Box&gt;&#10;        &lt;Box style={{ width: 1, background: '#123B63', margin: '0 14px' }} /&gt;&#10;        &lt;Box style={{ flex: 1 }}&gt;&#10;            &lt;Text style={{ fontSize: 24, fontWeight: 'bold', color: '#22D3EE', fontFamily: 'Space Grotesk, Inter, sans-serif' }}&gt;−20.34&lt;/Text&gt;&#10;            &lt;Text style={{ fontSize: 11.5, color: '#94A3B8', marginTop: 4 }}&gt;MW · MAE 绝对降幅&lt;/Text&gt;&#10;        &lt;/Box&gt;&#10;    &lt;/Box&gt;&#10;&#10;    &lt;Box style={{ position: 'absolute', left: 64, bottom: 92, flexDirection: 'row', alignItems: 'center', gap: 10 }}&gt;&#10;        &lt;Text style={{ fontSize: 11.5, color: '#64748B', marginRight: 2 }}&gt;风险链&lt;/Text&gt;&#10;        &lt;Box style={{ padding: '6px 14px', border: '1px solid #123B63', borderRadius: 6 }}&gt;&#10;            &lt;Text style={{ fontSize: 15, color: '#F59E0B' }}&gt;未预见峰值&lt;/Text&gt;&#10;        &lt;/Box&gt;&#10;        &lt;Text style={{ fontSize: 18, color: '#64748B' }}&gt;→&lt;/Text&gt;&#10;        &lt;Box style={{ padding: '6px 14px', border: '1px solid #123B63', borderRadius: 6 }}&gt;&#10;            &lt;Text style={{ fontSize: 15, color: '#F59E0B' }}&gt;持续重过载&lt;/Text&gt;&#10;        &lt;/Box&gt;&#10;        &lt;Text style={{ fontSize: 18, color: '#64748B' }}&gt;→&lt;/Text&gt;&#10;        &lt;Box style={{ padding: '6px 14px', border: '1px solid #123B63', borderRadius: 6 }}&gt;&#10;            &lt;Text style={{ fontSize: 15, color: '#F59E0B' }}&gt;设备损坏&lt;/Text&gt;&#10;        &lt;/Box&gt;&#10;    &lt;/Box&gt;&#10;&#10;    &lt;Text style={{ position: 'absolute', left: 64, bottom: 30, fontSize: 12, color: '#64748B' }}&gt;面向电力负荷预测持续学习的智能引擎 · 投资人 × 产业客户路演 · 2026&lt;/Text&gt;&#10;    &lt;Box style={{ position: 'absolute', right: 64, bottom: 26, flexDirection: 'row', alignItems: 'center', gap: 8 }}&gt;&#10;        &lt;Box style={{ width: 10, height: 10, background: '#22D3EE' }} /&gt;&#10;        &lt;Text style={{ fontSize: 13, color: '#94A3B8' }}&gt;CLE · 01 / 07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9144000" y="-1714500"/>
            <a:ext cx="4191000" cy="4191000"/>
          </a:xfrm>
          <a:custGeom>
            <a:pathLst>
              <a:path w="440" h="440">
                <a:moveTo>
                  <a:pt x="320" y="416"/>
                </a:move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15" y="413"/>
                </a:lnTo>
                <a:lnTo>
                  <a:pt x="111" y="411"/>
                </a:lnTo>
                <a:lnTo>
                  <a:pt x="106" y="408"/>
                </a:lnTo>
                <a:lnTo>
                  <a:pt x="101" y="405"/>
                </a:lnTo>
                <a:lnTo>
                  <a:pt x="97" y="402"/>
                </a:lnTo>
                <a:lnTo>
                  <a:pt x="93" y="399"/>
                </a:lnTo>
                <a:lnTo>
                  <a:pt x="88" y="396"/>
                </a:lnTo>
                <a:lnTo>
                  <a:pt x="84" y="393"/>
                </a:lnTo>
                <a:lnTo>
                  <a:pt x="80" y="390"/>
                </a:lnTo>
                <a:lnTo>
                  <a:pt x="76" y="386"/>
                </a:lnTo>
                <a:lnTo>
                  <a:pt x="72" y="383"/>
                </a:lnTo>
                <a:lnTo>
                  <a:pt x="68" y="379"/>
                </a:lnTo>
                <a:lnTo>
                  <a:pt x="64" y="376"/>
                </a:lnTo>
                <a:lnTo>
                  <a:pt x="61" y="372"/>
                </a:lnTo>
                <a:lnTo>
                  <a:pt x="57" y="368"/>
                </a:lnTo>
                <a:lnTo>
                  <a:pt x="54" y="364"/>
                </a:lnTo>
                <a:lnTo>
                  <a:pt x="50" y="360"/>
                </a:lnTo>
                <a:lnTo>
                  <a:pt x="47" y="356"/>
                </a:lnTo>
                <a:lnTo>
                  <a:pt x="44" y="352"/>
                </a:lnTo>
                <a:lnTo>
                  <a:pt x="41" y="347"/>
                </a:lnTo>
                <a:lnTo>
                  <a:pt x="38" y="343"/>
                </a:lnTo>
                <a:lnTo>
                  <a:pt x="35" y="339"/>
                </a:lnTo>
                <a:lnTo>
                  <a:pt x="32" y="334"/>
                </a:lnTo>
                <a:lnTo>
                  <a:pt x="29" y="329"/>
                </a:lnTo>
                <a:lnTo>
                  <a:pt x="27" y="325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80"/>
                </a:lnTo>
                <a:lnTo>
                  <a:pt x="320" y="180"/>
                </a:lnTo>
                <a:close/>
              </a:path>
            </a:pathLst>
          </a:custGeom>
          <a:solidFill>
            <a:srgbClr val="22D3EE">
              <a:alpha val="5000"/>
            </a:srgbClr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3238500" y="5334000"/>
            <a:ext cx="3619500" cy="3619500"/>
          </a:xfrm>
          <a:custGeom>
            <a:pathLst>
              <a:path w="380" h="380">
                <a:moveTo>
                  <a:pt x="195" y="0"/>
                </a:moveTo>
                <a:cubicBezTo>
                  <a:pt x="286" y="2"/>
                  <a:pt x="363" y="70"/>
                  <a:pt x="378" y="160"/>
                </a:cubicBezTo>
                <a:lnTo>
                  <a:pt x="2" y="160"/>
                </a:lnTo>
                <a:cubicBezTo>
                  <a:pt x="17" y="68"/>
                  <a:pt x="97" y="0"/>
                  <a:pt x="190" y="0"/>
                </a:cubicBezTo>
                <a:close/>
              </a:path>
            </a:pathLst>
          </a:custGeom>
          <a:solidFill>
            <a:srgbClr val="22D3EE">
              <a:alpha val="4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09600" y="400050"/>
            <a:ext cx="685800" cy="238125"/>
          </a:xfrm>
          <a:prstGeom prst="roundRect">
            <a:avLst>
              <a:gd name="adj" fmla="val 24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23900" y="447675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AI Agent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1390650" y="400050"/>
            <a:ext cx="942975" cy="238125"/>
          </a:xfrm>
          <a:prstGeom prst="roundRect">
            <a:avLst>
              <a:gd name="adj" fmla="val 24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504950" y="447675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持续学习闭环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2428875" y="400050"/>
            <a:ext cx="942975" cy="238125"/>
          </a:xfrm>
          <a:prstGeom prst="roundRect">
            <a:avLst>
              <a:gd name="adj" fmla="val 24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2543175" y="447675"/>
            <a:ext cx="714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电力时序预测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9620250" y="438150"/>
            <a:ext cx="76200" cy="7620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72650" y="400050"/>
            <a:ext cx="1809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投资人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×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产业客户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路演版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· 2026</a:t>
            </a:r>
            <a:endParaRPr/>
          </a:p>
        </p:txBody>
      </p:sp>
      <p:graphicFrame>
        <p:nvGraphicFramePr>
          <p:cNvPr id="13" name="13"/>
          <p:cNvGraphicFramePr/>
          <p:nvPr/>
        </p:nvGraphicFramePr>
        <p:xfrm rot="0" flipH="0" flipV="0">
          <a:off x="4476750" y="1104900"/>
          <a:ext cx="7048500" cy="409575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14" name=""/>
          <p:cNvSpPr/>
          <p:nvPr/>
        </p:nvSpPr>
        <p:spPr>
          <a:xfrm rot="0" flipH="0" flipV="0">
            <a:off x="7886700" y="1600200"/>
            <a:ext cx="1562100" cy="2724150"/>
          </a:xfrm>
          <a:prstGeom prst="rect">
            <a:avLst/>
          </a:prstGeom>
          <a:solidFill>
            <a:srgbClr val="F59E0B">
              <a:alpha val="6000"/>
            </a:srgbClr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8667750" y="1600200"/>
            <a:ext cx="19050" cy="2724150"/>
          </a:xfrm>
          <a:prstGeom prst="rect">
            <a:avLst/>
          </a:prstGeom>
          <a:solidFill>
            <a:srgbClr val="F59E0B">
              <a:alpha val="70000"/>
            </a:srgbClr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4572000" y="5257800"/>
            <a:ext cx="2000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未来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24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小时负荷曲线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实际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 vs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预测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810625" y="13335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实际峰值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810625" y="17907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59E0B"/>
                </a:solidFill>
                <a:latin typeface="Microsoft YaHei"/>
                <a:ea typeface="Microsoft YaHei"/>
              </a:rPr>
              <a:t>未预见峰值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810625" y="2247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22D3EE"/>
                </a:solidFill>
                <a:latin typeface="Microsoft YaHei"/>
                <a:ea typeface="Microsoft YaHei"/>
              </a:rPr>
              <a:t>预测负荷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09600" y="1104900"/>
            <a:ext cx="3552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2D3EE"/>
                </a:solidFill>
                <a:latin typeface="Space Grotesk"/>
                <a:ea typeface="Space Grotesk"/>
              </a:rPr>
              <a:t>AGENT · CONTINUAL LEARNING ENGINE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09600" y="1466850"/>
            <a:ext cx="3810000" cy="71437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3750" b="1">
                <a:solidFill>
                  <a:srgbClr val="F8FAFC"/>
                </a:solidFill>
                <a:latin typeface="Microsoft YaHei"/>
                <a:ea typeface="Microsoft YaHei"/>
              </a:rPr>
              <a:t>面向电力负荷预测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2076450"/>
            <a:ext cx="4286250" cy="71437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3750" b="1">
                <a:solidFill>
                  <a:srgbClr val="F8FAFC"/>
                </a:solidFill>
                <a:latin typeface="Microsoft YaHei"/>
                <a:ea typeface="Microsoft YaHei"/>
              </a:rPr>
              <a:t>持续学习的智能引擎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609600" y="2800350"/>
            <a:ext cx="457200" cy="47625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09600" y="3028950"/>
            <a:ext cx="29337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>
                <a:solidFill>
                  <a:srgbClr val="F8FAFC"/>
                </a:solidFill>
                <a:latin typeface="Microsoft YaHei"/>
                <a:ea typeface="Microsoft YaHei"/>
              </a:rPr>
              <a:t>让</a:t>
            </a:r>
            <a:r>
              <a:rPr lang="en-US" sz="1725">
                <a:solidFill>
                  <a:srgbClr val="F8FAFC"/>
                </a:solidFill>
                <a:latin typeface="Microsoft YaHei"/>
                <a:ea typeface="Microsoft YaHei"/>
              </a:rPr>
              <a:t> </a:t>
            </a:r>
            <a:r>
              <a:rPr lang="en-US" sz="1725" b="1">
                <a:solidFill>
                  <a:srgbClr val="22D3EE"/>
                </a:solidFill>
                <a:latin typeface="Microsoft YaHei"/>
                <a:ea typeface="Microsoft YaHei"/>
              </a:rPr>
              <a:t>Agent</a:t>
            </a:r>
            <a:r>
              <a:rPr lang="en-US" sz="1725">
                <a:solidFill>
                  <a:srgbClr val="F8FAFC"/>
                </a:solidFill>
                <a:latin typeface="Microsoft YaHei"/>
                <a:ea typeface="Microsoft YaHei"/>
              </a:rPr>
              <a:t> </a:t>
            </a:r>
            <a:r>
              <a:rPr lang="zh-CN" sz="1725">
                <a:solidFill>
                  <a:srgbClr val="F8FAFC"/>
                </a:solidFill>
                <a:latin typeface="Microsoft YaHei"/>
                <a:ea typeface="Microsoft YaHei"/>
              </a:rPr>
              <a:t>指导小模型持续学习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09600" y="3581400"/>
            <a:ext cx="371475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63">
                <a:solidFill>
                  <a:srgbClr val="94A3B8"/>
                </a:solidFill>
                <a:latin typeface="Microsoft YaHei"/>
                <a:ea typeface="Microsoft YaHei"/>
              </a:rPr>
              <a:t>如果无法准确预测用电负荷峰值何时到来，就无法及时安排应对措施，变压器可能持续重过载，进而造成设备损坏。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09600" y="4781550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D3EE"/>
                </a:solidFill>
                <a:latin typeface="Space Grotesk"/>
                <a:ea typeface="Space Grotesk"/>
              </a:rPr>
              <a:t>5.6%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09600" y="5095875"/>
            <a:ext cx="10763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WAPE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相对改善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1819275" y="4781550"/>
            <a:ext cx="9525" cy="44767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962150" y="4781550"/>
            <a:ext cx="1066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D3EE"/>
                </a:solidFill>
                <a:latin typeface="Space Grotesk"/>
                <a:ea typeface="Space Grotesk"/>
              </a:rPr>
              <a:t>31/32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962150" y="5095875"/>
            <a:ext cx="10668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个月动态模型更优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3162300" y="4781550"/>
            <a:ext cx="9525" cy="44767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305175" y="4781550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22D3EE"/>
                </a:solidFill>
                <a:latin typeface="Space Grotesk"/>
                <a:ea typeface="Space Grotesk"/>
              </a:rPr>
              <a:t>−20.34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305175" y="5095875"/>
            <a:ext cx="10763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MW · MAE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绝对降幅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5772150"/>
            <a:ext cx="3333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风险链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1057275" y="5695950"/>
            <a:ext cx="981075" cy="285750"/>
          </a:xfrm>
          <a:prstGeom prst="roundRect">
            <a:avLst>
              <a:gd name="adj" fmla="val 2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1190625" y="57531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未预见峰值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2133600" y="573405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64748B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2400300" y="5695950"/>
            <a:ext cx="981075" cy="285750"/>
          </a:xfrm>
          <a:prstGeom prst="roundRect">
            <a:avLst>
              <a:gd name="adj" fmla="val 2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2533650" y="57531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持续重过载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476625" y="5734050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64748B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3743325" y="5695950"/>
            <a:ext cx="838200" cy="285750"/>
          </a:xfrm>
          <a:prstGeom prst="roundRect">
            <a:avLst>
              <a:gd name="adj" fmla="val 2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76675" y="57531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59E0B"/>
                </a:solidFill>
                <a:latin typeface="Microsoft YaHei"/>
                <a:ea typeface="Microsoft YaHei"/>
              </a:rPr>
              <a:t>设备损坏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09600" y="6429375"/>
            <a:ext cx="35623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面向电力负荷预测持续学习的智能引擎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投资人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×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产业客户路演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2026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10677525" y="648652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848975" y="645795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CLE · 01 / 07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46" name="" descr="&lt;Slide style={{ width: 1280, height: 720, background: '#FFFFFF', display: 'flex', flexDirection: 'column', padding: '22px 64px 16px 64px' }}&gt;&#10;    &lt;Box&gt;&#10;        &lt;Text style={{ fontSize: 32, fontWeight: 'bold', color: '#0A1D37' }}&gt;预测不准时，王工只能用经验预测补救&lt;/Text&gt;&#10;        &lt;Text style={{ fontSize: 16, color: '#64748B', marginTop: 6 }}&gt;省级电网公司生技部专责王工的一天 · 旅游旺季与返乡潮的用电高峰&lt;/Text&gt;&#10;    &lt;/Box&gt;&#10;&#10;    &lt;Box style={{ flexDirection: 'row', gap: 24, flex: 1, marginTop: 16 }}&gt;&#10;        &lt;Box style={{ width: 330, background: '#0A1D37', borderRadius: 12, padding: 24, display: 'flex', flexDirection: 'column' }}&gt;&#10;            &lt;Text style={{ fontSize: 12.5, color: '#22D3EE', letterSpacing: 3 }}&gt;客户 · 王工&lt;/Text&gt;&#10;            &lt;Text style={{ fontSize: 19, fontWeight: 'bold', color: '#F8FAFC', marginTop: 10 }}&gt;省级电网公司 · 生技部专责&lt;/Text&gt;&#10;            &lt;Text style={{ fontSize: 14, color: '#94A3B8', lineHeight: 1.8, marginTop: 10 }}&gt;旅游旺季、返乡潮等因素可能带来用电高峰。他需要据此研判峰值风险，并安排重过载应对措施。&lt;/Text&gt;&#10;            &lt;Box style={{ height: 1, background: '#123B63', marginTop: 16 }} /&gt;&#10;            &lt;Text style={{ fontSize: 12.5, color: '#22D3EE', marginTop: 14, letterSpacing: 2 }}&gt;一天三刻&lt;/Text&gt;&#10;            &lt;Box style={{ flexDirection: 'row', gap: 10, marginTop: 10 }}&gt;&#10;                &lt;Text style={{ width: 44, fontSize: 13, fontWeight: 'bold', color: '#22D3EE' }}&gt;08:00&lt;/Text&gt;&#10;                &lt;Text style={{ flex: 1, fontSize: 13, color: '#CBD5E1', lineHeight: 1.6 }}&gt;例行查看预测，发现高峰时段明显偏低&lt;/Text&gt;&#10;            &lt;/Box&gt;&#10;            &lt;Box style={{ flexDirection: 'row', gap: 10, marginTop: 10 }}&gt;&#10;                &lt;Text style={{ width: 44, fontSize: 13, fontWeight: 'bold', color: '#22D3EE' }}&gt;09:30&lt;/Text&gt;&#10;                &lt;Text style={{ flex: 1, fontSize: 13, color: '#CBD5E1', lineHeight: 1.6 }}&gt;调出往年同期曲线，乘以经验修正因子&lt;/Text&gt;&#10;            &lt;/Box&gt;&#10;            &lt;Box style={{ flexDirection: 'row', gap: 10, marginTop: 10 }}&gt;&#10;                &lt;Text style={{ width: 44, fontSize: 13, fontWeight: 'bold', color: '#22D3EE' }}&gt;14:00&lt;/Text&gt;&#10;                &lt;Text style={{ flex: 1, fontSize: 13, color: '#CBD5E1', lineHeight: 1.6 }}&gt;提交临时预测，紧急安排重过载应对&lt;/Text&gt;&#10;            &lt;/Box&gt;&#10;            &lt;Text style={{ fontSize: 16, color: '#F8FAFC', lineHeight: 1.8, marginTop: 'auto' }}&gt;「预测不准的那天，我只能拿往年同期，乘一个经验修正系数。」&lt;/Text&gt;&#10;            &lt;Text style={{ fontSize: 12, color: '#64748B', marginTop: 10 }}&gt;—— 一次性交付模式的日常&lt;/Text&gt;&#10;        &lt;/Box&gt;&#10;&#10;        &lt;Box style={{ flex: 1, display: 'flex', flexDirection: 'column' }}&gt;&#10;            &lt;Box style={{ display: 'flex', flexDirection: 'column' }}&gt;&#10;                &lt;Box style={{ flexDirection: 'row', alignItems: 'center', gap: 16, paddingBottom: 12, borderBottom: '1px solid #E2E8F0' }}&gt;&#10;                    &lt;Text style={{ width: 56, fontSize: 25, fontWeight: 'bold', color: '#0A1D37', fontFamily: 'Space Grotesk, Inter, sans-serif' }}&gt;01&lt;/Text&gt;&#10;                    &lt;Box style={{ flex: 1 }}&gt;&#10;                        &lt;Text style={{ fontSize: 19, fontWeight: 'bold', color: '#0F2039' }}&gt;预测偏差&lt;/Text&gt;&#10;                        &lt;Text style={{ fontSize: 13.5, color: '#64748B', marginTop: 2 }}&gt;模型预测低于实际负荷，峰值时间点与幅度同时偏移&lt;/Text&gt;&#10;                    &lt;/Box&gt;&#10;                    &lt;Box style={{ padding: '4px 10px', background: '#F1F5F9', borderRadius: 6 }}&gt;&#10;                        &lt;Text style={{ fontSize: 12, color: '#64748B' }}&gt;旺季被低估&lt;/Text&gt;&#10;                    &lt;/Box&gt;&#10;                &lt;/Box&gt;&#10;                &lt;Box style={{ flexDirection: 'row', alignItems: 'center', gap: 16, paddingBottom: 12, paddingTop: 12, borderBottom: '1px solid #E2E8F0' }}&gt;&#10;                    &lt;Text style={{ width: 56, fontSize: 25, fontWeight: 'bold', color: '#0A1D37', fontFamily: 'Space Grotesk, Inter, sans-serif' }}&gt;02&lt;/Text&gt;&#10;                    &lt;Box style={{ flex: 1 }}&gt;&#10;                        &lt;Text style={{ fontSize: 19, fontWeight: 'bold', color: '#0F2039' }}&gt;经验补救&lt;/Text&gt;&#10;                        &lt;Text style={{ fontSize: 13.5, color: '#64748B', marginTop: 2 }}&gt;参考往年同期负荷，乘以基于经验估计的修正因子&lt;/Text&gt;&#10;                    &lt;/Box&gt;&#10;                    &lt;Box style={{ padding: '4px 10px', background: '#F1F5F9', borderRadius: 6 }}&gt;&#10;                        &lt;Text style={{ fontSize: 12, color: '#64748B' }}&gt;依赖个人&lt;/Text&gt;&#10;                    &lt;/Box&gt;&#10;                &lt;/Box&gt;&#10;                &lt;Box style={{ flexDirection: 'row', alignItems: 'center', gap: 16, paddingBottom: 12, paddingTop: 12, borderBottom: '1px solid #E2E8F0' }}&gt;&#10;                    &lt;Text style={{ width: 56, fontSize: 25, fontWeight: 'bold', color: '#0A1D37', fontFamily: 'Space Grotesk, Inter, sans-serif' }}&gt;03&lt;/Text&gt;&#10;                    &lt;Box style={{ flex: 1 }}&gt;&#10;                        &lt;Text style={{ fontSize: 19, fontWeight: 'bold', color: '#0F2039' }}&gt;临时预测&lt;/Text&gt;&#10;                        &lt;Text style={{ fontSize: 13.5, color: '#64748B', marginTop: 2 }}&gt;结果仅够支撑当日的峰值风险研判，无法沉淀复用&lt;/Text&gt;&#10;                    &lt;/Box&gt;&#10;                    &lt;Box style={{ padding: '4px 10px', background: '#F1F5F9', borderRadius: 6 }}&gt;&#10;                        &lt;Text style={{ fontSize: 12, color: '#64748B' }}&gt;一次性&lt;/Text&gt;&#10;                    &lt;/Box&gt;&#10;                &lt;/Box&gt;&#10;                &lt;Box style={{ flexDirection: 'row', alignItems: 'center', gap: 16, paddingTop: 12 }}&gt;&#10;                    &lt;Text style={{ width: 56, fontSize: 25, fontWeight: 'bold', color: '#0A1D37', fontFamily: 'Space Grotesk, Inter, sans-serif' }}&gt;04&lt;/Text&gt;&#10;                    &lt;Box style={{ flex: 1 }}&gt;&#10;                        &lt;Text style={{ fontSize: 19, fontWeight: 'bold', color: '#0F2039' }}&gt;被动应对&lt;/Text&gt;&#10;                        &lt;Text style={{ fontSize: 13.5, color: '#64748B', marginTop: 2 }}&gt;重过载应对窗口被压缩，措施滞后于风险&lt;/Text&gt;&#10;                    &lt;/Box&gt;&#10;                    &lt;Box style={{ padding: '4px 10px', background: '#F1F5F9', borderRadius: 6 }}&gt;&#10;                        &lt;Text style={{ fontSize: 12, color: '#64748B' }}&gt;窗口受限&lt;/Text&gt;&#10;                    &lt;/Box&gt;&#10;                &lt;/Box&gt;&#10;            &lt;/Box&gt;&#10;&#10;            &lt;Box style={{ marginTop: 16, background: '#0A1D37', borderRadius: 12, padding: '18px 24px', display: 'flex', flexDirection: 'column' }}&gt;&#10;                &lt;Box style={{ flexDirection: 'row', alignItems: 'center', gap: 24 }}&gt;&#10;                    &lt;Box style={{ flex: 1 }}&gt;&#10;                        &lt;Text style={{ fontSize: 17.5, fontWeight: 'bold', color: '#F8FAFC' }}&gt;想从模型层面及时介入？&lt;/Text&gt;&#10;                        &lt;Text style={{ fontSize: 13.5, color: '#94A3B8', marginTop: 6, lineHeight: 1.7 }}&gt;合同结束后没有算法团队与权限，重新优化要走立项、采购或运维流程&lt;/Text&gt;&#10;                    &lt;/Box&gt;&#10;                    &lt;Box style={{ alignItems: 'flex-end' }}&gt;&#10;                        &lt;Text style={{ fontSize: 40, fontWeight: 'bold', color: '#22D3EE', fontFamily: 'Space Grotesk, Inter, sans-serif' }}&gt;1–2 个月&lt;/Text&gt;&#10;                        &lt;Text style={{ fontSize: 12, color: '#94A3B8', marginTop: 2 }}&gt;重新优化的典型耗时&lt;/Text&gt;&#10;                    &lt;/Box&gt;&#10;                &lt;/Box&gt;&#10;                &lt;Box style={{ flexDirection: 'row', gap: 10, marginTop: 14 }}&gt;&#10;                    &lt;Box style={{ padding: '4px 12px', border: '1px solid #123B63', borderRadius: 6 }}&gt;&#10;                        &lt;Text style={{ fontSize: 12.5, color: '#94A3B8' }}&gt;无算法团队&lt;/Text&gt;&#10;                    &lt;/Box&gt;&#10;                    &lt;Box style={{ padding: '4px 12px', border: '1px solid #123B63', borderRadius: 6 }}&gt;&#10;                        &lt;Text style={{ fontSize: 12.5, color: '#94A3B8' }}&gt;无迭代权限&lt;/Text&gt;&#10;                    &lt;/Box&gt;&#10;                    &lt;Box style={{ padding: '4px 12px', border: '1px solid #123B63', borderRadius: 6 }}&gt;&#10;                        &lt;Text style={{ fontSize: 12.5, color: '#94A3B8' }}&gt;只能走立项 / 采购 / 运维流程&lt;/Text&gt;&#10;                    &lt;/Box&gt;&#10;                &lt;/Box&gt;&#10;            &lt;/Box&gt;&#10;        &lt;/Box&gt;&#10;    &lt;/Box&gt;&#10;&#10;    &lt;Box style={{ marginTop: 14, background: 'rgba(34,211,238,0.07)', borderLeft: '4px solid #22D3EE', borderRadius: '0 8px 8px 0', padding: '10px 18px' }}&gt;&#10;        &lt;Text style={{ fontSize: 15, color: '#0F2039' }}&gt;根源：&lt;span style={{ fontWeight: 'bold' }}&gt;一次性交付模式&lt;/span&gt; —— 模型上线之日，就是它开始过时之时。&lt;/Text&gt;&#10;    &lt;/Box&gt;&#10;&#10;    &lt;Box style={{ flexDirection: 'row', marginTop: 12, alignItems: 'center' }}&gt;&#10;        &lt;Text style={{ fontSize: 12, color: '#94A3B8' }}&gt;负荷预测持续学习引擎 · 客户痛点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2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09600" y="209550"/>
            <a:ext cx="10972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预测不准时，王工只能用经验预测补救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省级电网公司生技部专责王工的一天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旅游旺季与返乡潮的用电高峰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09600" y="981075"/>
            <a:ext cx="3143250" cy="4962525"/>
          </a:xfrm>
          <a:prstGeom prst="roundRect">
            <a:avLst>
              <a:gd name="adj" fmla="val 3636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838200" y="1209675"/>
            <a:ext cx="2686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spc="225">
                <a:solidFill>
                  <a:srgbClr val="22D3EE"/>
                </a:solidFill>
                <a:latin typeface="Microsoft YaHei"/>
                <a:ea typeface="Microsoft YaHei"/>
              </a:rPr>
              <a:t>客户</a:t>
            </a:r>
            <a:r>
              <a:rPr lang="en-US" sz="938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938" spc="225">
                <a:solidFill>
                  <a:srgbClr val="22D3EE"/>
                </a:solidFill>
                <a:latin typeface="Microsoft YaHei"/>
                <a:ea typeface="Microsoft YaHei"/>
              </a:rPr>
              <a:t>王工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838200" y="1447800"/>
            <a:ext cx="2686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8FAFC"/>
                </a:solidFill>
                <a:latin typeface="Microsoft YaHei"/>
                <a:ea typeface="Microsoft YaHei"/>
              </a:rPr>
              <a:t>省级电网公司</a:t>
            </a:r>
            <a:r>
              <a:rPr lang="en-US" sz="1425" b="1">
                <a:solidFill>
                  <a:srgbClr val="F8FAFC"/>
                </a:solidFill>
                <a:latin typeface="Microsoft YaHei"/>
                <a:ea typeface="Microsoft YaHei"/>
              </a:rPr>
              <a:t> · </a:t>
            </a:r>
            <a:r>
              <a:rPr lang="zh-CN" sz="1425" b="1">
                <a:solidFill>
                  <a:srgbClr val="F8FAFC"/>
                </a:solidFill>
                <a:latin typeface="Microsoft YaHei"/>
                <a:ea typeface="Microsoft YaHei"/>
              </a:rPr>
              <a:t>生技部专责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838200" y="1762125"/>
            <a:ext cx="2686050" cy="866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旅游旺季、返乡潮等因素可能带来用电高峰。他需要据此研判峰值风险，并安排重过载应对措施。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838200" y="2781300"/>
            <a:ext cx="2686050" cy="952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838200" y="2924175"/>
            <a:ext cx="2686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spc="150">
                <a:solidFill>
                  <a:srgbClr val="22D3EE"/>
                </a:solidFill>
                <a:latin typeface="Microsoft YaHei"/>
                <a:ea typeface="Microsoft YaHei"/>
              </a:rPr>
              <a:t>一天三刻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838200" y="3162300"/>
            <a:ext cx="419100" cy="238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2D3EE"/>
                </a:solidFill>
                <a:latin typeface="Microsoft YaHei"/>
                <a:ea typeface="Microsoft YaHei"/>
              </a:rPr>
              <a:t>08:00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352550" y="3162300"/>
            <a:ext cx="21717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例行查看预测，发现高峰时段明显偏低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38200" y="3495675"/>
            <a:ext cx="419100" cy="238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2D3EE"/>
                </a:solidFill>
                <a:latin typeface="Microsoft YaHei"/>
                <a:ea typeface="Microsoft YaHei"/>
              </a:rPr>
              <a:t>09:30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52550" y="3495675"/>
            <a:ext cx="21717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调出往年同期曲线，乘以经验修正因子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838200" y="3829050"/>
            <a:ext cx="419100" cy="2381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22D3EE"/>
                </a:solidFill>
                <a:latin typeface="Microsoft YaHei"/>
                <a:ea typeface="Microsoft YaHei"/>
              </a:rPr>
              <a:t>14:00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352550" y="3829050"/>
            <a:ext cx="21717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75">
                <a:solidFill>
                  <a:srgbClr val="CBD5E1"/>
                </a:solidFill>
                <a:latin typeface="Microsoft YaHei"/>
                <a:ea typeface="Microsoft YaHei"/>
              </a:rPr>
              <a:t>提交临时预测，紧急安排重过载应对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838200" y="4810125"/>
            <a:ext cx="26860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00">
                <a:solidFill>
                  <a:srgbClr val="F8FAFC"/>
                </a:solidFill>
                <a:latin typeface="Microsoft YaHei"/>
                <a:ea typeface="Microsoft YaHei"/>
              </a:rPr>
              <a:t>「预测不准的那天，我只能拿往年同期，乘一个经验修正系数。」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838200" y="5572125"/>
            <a:ext cx="2686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——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一次性交付模式的日常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981450" y="981075"/>
            <a:ext cx="7600950" cy="533400"/>
          </a:xfrm>
          <a:custGeom>
            <a:pathLst>
              <a:path w="798" h="56">
                <a:moveTo>
                  <a:pt x="0" y="55"/>
                </a:moveTo>
                <a:lnTo>
                  <a:pt x="798" y="55"/>
                </a:lnTo>
                <a:lnTo>
                  <a:pt x="798" y="56"/>
                </a:lnTo>
                <a:lnTo>
                  <a:pt x="0" y="56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3981450" y="1038225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01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4667250" y="981075"/>
            <a:ext cx="6000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预测偏差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4667250" y="1219200"/>
            <a:ext cx="6000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模型预测低于实际负荷，峰值时间点与幅度同时偏移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10820400" y="1076325"/>
            <a:ext cx="7620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915650" y="1114425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旺季被低估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3981450" y="1504950"/>
            <a:ext cx="7600950" cy="647700"/>
          </a:xfrm>
          <a:custGeom>
            <a:pathLst>
              <a:path w="798" h="68">
                <a:moveTo>
                  <a:pt x="0" y="67"/>
                </a:moveTo>
                <a:lnTo>
                  <a:pt x="798" y="67"/>
                </a:lnTo>
                <a:lnTo>
                  <a:pt x="798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981450" y="1676400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667250" y="1619250"/>
            <a:ext cx="6115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经验补救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4667250" y="1857375"/>
            <a:ext cx="611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参考往年同期负荷，乘以基于经验估计的修正因子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10934700" y="1714500"/>
            <a:ext cx="6477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1029950" y="1752600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依赖个人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3981450" y="2143125"/>
            <a:ext cx="7600950" cy="647700"/>
          </a:xfrm>
          <a:custGeom>
            <a:pathLst>
              <a:path w="798" h="68">
                <a:moveTo>
                  <a:pt x="0" y="67"/>
                </a:moveTo>
                <a:lnTo>
                  <a:pt x="798" y="67"/>
                </a:lnTo>
                <a:lnTo>
                  <a:pt x="798" y="68"/>
                </a:lnTo>
                <a:lnTo>
                  <a:pt x="0" y="68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981450" y="2314575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4667250" y="2257425"/>
            <a:ext cx="622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临时预测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4667250" y="2495550"/>
            <a:ext cx="6229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结果仅够支撑当日的峰值风险研判，无法沉淀复用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11049000" y="2352675"/>
            <a:ext cx="5334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1144250" y="239077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一次性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981450" y="2952750"/>
            <a:ext cx="5334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0A1D37"/>
                </a:solidFill>
                <a:latin typeface="Space Grotesk"/>
                <a:ea typeface="Space Grotesk"/>
              </a:rPr>
              <a:t>04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667250" y="2895600"/>
            <a:ext cx="6115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F2039"/>
                </a:solidFill>
                <a:latin typeface="Microsoft YaHei"/>
                <a:ea typeface="Microsoft YaHei"/>
              </a:rPr>
              <a:t>被动应对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667250" y="3133725"/>
            <a:ext cx="6115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>
                <a:solidFill>
                  <a:srgbClr val="64748B"/>
                </a:solidFill>
                <a:latin typeface="Microsoft YaHei"/>
                <a:ea typeface="Microsoft YaHei"/>
              </a:rPr>
              <a:t>重过载应对窗口被压缩，措施滞后于风险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10934700" y="2990850"/>
            <a:ext cx="6477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1029950" y="3028950"/>
            <a:ext cx="457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窗口受限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981450" y="3448050"/>
            <a:ext cx="7600950" cy="1314450"/>
          </a:xfrm>
          <a:prstGeom prst="roundRect">
            <a:avLst>
              <a:gd name="adj" fmla="val 8696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4210050" y="3667125"/>
            <a:ext cx="5410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F8FAFC"/>
                </a:solidFill>
                <a:latin typeface="Microsoft YaHei"/>
                <a:ea typeface="Microsoft YaHei"/>
              </a:rPr>
              <a:t>想从模型层面及时介入？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4210050" y="3924300"/>
            <a:ext cx="5410200" cy="2667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13">
                <a:solidFill>
                  <a:srgbClr val="94A3B8"/>
                </a:solidFill>
                <a:latin typeface="Microsoft YaHei"/>
                <a:ea typeface="Microsoft YaHei"/>
              </a:rPr>
              <a:t>合同结束后没有算法团队与权限，重新优化要走立项、采购或运维流程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848850" y="3619500"/>
            <a:ext cx="15049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2D3EE"/>
                </a:solidFill>
                <a:latin typeface="Space Grotesk"/>
                <a:ea typeface="Space Grotesk"/>
              </a:rPr>
              <a:t>1–2 </a:t>
            </a:r>
            <a:r>
              <a:rPr lang="zh-CN" sz="3000" b="1">
                <a:solidFill>
                  <a:srgbClr val="22D3EE"/>
                </a:solidFill>
                <a:latin typeface="Space Grotesk"/>
                <a:ea typeface="Space Grotesk"/>
              </a:rPr>
              <a:t>个月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325100" y="4095750"/>
            <a:ext cx="1028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重新优化的典型耗时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4210050" y="4371975"/>
            <a:ext cx="828675" cy="219075"/>
          </a:xfrm>
          <a:prstGeom prst="roundRect">
            <a:avLst>
              <a:gd name="adj" fmla="val 26087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324350" y="4410075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无算法团队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5133975" y="4371975"/>
            <a:ext cx="828675" cy="219075"/>
          </a:xfrm>
          <a:prstGeom prst="roundRect">
            <a:avLst>
              <a:gd name="adj" fmla="val 26087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5248275" y="4410075"/>
            <a:ext cx="600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无迭代权限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057900" y="4371975"/>
            <a:ext cx="1743075" cy="219075"/>
          </a:xfrm>
          <a:prstGeom prst="roundRect">
            <a:avLst>
              <a:gd name="adj" fmla="val 26087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172200" y="4410075"/>
            <a:ext cx="1514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只能走立项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采购</a:t>
            </a:r>
            <a:r>
              <a:rPr lang="en-US" sz="938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运维流程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647700" y="6076950"/>
            <a:ext cx="10972800" cy="361950"/>
          </a:xfrm>
          <a:custGeom>
            <a:pathLst>
              <a:path w="1152" h="38">
                <a:moveTo>
                  <a:pt x="0" y="0"/>
                </a:moveTo>
                <a:lnTo>
                  <a:pt x="1144" y="0"/>
                </a:lnTo>
                <a:cubicBezTo>
                  <a:pt x="1148" y="0"/>
                  <a:pt x="1152" y="4"/>
                  <a:pt x="1152" y="8"/>
                </a:cubicBezTo>
                <a:lnTo>
                  <a:pt x="1152" y="30"/>
                </a:lnTo>
                <a:cubicBezTo>
                  <a:pt x="1152" y="34"/>
                  <a:pt x="1148" y="38"/>
                  <a:pt x="1144" y="38"/>
                </a:cubicBezTo>
                <a:lnTo>
                  <a:pt x="0" y="38"/>
                </a:lnTo>
                <a:lnTo>
                  <a:pt x="0" y="38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2D3EE">
              <a:alpha val="7000"/>
            </a:srgbClr>
          </a:solidFill>
          <a:ln/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647700" y="6076950"/>
            <a:ext cx="10972800" cy="361950"/>
          </a:xfrm>
          <a:custGeom>
            <a:pathLst>
              <a:path w="1152" h="38">
                <a:moveTo>
                  <a:pt x="4" y="38"/>
                </a:moveTo>
                <a:lnTo>
                  <a:pt x="0" y="38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19150" y="6172200"/>
            <a:ext cx="1059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根源：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一次性交付模式</a:t>
            </a:r>
            <a:r>
              <a:rPr lang="en-US" sz="1125">
                <a:solidFill>
                  <a:srgbClr val="0F2039"/>
                </a:solidFill>
                <a:latin typeface="Microsoft YaHei"/>
                <a:ea typeface="Microsoft YaHei"/>
              </a:rPr>
              <a:t> —— </a:t>
            </a: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模型上线之日，就是它开始过时之时。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70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客户痛点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02 / 07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04" name="" descr="&lt;Slide style={{ width: 1280, height: 720, background: '#FFFFFF', display: 'flex', flexDirection: 'column', padding: '22px 64px 16px 64px' }}&gt;&#10;    &lt;Box&gt;&#10;        &lt;Text style={{ fontSize: 32, fontWeight: 'bold', color: '#0A1D37' }}&gt;我们卖的不是模型，而是让 Agent 可靠工作的 Harness&lt;/Text&gt;&#10;        &lt;Text style={{ fontSize: 16, color: '#64748B', marginTop: 6 }}&gt;Harness 把数据、工具、约束和反馈组织起来——让通用 Agent 成为垂直智能体&lt;/Text&gt;&#10;    &lt;/Box&gt;&#10;&#10;    &lt;Box style={{ flexDirection: 'row', gap: 28, flex: 1, marginTop: 16, alignItems: 'stretch' }}&gt;&#10;        &lt;Box style={{ width: 700, position: 'relative', height: 500 }}&gt;&#10;            &lt;Box style={{ position: 'absolute', left: 349, top: 92, width: 2, height: 66, background: '#CBD5E1' }} /&gt;&#10;            &lt;Box style={{ position: 'absolute', left: 202, top: 242, width: 68, height: 2, background: '#CBD5E1' }} /&gt;&#10;            &lt;Box style={{ position: 'absolute', left: 430, top: 242, width: 68, height: 2, background: '#CBD5E1' }} /&gt;&#10;            &lt;Box style={{ position: 'absolute', left: 349, top: 318, width: 2, height: 74, background: '#CBD5E1' }} /&gt;&#10;            &lt;Box style={{ position: 'absolute', left: 210, top: 8, width: 280, height: 84, background: '#FFFFFF', border: '1.5px solid #E2E8F0', borderRadius: 10, alignItems: 'center', justifyContent: 'center', padding: 10 }}&gt;&#10;                &lt;Text style={{ fontSize: 16.5, fontWeight: 'bold', color: '#0A1D37' }}&gt;① 数据上下文（读取）&lt;/Text&gt;&#10;                &lt;Text style={{ fontSize: 12, color: '#64748B', marginTop: 6, textAlign: 'center' }}&gt;新增负荷 · 天气 · 历史分布 · 模型表现 · EDM 日志&lt;/Text&gt;&#10;            &lt;/Box&gt;&#10;            &lt;Box style={{ position: 'absolute', left: 2, top: 198, width: 200, height: 92, background: '#FFFFFF', border: '1.5px solid #E2E8F0', borderRadius: 10, alignItems: 'center', justifyContent: 'center', padding: 10 }}&gt;&#10;                &lt;Text style={{ fontSize: 16.5, fontWeight: 'bold', color: '#0A1D37' }}&gt;② EDM&lt;/Text&gt;&#10;                &lt;Text style={{ fontSize: 12, color: '#64748B', marginTop: 6, textAlign: 'center' }}&gt;数据漂移检测 · 结论沉淀为日志与上下文&lt;/Text&gt;&#10;            &lt;/Box&gt;&#10;            &lt;Box style={{ position: 'absolute', left: 498, top: 198, width: 200, height: 92, background: '#FFFFFF', border: '1.5px solid #E2E8F0', borderRadius: 10, alignItems: 'center', justifyContent: 'center', padding: 10 }}&gt;&#10;                &lt;Text style={{ fontSize: 16.5, fontWeight: 'bold', color: '#0A1D37' }}&gt;③ 训练验证&lt;/Text&gt;&#10;                &lt;Text style={{ fontSize: 12, color: '#64748B', marginTop: 6, textAlign: 'center' }}&gt;训练 Skill · 时序验证统一口径&lt;/Text&gt;&#10;            &lt;/Box&gt;&#10;            &lt;Box style={{ position: 'absolute', left: 210, top: 392, width: 280, height: 84, background: '#FFFFFF', border: '1.5px solid #E2E8F0', borderRadius: 10, alignItems: 'center', justifyContent: 'center', padding: 10 }}&gt;&#10;                &lt;Text style={{ fontSize: 16.5, fontWeight: 'bold', color: '#0A1D37' }}&gt;④ 发布约束&lt;/Text&gt;&#10;                &lt;Text style={{ fontSize: 12, color: '#64748B', marginTop: 6, textAlign: 'center' }}&gt;只能使用已到达数据 · 版本化管理&lt;/Text&gt;&#10;            &lt;/Box&gt;&#10;            &lt;Box style={{ position: 'absolute', left: 270, top: 158, width: 160, height: 160, borderRadius: 80, background: '#22D3EE', alignItems: 'center', justifyContent: 'center' }}&gt;&#10;                &lt;Text style={{ fontSize: 27, fontWeight: 'bold', color: '#0A1D37' }}&gt;Agent&lt;/Text&gt;&#10;                &lt;Text style={{ fontSize: 12, color: '#0A1D37', opacity: 0.72, marginTop: 4 }}&gt;垂直智能体&lt;/Text&gt;&#10;            &lt;/Box&gt;&#10;            &lt;Text style={{ position: 'absolute', left: 0, top: 486, width: 700, fontSize: 13, color: '#94A3B8', textAlign: 'center' }}&gt;Agent 决定何时学、怎么学；Harness 保证它学得可靠、可审计&lt;/Text&gt;&#10;            &lt;Box style={{ position: 'absolute', left: 175, top: 512, width: 350, flexDirection: 'row', justifyContent: 'center', gap: 8 }}&gt;&#10;                &lt;Box style={{ padding: '3px 10px', background: '#F1F5F9', borderRadius: 6 }}&gt;&#10;                    &lt;Text style={{ fontSize: 11.5, color: '#64748B' }}&gt;数据&lt;/Text&gt;&#10;                &lt;/Box&gt;&#10;                &lt;Box style={{ padding: '3px 10px', background: '#F1F5F9', borderRadius: 6 }}&gt;&#10;                    &lt;Text style={{ fontSize: 11.5, color: '#64748B' }}&gt;工具&lt;/Text&gt;&#10;                &lt;/Box&gt;&#10;                &lt;Box style={{ padding: '3px 10px', background: '#F1F5F9', borderRadius: 6 }}&gt;&#10;                    &lt;Text style={{ fontSize: 11.5, color: '#64748B' }}&gt;约束&lt;/Text&gt;&#10;                &lt;/Box&gt;&#10;                &lt;Box style={{ padding: '3px 10px', background: '#F1F5F9', borderRadius: 6 }}&gt;&#10;                    &lt;Text style={{ fontSize: 11.5, color: '#64748B' }}&gt;反馈&lt;/Text&gt;&#10;                &lt;/Box&gt;&#10;                &lt;Text style={{ fontSize: 11.5, color: '#94A3B8', alignSelf: 'center' }}&gt;—— Harness 四要素&lt;/Text&gt;&#10;            &lt;/Box&gt;&#10;        &lt;/Box&gt;&#10;&#10;        &lt;Box style={{ flex: 1, display: 'flex', flexDirection: 'column' }}&gt;&#10;            &lt;Text style={{ fontSize: 19, fontWeight: 'bold', color: '#0A1D37' }}&gt;一句话定义&lt;/Text&gt;&#10;            &lt;Box style={{ borderLeft: '4px solid #22D3EE', background: 'rgba(34,211,238,0.07)', borderRadius: '0 10px 10px 0', padding: 14, marginTop: 10 }}&gt;&#10;                &lt;Text style={{ fontSize: 15, color: '#0F2039', lineHeight: 1.8 }}&gt;Harness 把数据、工具、约束和反馈组织起来，让通用 Agent 成为负荷预测持续学习的垂直智能体。&lt;/Text&gt;&#10;            &lt;/Box&gt;&#10;            &lt;Box style={{ marginTop: 16 }}&gt;&#10;                &lt;Text style={{ fontSize: 15, fontWeight: 'bold', color: '#0A1D37' }}&gt;Agent 读取&lt;/Text&gt;&#10;                &lt;Text style={{ fontSize: 13, color: '#64748B', marginTop: 4, lineHeight: 1.7 }}&gt;新增负荷、天气、历史分布、模型表现、EDM 日志&lt;/Text&gt;&#10;                &lt;Text style={{ fontSize: 12, color: '#94A3B8', marginTop: 4 }}&gt;→ 自主判断是否学习、如何学习&lt;/Text&gt;&#10;            &lt;/Box&gt;&#10;            &lt;Box style={{ marginTop: 12, paddingBottom: 12, borderBottom: '1px solid #E2E8F0' }}&gt;&#10;                &lt;Text style={{ fontSize: 15, fontWeight: 'bold', color: '#0A1D37' }}&gt;Harness 提供&lt;/Text&gt;&#10;                &lt;Text style={{ fontSize: 13, color: '#64748B', marginTop: 4, lineHeight: 1.7 }}&gt;EDM、训练、验证与部署能力，并限制其只能使用已到达数据&lt;/Text&gt;&#10;                &lt;Text style={{ fontSize: 12, color: '#94A3B8', marginTop: 4 }}&gt;→ 能力标准化，不依赖特定算法团队&lt;/Text&gt;&#10;            &lt;/Box&gt;&#10;            &lt;Box style={{ borderLeft: '4px solid #0A1D37', background: '#F8FAFC', borderRadius: '0 10px 10px 0', padding: 14, marginTop: 16 }}&gt;&#10;                &lt;Text style={{ fontSize: 16, fontWeight: 'bold', color: '#0A1D37' }}&gt;约束是卖点&lt;/Text&gt;&#10;                &lt;Text style={{ fontSize: 13, color: '#0F2039', lineHeight: 1.8, marginTop: 6 }}&gt;Agent 可自主决定如何学习，但只能在 Harness 划定的数据边界与验证口径内行动——这正是产业客户需要的『可审计的自主权』。&lt;/Text&gt;&#10;            &lt;/Box&gt;&#10;            &lt;Box style={{ borderLeft: '4px solid #F59E0B', background: '#FFFBEB', borderRadius: '0 10px 10px 0', padding: 14, marginTop: 12 }}&gt;&#10;                &lt;Text style={{ fontSize: 16, fontWeight: 'bold', color: '#0A1D37' }}&gt;为什么是工程问题&lt;/Text&gt;&#10;                &lt;Text style={{ fontSize: 13, color: '#0F2039', lineHeight: 1.8, marginTop: 6 }}&gt;模型会不会过时，不再取决于算法团队是否在场——持续学习成为标准化、可复用、可审计的工程能力。&lt;/Text&gt;&#10;            &lt;/Box&gt;&#10;        &lt;/Box&gt;&#10;    &lt;/Box&gt;&#10;&#10;    &lt;Box style={{ flexDirection: 'row', marginTop: 12, alignItems: 'center' }}&gt;&#10;        &lt;Text style={{ fontSize: 12, color: '#94A3B8' }}&gt;负荷预测持续学习引擎 · 方案定义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3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09600" y="209550"/>
            <a:ext cx="10972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我们卖的不是模型，而是让</a:t>
            </a:r>
            <a:r>
              <a:rPr lang="en-US" sz="2400" b="1">
                <a:solidFill>
                  <a:srgbClr val="0A1D37"/>
                </a:solidFill>
                <a:latin typeface="Microsoft YaHei"/>
                <a:ea typeface="Microsoft YaHei"/>
              </a:rPr>
              <a:t> Agent </a:t>
            </a: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可靠工作的</a:t>
            </a:r>
            <a:r>
              <a:rPr lang="en-US" sz="2400" b="1">
                <a:solidFill>
                  <a:srgbClr val="0A1D37"/>
                </a:solidFill>
                <a:latin typeface="Microsoft YaHei"/>
                <a:ea typeface="Microsoft YaHei"/>
              </a:rPr>
              <a:t> Harness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Harness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把数据、工具、约束和反馈组织起来——让通用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 Agent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成为垂直智能体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543800" y="981075"/>
            <a:ext cx="4038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A1D37"/>
                </a:solidFill>
                <a:latin typeface="Microsoft YaHei"/>
                <a:ea typeface="Microsoft YaHei"/>
              </a:rPr>
              <a:t>一句话定义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581900" y="1295400"/>
            <a:ext cx="4038600" cy="885825"/>
          </a:xfrm>
          <a:custGeom>
            <a:pathLst>
              <a:path w="424" h="93">
                <a:moveTo>
                  <a:pt x="0" y="0"/>
                </a:moveTo>
                <a:lnTo>
                  <a:pt x="414" y="0"/>
                </a:lnTo>
                <a:cubicBezTo>
                  <a:pt x="420" y="0"/>
                  <a:pt x="424" y="4"/>
                  <a:pt x="424" y="10"/>
                </a:cubicBezTo>
                <a:lnTo>
                  <a:pt x="424" y="83"/>
                </a:lnTo>
                <a:cubicBezTo>
                  <a:pt x="424" y="89"/>
                  <a:pt x="420" y="93"/>
                  <a:pt x="414" y="93"/>
                </a:cubicBezTo>
                <a:lnTo>
                  <a:pt x="0" y="93"/>
                </a:lnTo>
                <a:lnTo>
                  <a:pt x="0" y="93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2D3EE">
              <a:alpha val="7000"/>
            </a:srgbClr>
          </a:solidFill>
          <a:ln/>
        </p:spPr>
        <p:txBody>
          <a:bodyPr/>
          <a:p/>
        </p:txBody>
      </p:sp>
      <p:sp>
        <p:nvSpPr>
          <p:cNvPr id="110" name=""/>
          <p:cNvSpPr/>
          <p:nvPr/>
        </p:nvSpPr>
        <p:spPr>
          <a:xfrm rot="0" flipH="0" flipV="0">
            <a:off x="7581900" y="1295400"/>
            <a:ext cx="4038600" cy="885825"/>
          </a:xfrm>
          <a:custGeom>
            <a:pathLst>
              <a:path w="424" h="93">
                <a:moveTo>
                  <a:pt x="4" y="93"/>
                </a:moveTo>
                <a:lnTo>
                  <a:pt x="0" y="93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715250" y="1428750"/>
            <a:ext cx="37338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125">
                <a:solidFill>
                  <a:srgbClr val="0F2039"/>
                </a:solidFill>
                <a:latin typeface="Microsoft YaHei"/>
                <a:ea typeface="Microsoft YaHei"/>
              </a:rPr>
              <a:t>Harness </a:t>
            </a: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把数据、工具、约束和反馈组织起来，让通用</a:t>
            </a:r>
            <a:r>
              <a:rPr lang="en-US" sz="1125">
                <a:solidFill>
                  <a:srgbClr val="0F2039"/>
                </a:solidFill>
                <a:latin typeface="Microsoft YaHei"/>
                <a:ea typeface="Microsoft YaHei"/>
              </a:rPr>
              <a:t> Agent </a:t>
            </a:r>
            <a:r>
              <a:rPr lang="zh-CN" sz="1125">
                <a:solidFill>
                  <a:srgbClr val="0F2039"/>
                </a:solidFill>
                <a:latin typeface="Microsoft YaHei"/>
                <a:ea typeface="Microsoft YaHei"/>
              </a:rPr>
              <a:t>成为负荷预测持续学习的垂直智能体。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543800" y="2333625"/>
            <a:ext cx="4038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Agent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读取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543800" y="2543175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新增负荷、天气、历史分布、模型表现、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EDM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543800" y="2838450"/>
            <a:ext cx="403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→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自主判断是否学习、如何学习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543800" y="3095625"/>
            <a:ext cx="4038600" cy="781050"/>
          </a:xfrm>
          <a:custGeom>
            <a:pathLst>
              <a:path w="424" h="82">
                <a:moveTo>
                  <a:pt x="0" y="81"/>
                </a:moveTo>
                <a:lnTo>
                  <a:pt x="424" y="81"/>
                </a:lnTo>
                <a:lnTo>
                  <a:pt x="424" y="82"/>
                </a:lnTo>
                <a:lnTo>
                  <a:pt x="0" y="82"/>
                </a:lnTo>
                <a:close/>
              </a:path>
            </a:pathLst>
          </a:custGeom>
          <a:solidFill>
            <a:srgbClr val="E2E8F0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543800" y="3095625"/>
            <a:ext cx="4038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Harness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提供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543800" y="3305175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EDM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、训练、验证与部署能力，并限制其只能使用已到达数据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7543800" y="3600450"/>
            <a:ext cx="4038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→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能力标准化，不依赖特定算法团队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7581900" y="4019550"/>
            <a:ext cx="4038600" cy="1057275"/>
          </a:xfrm>
          <a:custGeom>
            <a:pathLst>
              <a:path w="424" h="111">
                <a:moveTo>
                  <a:pt x="0" y="0"/>
                </a:moveTo>
                <a:lnTo>
                  <a:pt x="414" y="0"/>
                </a:lnTo>
                <a:cubicBezTo>
                  <a:pt x="420" y="0"/>
                  <a:pt x="424" y="4"/>
                  <a:pt x="424" y="10"/>
                </a:cubicBezTo>
                <a:lnTo>
                  <a:pt x="424" y="101"/>
                </a:lnTo>
                <a:cubicBezTo>
                  <a:pt x="424" y="107"/>
                  <a:pt x="420" y="111"/>
                  <a:pt x="414" y="111"/>
                </a:cubicBezTo>
                <a:lnTo>
                  <a:pt x="0" y="111"/>
                </a:lnTo>
                <a:lnTo>
                  <a:pt x="0" y="11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8FAFC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7581900" y="4019550"/>
            <a:ext cx="4038600" cy="1057275"/>
          </a:xfrm>
          <a:custGeom>
            <a:pathLst>
              <a:path w="424" h="111">
                <a:moveTo>
                  <a:pt x="4" y="111"/>
                </a:moveTo>
                <a:lnTo>
                  <a:pt x="0" y="111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7715250" y="4152900"/>
            <a:ext cx="373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A1D37"/>
                </a:solidFill>
                <a:latin typeface="Microsoft YaHei"/>
                <a:ea typeface="Microsoft YaHei"/>
              </a:rPr>
              <a:t>约束是卖点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7715250" y="4400550"/>
            <a:ext cx="3733800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Agent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可自主决定如何学习，但只能在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Harness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划定的数据边界与验证口径内行动——这正是产业客户需要的『可审计的自主权』。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7581900" y="5191125"/>
            <a:ext cx="4038600" cy="1057275"/>
          </a:xfrm>
          <a:custGeom>
            <a:pathLst>
              <a:path w="424" h="111">
                <a:moveTo>
                  <a:pt x="0" y="0"/>
                </a:moveTo>
                <a:lnTo>
                  <a:pt x="414" y="0"/>
                </a:lnTo>
                <a:cubicBezTo>
                  <a:pt x="420" y="0"/>
                  <a:pt x="424" y="4"/>
                  <a:pt x="424" y="10"/>
                </a:cubicBezTo>
                <a:lnTo>
                  <a:pt x="424" y="101"/>
                </a:lnTo>
                <a:cubicBezTo>
                  <a:pt x="424" y="107"/>
                  <a:pt x="420" y="111"/>
                  <a:pt x="414" y="111"/>
                </a:cubicBezTo>
                <a:lnTo>
                  <a:pt x="0" y="111"/>
                </a:lnTo>
                <a:lnTo>
                  <a:pt x="0" y="111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BEB"/>
          </a:solidFill>
          <a:ln/>
        </p:spPr>
        <p:txBody>
          <a:bodyPr/>
          <a:p/>
        </p:txBody>
      </p:sp>
      <p:sp>
        <p:nvSpPr>
          <p:cNvPr id="124" name=""/>
          <p:cNvSpPr/>
          <p:nvPr/>
        </p:nvSpPr>
        <p:spPr>
          <a:xfrm rot="0" flipH="0" flipV="0">
            <a:off x="7581900" y="5191125"/>
            <a:ext cx="4038600" cy="1057275"/>
          </a:xfrm>
          <a:custGeom>
            <a:pathLst>
              <a:path w="424" h="111">
                <a:moveTo>
                  <a:pt x="4" y="111"/>
                </a:moveTo>
                <a:lnTo>
                  <a:pt x="0" y="111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F59E0B"/>
          </a:solidFill>
          <a:ln/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7715250" y="5324475"/>
            <a:ext cx="3733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A1D37"/>
                </a:solidFill>
                <a:latin typeface="Microsoft YaHei"/>
                <a:ea typeface="Microsoft YaHei"/>
              </a:rPr>
              <a:t>为什么是工程问题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7715250" y="5572125"/>
            <a:ext cx="3733800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模型会不会过时，不再取决于算法团队是否在场——持续学习成为标准化、可复用、可审计的工程能力。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70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方案定义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03 / 07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933825" y="1857375"/>
            <a:ext cx="19050" cy="6286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2533650" y="3286125"/>
            <a:ext cx="647700" cy="190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4705350" y="3286125"/>
            <a:ext cx="647700" cy="190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3933825" y="4010025"/>
            <a:ext cx="19050" cy="70485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p/>
        </p:txBody>
      </p:sp>
      <p:sp>
        <p:nvSpPr>
          <p:cNvPr id="134" name=""/>
          <p:cNvSpPr/>
          <p:nvPr/>
        </p:nvSpPr>
        <p:spPr>
          <a:xfrm rot="0" flipH="0" flipV="0">
            <a:off x="2609850" y="1057275"/>
            <a:ext cx="2667000" cy="80010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3133725" y="1200150"/>
            <a:ext cx="1619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①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数据上下文（读取）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2705100" y="1447800"/>
            <a:ext cx="2476500" cy="2762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新增负荷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天气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历史分布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模型表现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EDM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628650" y="2867025"/>
            <a:ext cx="1905000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304925" y="3048000"/>
            <a:ext cx="552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② EDM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23900" y="3295650"/>
            <a:ext cx="1714500" cy="2762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数据漂移检测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结论沉淀为日志与上下文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353050" y="2867025"/>
            <a:ext cx="1905000" cy="876300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5886450" y="311467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③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训练验证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5562600" y="3362325"/>
            <a:ext cx="148590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训练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Skill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时序验证统一口径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2609850" y="4714875"/>
            <a:ext cx="2667000" cy="80010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3524250" y="4924425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④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发布约束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3095625" y="5172075"/>
            <a:ext cx="1704975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只能使用已到达数据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版本化管理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3181350" y="2486025"/>
            <a:ext cx="1524000" cy="1524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581400" y="3000375"/>
            <a:ext cx="733425" cy="3143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025" b="1">
                <a:solidFill>
                  <a:srgbClr val="0A1D37"/>
                </a:solidFill>
                <a:latin typeface="Microsoft YaHei"/>
                <a:ea typeface="Microsoft YaHei"/>
              </a:rPr>
              <a:t>Agent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657600" y="3352800"/>
            <a:ext cx="571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A1D37">
                    <a:alpha val="72000"/>
                  </a:srgbClr>
                </a:solidFill>
                <a:latin typeface="Microsoft YaHei"/>
                <a:ea typeface="Microsoft YaHei"/>
              </a:rPr>
              <a:t>垂直智能体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09600" y="5610225"/>
            <a:ext cx="6667500" cy="15240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Agent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决定何时学、怎么学；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Harness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保证它学得可靠、可审计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2466975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2562225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2952750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048000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工具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3438525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533775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约束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3924300" y="5857875"/>
            <a:ext cx="409575" cy="19050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4019550" y="588645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反馈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4410075" y="5886450"/>
            <a:ext cx="10191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—— Harness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四要素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59" name="" descr="&lt;Slide style={{ width: 1280, height: 720, background: '#FFFFFF', display: 'flex', flexDirection: 'column', padding: '20px 64px 14px 64px' }}&gt;&#10;    &lt;Box&gt;&#10;        &lt;Text style={{ fontSize: 31, fontWeight: 'bold', color: '#0A1D37' }}&gt;Agent 决定如何学习，模型每天稳定地推理&lt;/Text&gt;&#10;        &lt;Text style={{ fontSize: 16, color: '#64748B', marginTop: 5 }}&gt;不是每天盲目重训——Agent 在约束下决定『是否更新、如何更新』&lt;/Text&gt;&#10;    &lt;/Box&gt;&#10;&#10;    &lt;Box style={{ flex: 1, display: 'flex', flexDirection: 'column', marginTop: 14, gap: 8 }}&gt;&#10;        &lt;Box style={{ background: '#F8FAFC', border: '1px solid #E2E8F0', borderRadius: 12, padding: '14px 20px' }}&gt;&#10;            &lt;Box style={{ flexDirection: 'row', alignItems: 'center', gap: 12 }}&gt;&#10;                &lt;Box style={{ borderLeft: '4px solid #22D3EE', paddingLeft: 10, flex: 1 }}&gt;&#10;                    &lt;Text style={{ fontSize: 15, fontWeight: 'bold', color: '#0A1D37' }}&gt;持续学习闭环 · 事件驱动&lt;/Text&gt;&#10;                &lt;/Box&gt;&#10;                &lt;Box style={{ padding: '3px 10px', border: '1px solid #22D3EE', borderRadius: 999 }}&gt;&#10;                    &lt;Text style={{ fontSize: 11.5, color: '#0891B2' }}&gt;新增数据 / 漂移信号触发&lt;/Text&gt;&#10;                &lt;/Box&gt;&#10;            &lt;/Box&gt;&#10;            &lt;Box style={{ flexDirection: 'row', alignItems: 'center', marginTop: 12, justifyContent: 'space-between' }}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① 新增数据 / EDM 日志&lt;/Text&gt;&#10;                    &lt;Text style={{ fontSize: 12, color: '#64748B', marginTop: 6 }}&gt;触发学习信号&lt;/Text&gt;&#10;                &lt;/Box&gt;&#10;                &lt;Text style={{ fontSize: 20, color: '#94A3B8' }}&gt;→&lt;/Text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② Agent 判断变化&lt;/Text&gt;&#10;                    &lt;Text style={{ fontSize: 12, color: '#64748B', marginTop: 6 }}&gt;读取既有 EDM 日志&lt;/Text&gt;&#10;                &lt;/Box&gt;&#10;                &lt;Text style={{ fontSize: 20, color: '#94A3B8' }}&gt;→&lt;/Text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③ 调用训练 Skill&lt;/Text&gt;&#10;                    &lt;Text style={{ fontSize: 12, color: '#64748B', marginTop: 6 }}&gt;必要时才重训&lt;/Text&gt;&#10;                &lt;/Box&gt;&#10;                &lt;Text style={{ fontSize: 20, color: '#94A3B8' }}&gt;→&lt;/Text&gt;&#10;                &lt;Box style={{ width: 190, height: 88, background: '#FFFFFF', border: '1.5px solid #E2E8F0', borderRadius: 8, padding: 12, justifyContent: 'center' }}&gt;&#10;                    &lt;Text style={{ fontSize: 15, fontWeight: 'bold', color: '#0F2039' }}&gt;④ 时序验证&lt;/Text&gt;&#10;                    &lt;Text style={{ fontSize: 12, color: '#64748B', marginTop: 6 }}&gt;统一口径评估&lt;/Text&gt;&#10;                &lt;/Box&gt;&#10;                &lt;Text style={{ fontSize: 20, color: '#94A3B8' }}&gt;→&lt;/Text&gt;&#10;                &lt;Box style={{ width: 190, height: 88, background: '#FFFFFF', border: '1.5px solid #22D3EE', borderRadius: 8, padding: 12, justifyContent: 'center' }}&gt;&#10;                    &lt;Text style={{ fontSize: 15, fontWeight: 'bold', color: '#0F2039' }}&gt;⑤ 发布 active 模型&lt;/Text&gt;&#10;                    &lt;Text style={{ fontSize: 12, color: '#64748B', marginTop: 6 }}&gt;版本可回滚&lt;/Text&gt;&#10;                &lt;/Box&gt;&#10;            &lt;/Box&gt;&#10;            &lt;Box style={{ position: 'relative', width: '100%', height: 32, marginTop: 6 }}&gt;&#10;                &lt;Box style={{ position: 'absolute', left: 85, top: 2, width: 865, height: 16, borderLeft: '1.5px solid #94A3B8', borderBottom: '1.5px solid #94A3B8', borderRight: '1.5px solid #94A3B8' }} /&gt;&#10;                &lt;Text style={{ position: 'absolute', left: 78, top: -8, fontSize: 12, color: '#94A3B8' }}&gt;▲&lt;/Text&gt;&#10;                &lt;Text style={{ position: 'absolute', left: 0, top: 22, width: '100%', fontSize: 11, color: '#94A3B8', textAlign: 'center' }}&gt;模型表现与 EDM 日志回流为上下文 · 反馈&lt;/Text&gt;&#10;            &lt;/Box&gt;&#10;        &lt;/Box&gt;&#10;&#10;        &lt;Box style={{ flexDirection: 'column', alignItems: 'center', gap: 4 }}&gt;&#10;            &lt;Text style={{ fontSize: 18, color: '#94A3B8' }}&gt;↓&lt;/Text&gt;&#10;            &lt;Box style={{ background: '#22D3EE', borderRadius: 8, padding: '9px 24px', flexDirection: 'row', alignItems: 'center', gap: 12 }}&gt;&#10;                &lt;Text style={{ fontSize: 16.5, fontWeight: 'bold', color: '#0A1D37' }}&gt;active 模型版本&lt;/Text&gt;&#10;                &lt;Text style={{ fontSize: 12, color: '#0A1D37', opacity: 0.75 }}&gt;生产环境的唯一模型入口&lt;/Text&gt;&#10;            &lt;/Box&gt;&#10;            &lt;Box style={{ flexDirection: 'row', gap: 10, marginTop: 2 }}&gt;&#10;                &lt;Box style={{ padding: '2px 10px', border: '1px solid #E2E8F0', borderRadius: 999 }}&gt;&#10;                    &lt;Text style={{ fontSize: 11.5, color: '#64748B' }}&gt;版本化管理&lt;/Text&gt;&#10;                &lt;/Box&gt;&#10;                &lt;Box style={{ padding: '2px 10px', border: '1px solid #E2E8F0', borderRadius: 999 }}&gt;&#10;                    &lt;Text style={{ fontSize: 11.5, color: '#64748B' }}&gt;可回滚&lt;/Text&gt;&#10;                &lt;/Box&gt;&#10;                &lt;Box style={{ padding: '2px 10px', border: '1px solid #E2E8F0', borderRadius: 999 }}&gt;&#10;                    &lt;Text style={{ fontSize: 11.5, color: '#64748B' }}&gt;学习闭环维护版本&lt;/Text&gt;&#10;                &lt;/Box&gt;&#10;            &lt;/Box&gt;&#10;            &lt;Text style={{ fontSize: 18, color: '#94A3B8' }}&gt;↓&lt;/Text&gt;&#10;        &lt;/Box&gt;&#10;&#10;        &lt;Box style={{ background: '#F8FAFC', border: '1px solid #E2E8F0', borderRadius: 12, padding: '12px 20px' }}&gt;&#10;            &lt;Box style={{ flexDirection: 'row', alignItems: 'center', gap: 12 }}&gt;&#10;                &lt;Box style={{ borderLeft: '4px solid #0A1D37', paddingLeft: 10, flex: 1 }}&gt;&#10;                    &lt;Text style={{ fontSize: 15, fontWeight: 'bold', color: '#0A1D37' }}&gt;生产推理闭环 · 每日一次&lt;/Text&gt;&#10;                &lt;/Box&gt;&#10;                &lt;Box style={{ padding: '3px 10px', border: '1px solid #CBD5E1', borderRadius: 999 }}&gt;&#10;                    &lt;Text style={{ fontSize: 11.5, color: '#64748B' }}&gt;00:00 自动执行 · 无需人工&lt;/Text&gt;&#10;                &lt;/Box&gt;&#10;            &lt;/Box&gt;&#10;            &lt;Box style={{ flexDirection: 'row', alignItems: 'center', marginTop: 10, justifyContent: 'space-between' }}&gt;&#10;                &lt;Box style={{ width: 320, height: 66, background: '#FFFFFF', border: '1.5px solid #E2E8F0', borderRadius: 8, padding: 12, justifyContent: 'center' }}&gt;&#10;                    &lt;Text style={{ fontSize: 15, fontWeight: 'bold', color: '#0F2039' }}&gt;① 每日定时触发&lt;/Text&gt;&#10;                    &lt;Text style={{ fontSize: 12, color: '#64748B', marginTop: 4 }}&gt;00:00 自动执行，无需人工&lt;/Text&gt;&#10;                &lt;/Box&gt;&#10;                &lt;Text style={{ fontSize: 20, color: '#94A3B8' }}&gt;→&lt;/Text&gt;&#10;                &lt;Box style={{ width: 320, height: 66, background: '#FFFFFF', border: '1.5px solid #E2E8F0', borderRadius: 8, padding: 12, justifyContent: 'center' }}&gt;&#10;                    &lt;Text style={{ fontSize: 15, fontWeight: 'bold', color: '#0F2039' }}&gt;② 自动加载当前 active 模型&lt;/Text&gt;&#10;                    &lt;Text style={{ fontSize: 12, color: '#64748B', marginTop: 4 }}&gt;版本由学习闭环维护&lt;/Text&gt;&#10;                &lt;/Box&gt;&#10;                &lt;Text style={{ fontSize: 20, color: '#94A3B8' }}&gt;→&lt;/Text&gt;&#10;                &lt;Box style={{ width: 320, height: 66, background: '#FFFFFF', border: '1.5px solid #E2E8F0', borderRadius: 8, padding: 12, justifyContent: 'center' }}&gt;&#10;                    &lt;Text style={{ fontSize: 15, fontWeight: 'bold', color: '#0F2039' }}&gt;③ 输出未来 24 小时预测&lt;/Text&gt;&#10;                    &lt;Text style={{ fontSize: 12, color: '#64748B', marginTop: 4 }}&gt;供峰值风险研判与重过载应对&lt;/Text&gt;&#10;                &lt;/Box&gt;&#10;            &lt;/Box&gt;&#10;        &lt;/Box&gt;&#10;&#10;        &lt;Box style={{ flexDirection: 'row', gap: 12 }}&gt;&#10;            &lt;Box style={{ flex: 1, background: '#F8FAFC', border: '1px solid #E2E8F0', borderRadius: 8, padding: '10px 16px', flexDirection: 'row', alignItems: 'center', gap: 12 }}&gt;&#10;                &lt;Text style={{ fontSize: 12.5, fontWeight: 'bold', color: '#64748B' }}&gt;传统模式&lt;/Text&gt;&#10;                &lt;Text style={{ fontSize: 13, color: '#94A3B8' }}&gt;预测偏移 → 立项 / 采购 / 运维 → 1–2 个月后才更新&lt;/Text&gt;&#10;            &lt;/Box&gt;&#10;            &lt;Box style={{ flex: 1, background: 'rgba(34,211,238,0.07)', border: '1px solid #22D3EE', borderRadius: 8, padding: '10px 16px', flexDirection: 'row', alignItems: 'center', gap: 12 }}&gt;&#10;                &lt;Text style={{ fontSize: 12.5, fontWeight: 'bold', color: '#0891B2' }}&gt;持续学习&lt;/Text&gt;&#10;                &lt;Text style={{ fontSize: 13, color: '#0F2039' }}&gt;信号触发 → Agent 决策 → 验证发布 → 当日内完成&lt;/Text&gt;&#10;            &lt;/Box&gt;&#10;        &lt;/Box&gt;&#10;    &lt;/Box&gt;&#10;&#10;    &lt;Box style={{ flexDirection: 'row', marginTop: 10, alignItems: 'center' }}&gt;&#10;        &lt;Text style={{ fontSize: 12, color: '#94A3B8' }}&gt;负荷预测持续学习引擎 · 双闭环架构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4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190500"/>
            <a:ext cx="1097280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325" b="1">
                <a:solidFill>
                  <a:srgbClr val="0A1D37"/>
                </a:solidFill>
                <a:latin typeface="Microsoft YaHei"/>
                <a:ea typeface="Microsoft YaHei"/>
              </a:rPr>
              <a:t>Agent </a:t>
            </a:r>
            <a:r>
              <a:rPr lang="zh-CN" sz="2325" b="1">
                <a:solidFill>
                  <a:srgbClr val="0A1D37"/>
                </a:solidFill>
                <a:latin typeface="Microsoft YaHei"/>
                <a:ea typeface="Microsoft YaHei"/>
              </a:rPr>
              <a:t>决定如何学习，模型每天稳定地推理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600075"/>
            <a:ext cx="10972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不是每天盲目重训——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Agent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在约束下决定『是否更新、如何更新』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609600" y="923925"/>
            <a:ext cx="10972800" cy="1771650"/>
          </a:xfrm>
          <a:prstGeom prst="roundRect">
            <a:avLst>
              <a:gd name="adj" fmla="val 645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800100" y="1066800"/>
            <a:ext cx="9134475" cy="171450"/>
          </a:xfrm>
          <a:custGeom>
            <a:pathLst>
              <a:path w="959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33450" y="1066800"/>
            <a:ext cx="8963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持续学习闭环</a:t>
            </a: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事件驱动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10010775" y="1057275"/>
            <a:ext cx="1381125" cy="190500"/>
          </a:xfrm>
          <a:prstGeom prst="roundRect">
            <a:avLst>
              <a:gd name="adj" fmla="val 4995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10106025" y="1085850"/>
            <a:ext cx="1190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新增数据</a:t>
            </a:r>
            <a:r>
              <a:rPr lang="en-US" sz="863">
                <a:solidFill>
                  <a:srgbClr val="0891B2"/>
                </a:solidFill>
                <a:latin typeface="Microsoft YaHei"/>
                <a:ea typeface="Microsoft YaHei"/>
              </a:rPr>
              <a:t> / </a:t>
            </a: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漂移信号触发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00100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14400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①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新增数据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/ EDM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4400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触发学习信号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2705100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000375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114675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② Agent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判断变化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3114675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读取既有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EDM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905375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5191125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305425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③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调用训练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Skill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5305425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必要时才重训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096125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7391400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④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时序验证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统一口径评估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9296400" y="166687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9582150" y="1362075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9696450" y="1600200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⑤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发布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active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9696450" y="1828800"/>
            <a:ext cx="1581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版本可回滚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057900" y="2771775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94A3B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619625" y="3019425"/>
            <a:ext cx="2952750" cy="361950"/>
          </a:xfrm>
          <a:prstGeom prst="roundRect">
            <a:avLst>
              <a:gd name="adj" fmla="val 21053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848225" y="3105150"/>
            <a:ext cx="1123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A1D37"/>
                </a:solidFill>
                <a:latin typeface="Microsoft YaHei"/>
                <a:ea typeface="Microsoft YaHei"/>
              </a:rPr>
              <a:t>active </a:t>
            </a:r>
            <a:r>
              <a:rPr lang="zh-CN" sz="1238" b="1">
                <a:solidFill>
                  <a:srgbClr val="0A1D37"/>
                </a:solidFill>
                <a:latin typeface="Microsoft YaHei"/>
                <a:ea typeface="Microsoft YaHei"/>
              </a:rPr>
              <a:t>模型版本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4838700" y="3438525"/>
            <a:ext cx="74295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933950" y="3457575"/>
            <a:ext cx="552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版本化管理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5676900" y="3438525"/>
            <a:ext cx="523875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72150" y="3457575"/>
            <a:ext cx="3333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可回滚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296025" y="3438525"/>
            <a:ext cx="106680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391275" y="3457575"/>
            <a:ext cx="876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学习闭环维护版本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057900" y="3648075"/>
            <a:ext cx="857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94A3B8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09600" y="3933825"/>
            <a:ext cx="10972800" cy="1143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800100" y="4057650"/>
            <a:ext cx="9039225" cy="171450"/>
          </a:xfrm>
          <a:custGeom>
            <a:pathLst>
              <a:path w="949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33450" y="4057650"/>
            <a:ext cx="8867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生产推理闭环</a:t>
            </a:r>
            <a:r>
              <a:rPr lang="en-US" sz="1125" b="1">
                <a:solidFill>
                  <a:srgbClr val="0A1D37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0A1D37"/>
                </a:solidFill>
                <a:latin typeface="Microsoft YaHei"/>
                <a:ea typeface="Microsoft YaHei"/>
              </a:rPr>
              <a:t>每日一次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9915525" y="4048125"/>
            <a:ext cx="1476375" cy="190500"/>
          </a:xfrm>
          <a:prstGeom prst="roundRect">
            <a:avLst>
              <a:gd name="adj" fmla="val 4995000"/>
            </a:avLst>
          </a:prstGeom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0010775" y="4076700"/>
            <a:ext cx="12858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00:00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自动执行</a:t>
            </a: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无需人工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800100" y="4333875"/>
            <a:ext cx="30480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914400" y="44767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①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每日定时触发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4400" y="4686300"/>
            <a:ext cx="2819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00:00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自动执行，无需人工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114800" y="453390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4572000" y="4333875"/>
            <a:ext cx="30480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686300" y="44767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②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自动加载当前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active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模型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686300" y="4686300"/>
            <a:ext cx="2819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版本由学习闭环维护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886700" y="4533900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343900" y="4333875"/>
            <a:ext cx="30480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8458200" y="44767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③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输出未来</a:t>
            </a:r>
            <a:r>
              <a:rPr lang="en-US" sz="1125" b="1">
                <a:solidFill>
                  <a:srgbClr val="0F2039"/>
                </a:solidFill>
                <a:latin typeface="Microsoft YaHei"/>
                <a:ea typeface="Microsoft YaHei"/>
              </a:rPr>
              <a:t> 24 </a:t>
            </a:r>
            <a:r>
              <a:rPr lang="zh-CN" sz="1125" b="1">
                <a:solidFill>
                  <a:srgbClr val="0F2039"/>
                </a:solidFill>
                <a:latin typeface="Microsoft YaHei"/>
                <a:ea typeface="Microsoft YaHei"/>
              </a:rPr>
              <a:t>小时预测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458200" y="4686300"/>
            <a:ext cx="2819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供峰值风险研判与重过载应对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09600" y="5153025"/>
            <a:ext cx="5429250" cy="34290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62000" y="52578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64748B"/>
                </a:solidFill>
                <a:latin typeface="Microsoft YaHei"/>
                <a:ea typeface="Microsoft YaHei"/>
              </a:rPr>
              <a:t>传统模式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1352550" y="5248275"/>
            <a:ext cx="2819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预测偏移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立项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采购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运维</a:t>
            </a: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 → 1–2 </a:t>
            </a: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个月后才更新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6153150" y="5153025"/>
            <a:ext cx="5429250" cy="342900"/>
          </a:xfrm>
          <a:prstGeom prst="roundRect">
            <a:avLst>
              <a:gd name="adj" fmla="val 22222"/>
            </a:avLst>
          </a:prstGeom>
          <a:solidFill>
            <a:srgbClr val="22D3EE">
              <a:alpha val="7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305550" y="5257800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891B2"/>
                </a:solidFill>
                <a:latin typeface="Microsoft YaHei"/>
                <a:ea typeface="Microsoft YaHei"/>
              </a:rPr>
              <a:t>持续学习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896100" y="5248275"/>
            <a:ext cx="2800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信号触发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→ Agent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决策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验证发布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→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当日内完成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09600" y="6581775"/>
            <a:ext cx="1819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双闭环架构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10677525" y="660082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0848975" y="657225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04 / 07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1609725" y="2276475"/>
            <a:ext cx="8239125" cy="152400"/>
          </a:xfrm>
          <a:custGeom>
            <a:pathLst>
              <a:path w="865" h="16">
                <a:moveTo>
                  <a:pt x="0" y="0"/>
                </a:moveTo>
                <a:lnTo>
                  <a:pt x="2" y="0"/>
                </a:lnTo>
                <a:lnTo>
                  <a:pt x="2" y="15"/>
                </a:lnTo>
                <a:lnTo>
                  <a:pt x="0" y="16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1609725" y="2276475"/>
            <a:ext cx="8239125" cy="152400"/>
          </a:xfrm>
          <a:custGeom>
            <a:pathLst>
              <a:path w="865" h="16">
                <a:moveTo>
                  <a:pt x="864" y="0"/>
                </a:moveTo>
                <a:lnTo>
                  <a:pt x="865" y="0"/>
                </a:lnTo>
                <a:lnTo>
                  <a:pt x="865" y="16"/>
                </a:lnTo>
                <a:lnTo>
                  <a:pt x="864" y="15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1609725" y="2276475"/>
            <a:ext cx="8239125" cy="152400"/>
          </a:xfrm>
          <a:custGeom>
            <a:pathLst>
              <a:path w="865" h="16">
                <a:moveTo>
                  <a:pt x="2" y="15"/>
                </a:moveTo>
                <a:lnTo>
                  <a:pt x="864" y="15"/>
                </a:lnTo>
                <a:lnTo>
                  <a:pt x="865" y="16"/>
                </a:lnTo>
                <a:lnTo>
                  <a:pt x="0" y="16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1543050" y="2181225"/>
            <a:ext cx="114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00">
                <a:solidFill>
                  <a:srgbClr val="94A3B8"/>
                </a:solidFill>
                <a:latin typeface="Microsoft YaHei"/>
                <a:ea typeface="Microsoft YaHei"/>
              </a:rPr>
              <a:t>▲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00100" y="2466975"/>
            <a:ext cx="1059180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模型表现与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EDM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日志回流为上下文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反馈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086475" y="3133725"/>
            <a:ext cx="1257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A1D37">
                    <a:alpha val="75000"/>
                  </a:srgbClr>
                </a:solidFill>
                <a:latin typeface="Microsoft YaHei"/>
                <a:ea typeface="Microsoft YaHei"/>
              </a:rPr>
              <a:t>生产环境的唯一模型入口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228" name="" descr="&lt;Slide style={{ width: 1280, height: 720, background: '#FFFFFF', display: 'flex', flexDirection: 'column', padding: '22px 64px 16px 64px' }}&gt;&#10;    &lt;Box style={{ flexDirection: 'row', alignItems: 'flex-end' }}&gt;&#10;        &lt;Box style={{ flex: 1 }}&gt;&#10;            &lt;Text style={{ fontSize: 32, fontWeight: 'bold', color: '#0A1D37' }}&gt;聊天与 Cron，让持续学习成为可运营能力&lt;/Text&gt;&#10;            &lt;Text style={{ fontSize: 16, color: '#64748B', marginTop: 6 }}&gt;演示产品入口：可用、可查、可审计的产品闭环&lt;/Text&gt;&#10;        &lt;/Box&gt;&#10;        &lt;Box style={{ padding: '4px 12px', border: '1px solid #22D3EE', borderRadius: 999 }}&gt;&#10;            &lt;Text style={{ fontSize: 12, color: '#0891B2' }}&gt;三帧演示 · 与现场演示一一对应&lt;/Text&gt;&#10;        &lt;/Box&gt;&#10;    &lt;/Box&gt;&#10;&#10;    &lt;Box style={{ flexDirection: 'row', gap: 26, flex: 1, marginTop: 16, alignItems: 'stretch' }}&gt;&#10;        &lt;Box style={{ width: 770, display: 'flex', flexDirection: 'column' }}&gt;&#10;            &lt;Box style={{ flexDirection: 'row', alignItems: 'stretch' }}&gt;&#10;                &lt;Box style={{ width: 218, background: '#FFFFFF', border: '1.5px solid #E2E8F0', borderRadius: 10, overflow: 'hidden', display: 'flex', flexDirection: 'column' }}&gt;&#10;                    &lt;Box style={{ background: '#0A1D37', padding: '8px 12px', flexDirection: 'row', alignItems: 'center', gap: 8 }}&gt;&#10;                        &lt;Text style={{ fontSize: 13, fontWeight: 'bold', color: '#22D3EE' }}&gt;①&lt;/Text&gt;&#10;                        &lt;Text style={{ fontSize: 14, fontWeight: 'bold', color: '#F8FAFC' }}&gt;聊天入口&lt;/Text&gt;&#10;                    &lt;/Box&gt;&#10;                    &lt;Box style={{ padding: 12, display: 'flex', flexDirection: 'column', gap: 10, flex: 1 }}&gt;&#10;                        &lt;Box style={{ alignSelf: 'flex-end', background: '#0A1D37', borderRadius: 8, padding: '8px 10px', maxWidth: 156 }}&gt;&#10;                            &lt;Text style={{ fontSize: 12, color: '#F8FAFC', lineHeight: 1.6 }}&gt;分析最新一周的负荷数据&lt;/Text&gt;&#10;                        &lt;/Box&gt;&#10;                        &lt;Box style={{ alignSelf: 'flex-start', background: '#F1F5F9', borderRadius: 8, padding: '8px 10px', maxWidth: 164 }}&gt;&#10;                            &lt;Text style={{ fontSize: 12, color: '#0F2039', lineHeight: 1.6 }}&gt;检测到夏季负荷水平上移，建议触发训练验证。&lt;/Text&gt;&#10;                        &lt;/Box&gt;&#10;                        &lt;Box style={{ marginTop: 'auto' }}&gt;&#10;                            &lt;Text style={{ fontSize: 11, color: '#94A3B8' }}&gt;自然语言驱动 · 无门槛&lt;/Text&gt;&#10;                            &lt;Text style={{ fontSize: 11, color: '#94A3B8', marginTop: 4 }}&gt;业务人员直接使用，无需算法背景&lt;/Text&gt;&#10;                        &lt;/Box&gt;&#10;                    &lt;/Box&gt;&#10;                &lt;/Box&gt;&#10;                &lt;Text style={{ fontSize: 16, color: '#94A3B8', alignSelf: 'center', margin: '0 2px' }}&gt;→&lt;/Text&gt;&#10;                &lt;Box style={{ width: 244, background: '#FFFFFF', border: '1.5px solid #E2E8F0', borderRadius: 10, overflow: 'hidden', display: 'flex', flexDirection: 'column' }}&gt;&#10;                    &lt;Box style={{ background: '#0A1D37', padding: '8px 12px', flexDirection: 'row', alignItems: 'center', gap: 8 }}&gt;&#10;                        &lt;Text style={{ fontSize: 13, fontWeight: 'bold', color: '#22D3EE' }}&gt;②&lt;/Text&gt;&#10;                        &lt;Text style={{ fontSize: 14, fontWeight: 'bold', color: '#F8FAFC' }}&gt;EDM 结论沉淀&lt;/Text&gt;&#10;                    &lt;/Box&gt;&#10;                    &lt;Box style={{ padding: 12, display: 'flex', flexDirection: 'column', gap: 10, flex: 1 }}&gt;&#10;                        &lt;Box&gt;&#10;                            &lt;Text style={{ fontSize: 12.5, fontWeight: 'bold', color: '#0F2039' }}&gt;2018-07 · 水平漂移&lt;/Text&gt;&#10;                            &lt;Text style={{ fontSize: 11.5, color: '#64748B', marginTop: 2 }}&gt;置信度高 · 建议重训&lt;/Text&gt;&#10;                        &lt;/Box&gt;&#10;                        &lt;Box style={{ height: 1, background: '#E2E8F0' }} /&gt;&#10;                        &lt;Box&gt;&#10;                            &lt;Text style={{ fontSize: 12.5, fontWeight: 'bold', color: '#0F2039' }}&gt;结论落盘&lt;/Text&gt;&#10;                            &lt;Text style={{ fontSize: 11.5, color: '#64748B', marginTop: 2 }}&gt;日志 + 上下文，训练前读取&lt;/Text&gt;&#10;                        &lt;/Box&gt;&#10;                        &lt;Text style={{ fontSize: 11, color: '#94A3B8', marginTop: 'auto' }}&gt;每次分析都可追溯 · 不依赖个人经验&lt;/Text&gt;&#10;                    &lt;/Box&gt;&#10;                &lt;/Box&gt;&#10;                &lt;Text style={{ fontSize: 16, color: '#94A3B8', alignSelf: 'center', margin: '0 2px' }}&gt;→&lt;/Text&gt;&#10;                &lt;Box style={{ width: 258, background: '#FFFFFF', border: '1.5px solid #E2E8F0', borderRadius: 10, overflow: 'hidden', display: 'flex', flexDirection: 'column' }}&gt;&#10;                    &lt;Box style={{ background: '#0A1D37', padding: '8px 12px', flexDirection: 'row', alignItems: 'center', gap: 8 }}&gt;&#10;                        &lt;Text style={{ fontSize: 13, fontWeight: 'bold', color: '#22D3EE' }}&gt;③&lt;/Text&gt;&#10;                        &lt;Text style={{ fontSize: 14, fontWeight: 'bold', color: '#F8FAFC' }}&gt;Cron 定时任务&lt;/Text&gt;&#10;                    &lt;/Box&gt;&#10;                    &lt;Box style={{ padding: 12, display: 'flex', flexDirection: 'column', gap: 8, flex: 1 }}&gt;&#10;                        &lt;Text style={{ fontSize: 12.5, color: '#0F2039' }}&gt;00:00 · 训练 Skill&lt;/Text&gt;&#10;                        &lt;Text style={{ fontSize: 12.5, color: '#0F2039' }}&gt;00:40 · 时序验证&lt;/Text&gt;&#10;                        &lt;Box style={{ background: 'rgba(34,211,238,0.12)', border: '1px solid #22D3EE', borderRadius: 6, padding: 8, marginTop: 'auto' }}&gt;&#10;                            &lt;Text style={{ fontSize: 12.5, fontWeight: 'bold', color: '#0A1D37' }}&gt;01:00 · 部署 v_35 → active&lt;/Text&gt;&#10;                            &lt;Text style={{ fontSize: 11, fontWeight: 'bold', color: '#0891B2', marginTop: 2 }}&gt;新版本成为 active ✓&lt;/Text&gt;&#10;                        &lt;/Box&gt;&#10;                    &lt;/Box&gt;&#10;                &lt;/Box&gt;&#10;            &lt;/Box&gt;&#10;            &lt;Box style={{ flexDirection: 'row', alignItems: 'center', justifyContent: 'center', gap: 8, marginTop: 16 }}&gt;&#10;                &lt;Box style={{ padding: '4px 12px', background: '#F1F5F9', borderRadius: 6 }}&gt;&#10;                    &lt;Text style={{ fontSize: 12, color: '#0F2039' }}&gt;① 自然语言提问&lt;/Text&gt;&#10;                &lt;/Box&gt;&#10;                &lt;Text style={{ fontSize: 14, color: '#94A3B8' }}&gt;→&lt;/Text&gt;&#10;                &lt;Box style={{ padding: '4px 12px', background: '#F1F5F9', borderRadius: 6 }}&gt;&#10;                    &lt;Text style={{ fontSize: 12, color: '#0F2039' }}&gt;② 结论沉淀为日志&lt;/Text&gt;&#10;                &lt;/Box&gt;&#10;                &lt;Text style={{ fontSize: 14, color: '#94A3B8' }}&gt;→&lt;/Text&gt;&#10;                &lt;Box style={{ padding: '4px 12px', background: '#F1F5F9', borderRadius: 6 }}&gt;&#10;                    &lt;Text style={{ fontSize: 12, color: '#0F2039' }}&gt;③ 定时训练 + 验证&lt;/Text&gt;&#10;                &lt;/Box&gt;&#10;                &lt;Text style={{ fontSize: 14, color: '#94A3B8' }}&gt;→&lt;/Text&gt;&#10;                &lt;Box style={{ padding: '4px 12px', background: 'rgba(34,211,238,0.12)', border: '1px solid #22D3EE', borderRadius: 6 }}&gt;&#10;                    &lt;Text style={{ fontSize: 12, fontWeight: 'bold', color: '#0891B2' }}&gt;新模型成为 active&lt;/Text&gt;&#10;                &lt;/Box&gt;&#10;            &lt;/Box&gt;&#10;            &lt;Text style={{ fontSize: 12, color: '#94A3B8', textAlign: 'center', marginTop: 8 }}&gt;同一套闭环 · 训练前 Agent 自动读取既有 EDM 日志 · 全程无人工干预&lt;/Text&gt;&#10;        &lt;/Box&gt;&#10;&#10;        &lt;Box style={{ flex: 1, display: 'flex', flexDirection: 'column', gap: 12 }}&gt;&#10;            &lt;Box style={{ background: '#0A1D37', borderRadius: 12, padding: 20, flex: 1 }}&gt;&#10;                &lt;Text style={{ fontSize: 17, fontWeight: 'bold', color: '#F8FAFC' }}&gt;产业客户看到&lt;/Text&gt;&#10;                &lt;Box style={{ flexDirection: 'row', alignItems: 'center', gap: 10, marginTop: 14 }}&gt;&#10;                    &lt;Box style={{ width: 6, height: 6, background: '#22D3EE', borderRadius: 3 }} /&gt;&#10;                    &lt;Box&gt;&#10;                        &lt;Text style={{ fontSize: 13.5, fontWeight: 'bold', color: '#F8FAFC' }}&gt;可用 —— 自然语言驱动学习&lt;/Text&gt;&#10;                        &lt;Text style={{ fontSize: 11.5, color: '#94A3B8', marginTop: 2 }}&gt;业务人员零门槛发起分析&lt;/Text&gt;&#10;                    &lt;/Box&gt;&#10;                &lt;/Box&gt;&#10;                &lt;Box style={{ flexDirection: 'row', alignItems: 'center', gap: 10, marginTop: 12 }}&gt;&#10;                    &lt;Box style={{ width: 6, height: 6, background: '#22D3EE', borderRadius: 3 }} /&gt;&#10;                    &lt;Box&gt;&#10;                        &lt;Text style={{ fontSize: 13.5, fontWeight: 'bold', color: '#F8FAFC' }}&gt;可查 —— 结论沉淀为日志&lt;/Text&gt;&#10;                        &lt;Text style={{ fontSize: 11.5, color: '#94A3B8', marginTop: 2 }}&gt;漂移结论与训练依据随时回看&lt;/Text&gt;&#10;                    &lt;/Box&gt;&#10;                &lt;/Box&gt;&#10;                &lt;Box style={{ flexDirection: 'row', alignItems: 'center', gap: 10, marginTop: 12 }}&gt;&#10;                    &lt;Box style={{ width: 6, height: 6, background: '#22D3EE', borderRadius: 3 }} /&gt;&#10;                    &lt;Box&gt;&#10;                        &lt;Text style={{ fontSize: 13.5, fontWeight: 'bold', color: '#F8FAFC' }}&gt;可审计 —— 行为可追溯&lt;/Text&gt;&#10;                        &lt;Text style={{ fontSize: 11.5, color: '#94A3B8', marginTop: 2 }}&gt;所有动作约束在 Harness 边界内&lt;/Text&gt;&#10;                    &lt;/Box&gt;&#10;                &lt;/Box&gt;&#10;            &lt;/Box&gt;&#10;            &lt;Box style={{ borderLeft: '4px solid #22D3EE', background: 'rgba(34,211,238,0.07)', borderRadius: '0 10px 10px 0', padding: 16 }}&gt;&#10;                &lt;Text style={{ fontSize: 17, fontWeight: 'bold', color: '#0A1D37' }}&gt;投资人看到&lt;/Text&gt;&#10;                &lt;Text style={{ fontSize: 13, color: '#0F2039', lineHeight: 1.8, marginTop: 6 }}&gt;可复制的产品闭环——同一套 Harness 结构，可迁移到其他时序预测场景。&lt;/Text&gt;&#10;                &lt;Box style={{ flexDirection: 'row', gap: 8, marginTop: 10 }}&gt;&#10;                    &lt;Box style={{ padding: '3px 10px', border: '1px solid #22D3EE', borderRadius: 6 }}&gt;&#10;                        &lt;Text style={{ fontSize: 11.5, color: '#0891B2' }}&gt;光伏出力&lt;/Text&gt;&#10;                    &lt;/Box&gt;&#10;                    &lt;Box style={{ padding: '3px 10px', border: '1px solid #22D3EE', borderRadius: 6 }}&gt;&#10;                        &lt;Text style={{ fontSize: 11.5, color: '#0891B2' }}&gt;气象&lt;/Text&gt;&#10;                    &lt;/Box&gt;&#10;                    &lt;Box style={{ padding: '3px 10px', border: '1px solid #22D3EE', borderRadius: 6 }}&gt;&#10;                        &lt;Text style={{ fontSize: 11.5, color: '#0891B2' }}&gt;水文&lt;/Text&gt;&#10;                    &lt;/Box&gt;&#10;                &lt;/Box&gt;&#10;            &lt;/Box&gt;&#10;            &lt;Box style={{ background: '#F8FAFC', borderRadius: 8, padding: 12 }}&gt;&#10;                &lt;Text style={{ fontSize: 12, color: '#64748B', lineHeight: 1.7 }}&gt;现场以 20–30 秒预录演示呈现，避免训练耗时与网络波动影响路演。&lt;/Text&gt;&#10;            &lt;/Box&gt;&#10;        &lt;/Box&gt;&#10;    &lt;/Box&gt;&#10;&#10;    &lt;Box style={{ flexDirection: 'row', marginTop: 14, alignItems: 'center' }}&gt;&#10;        &lt;Text style={{ fontSize: 12, color: '#94A3B8' }}&gt;负荷预测持续学习引擎 · 产品演示&lt;/Text&gt;&#10;        &lt;Box style={{ marginLeft: 'auto', flexDirection: 'row', alignItems: 'center', gap: 8 }}&gt;&#10;            &lt;Box style={{ width: 10, height: 10, background: '#22D3EE' }} /&gt;&#10;            &lt;Text style={{ fontSize: 13, color: '#64748B' }}&gt;CLE · 05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09600" y="209550"/>
            <a:ext cx="91535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聊天与</a:t>
            </a:r>
            <a:r>
              <a:rPr lang="en-US" sz="2400" b="1">
                <a:solidFill>
                  <a:srgbClr val="0A1D37"/>
                </a:solidFill>
                <a:latin typeface="Microsoft YaHei"/>
                <a:ea typeface="Microsoft YaHei"/>
              </a:rPr>
              <a:t> Cron</a:t>
            </a:r>
            <a:r>
              <a:rPr lang="zh-CN" sz="2400" b="1">
                <a:solidFill>
                  <a:srgbClr val="0A1D37"/>
                </a:solidFill>
                <a:latin typeface="Microsoft YaHei"/>
                <a:ea typeface="Microsoft YaHei"/>
              </a:rPr>
              <a:t>，让持续学习成为可运营能力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9153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演示产品入口：可用、可查、可审计的产品闭环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9763125" y="609600"/>
            <a:ext cx="1819275" cy="219075"/>
          </a:xfrm>
          <a:prstGeom prst="roundRect">
            <a:avLst>
              <a:gd name="adj" fmla="val 4343478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877425" y="647700"/>
            <a:ext cx="1590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0891B2"/>
                </a:solidFill>
                <a:latin typeface="Microsoft YaHei"/>
                <a:ea typeface="Microsoft YaHei"/>
              </a:rPr>
              <a:t>三帧演示</a:t>
            </a:r>
            <a:r>
              <a:rPr lang="en-US" sz="900">
                <a:solidFill>
                  <a:srgbClr val="0891B2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0891B2"/>
                </a:solidFill>
                <a:latin typeface="Microsoft YaHei"/>
                <a:ea typeface="Microsoft YaHei"/>
              </a:rPr>
              <a:t>与现场演示一一对应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609600" y="981075"/>
            <a:ext cx="2076450" cy="2019300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35" name=""/>
          <p:cNvSpPr/>
          <p:nvPr/>
        </p:nvSpPr>
        <p:spPr>
          <a:xfrm rot="0" flipH="0" flipV="0">
            <a:off x="609600" y="981075"/>
            <a:ext cx="2076450" cy="314325"/>
          </a:xfrm>
          <a:custGeom>
            <a:pathLst>
              <a:path w="218" h="33">
                <a:moveTo>
                  <a:pt x="208" y="0"/>
                </a:moveTo>
                <a:cubicBezTo>
                  <a:pt x="214" y="0"/>
                  <a:pt x="218" y="5"/>
                  <a:pt x="218" y="10"/>
                </a:cubicBezTo>
                <a:lnTo>
                  <a:pt x="218" y="33"/>
                </a:lnTo>
                <a:lnTo>
                  <a:pt x="0" y="33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208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723900" y="1066800"/>
            <a:ext cx="12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923925" y="10572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8FAFC"/>
                </a:solidFill>
                <a:latin typeface="Microsoft YaHei"/>
                <a:ea typeface="Microsoft YaHei"/>
              </a:rPr>
              <a:t>聊天入口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1123950" y="1409700"/>
            <a:ext cx="1447800" cy="3810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219200" y="148590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900">
                <a:solidFill>
                  <a:srgbClr val="F8FAFC"/>
                </a:solidFill>
                <a:latin typeface="Microsoft YaHei"/>
                <a:ea typeface="Microsoft YaHei"/>
              </a:rPr>
              <a:t>分析最新一周的负荷数据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723900" y="1885950"/>
            <a:ext cx="1562100" cy="600075"/>
          </a:xfrm>
          <a:prstGeom prst="roundRect">
            <a:avLst>
              <a:gd name="adj" fmla="val 12698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19150" y="1962150"/>
            <a:ext cx="13716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检测到夏季负荷水平上移，建议触发训练验证。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23900" y="2581275"/>
            <a:ext cx="1847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自然语言驱动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无门槛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23900" y="2752725"/>
            <a:ext cx="1847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业务人员直接使用，无需算法背景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2705100" y="18954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2876550" y="981075"/>
            <a:ext cx="2324100" cy="2019300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2876550" y="981075"/>
            <a:ext cx="2324100" cy="314325"/>
          </a:xfrm>
          <a:custGeom>
            <a:pathLst>
              <a:path w="244" h="33">
                <a:moveTo>
                  <a:pt x="234" y="0"/>
                </a:moveTo>
                <a:cubicBezTo>
                  <a:pt x="240" y="0"/>
                  <a:pt x="244" y="5"/>
                  <a:pt x="244" y="10"/>
                </a:cubicBezTo>
                <a:lnTo>
                  <a:pt x="244" y="33"/>
                </a:lnTo>
                <a:lnTo>
                  <a:pt x="0" y="33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234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990850" y="1066800"/>
            <a:ext cx="12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3190875" y="1057275"/>
            <a:ext cx="866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8FAFC"/>
                </a:solidFill>
                <a:latin typeface="Microsoft YaHei"/>
                <a:ea typeface="Microsoft YaHei"/>
              </a:rPr>
              <a:t>EDM </a:t>
            </a:r>
            <a:r>
              <a:rPr lang="zh-CN" sz="1050" b="1">
                <a:solidFill>
                  <a:srgbClr val="F8FAFC"/>
                </a:solidFill>
                <a:latin typeface="Microsoft YaHei"/>
                <a:ea typeface="Microsoft YaHei"/>
              </a:rPr>
              <a:t>结论沉淀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2990850" y="1409700"/>
            <a:ext cx="2095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F2039"/>
                </a:solidFill>
                <a:latin typeface="Microsoft YaHei"/>
                <a:ea typeface="Microsoft YaHei"/>
              </a:rPr>
              <a:t>2018-07 · </a:t>
            </a:r>
            <a:r>
              <a:rPr lang="zh-CN" sz="938" b="1">
                <a:solidFill>
                  <a:srgbClr val="0F2039"/>
                </a:solidFill>
                <a:latin typeface="Microsoft YaHei"/>
                <a:ea typeface="Microsoft YaHei"/>
              </a:rPr>
              <a:t>水平漂移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2990850" y="1571625"/>
            <a:ext cx="2095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置信度高</a:t>
            </a: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建议重训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990850" y="1800225"/>
            <a:ext cx="20955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2990850" y="1905000"/>
            <a:ext cx="2095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 b="1">
                <a:solidFill>
                  <a:srgbClr val="0F2039"/>
                </a:solidFill>
                <a:latin typeface="Microsoft YaHei"/>
                <a:ea typeface="Microsoft YaHei"/>
              </a:rPr>
              <a:t>结论落盘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2990850" y="2066925"/>
            <a:ext cx="2095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日志</a:t>
            </a:r>
            <a:r>
              <a:rPr lang="en-US" sz="863">
                <a:solidFill>
                  <a:srgbClr val="64748B"/>
                </a:solidFill>
                <a:latin typeface="Microsoft YaHei"/>
                <a:ea typeface="Microsoft YaHei"/>
              </a:rPr>
              <a:t> + </a:t>
            </a:r>
            <a:r>
              <a:rPr lang="zh-CN" sz="863">
                <a:solidFill>
                  <a:srgbClr val="64748B"/>
                </a:solidFill>
                <a:latin typeface="Microsoft YaHei"/>
                <a:ea typeface="Microsoft YaHei"/>
              </a:rPr>
              <a:t>上下文，训练前读取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2990850" y="2752725"/>
            <a:ext cx="20955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每次分析都可追溯</a:t>
            </a:r>
            <a:r>
              <a:rPr lang="en-US" sz="825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25">
                <a:solidFill>
                  <a:srgbClr val="94A3B8"/>
                </a:solidFill>
                <a:latin typeface="Microsoft YaHei"/>
                <a:ea typeface="Microsoft YaHei"/>
              </a:rPr>
              <a:t>不依赖个人经验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219700" y="189547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5391150" y="981075"/>
            <a:ext cx="2457450" cy="2019300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5391150" y="981075"/>
            <a:ext cx="2457450" cy="314325"/>
          </a:xfrm>
          <a:custGeom>
            <a:pathLst>
              <a:path w="258" h="33">
                <a:moveTo>
                  <a:pt x="248" y="0"/>
                </a:moveTo>
                <a:cubicBezTo>
                  <a:pt x="254" y="0"/>
                  <a:pt x="258" y="5"/>
                  <a:pt x="258" y="10"/>
                </a:cubicBezTo>
                <a:lnTo>
                  <a:pt x="258" y="33"/>
                </a:lnTo>
                <a:lnTo>
                  <a:pt x="0" y="33"/>
                </a:ln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248" y="0"/>
                </a:lnTo>
                <a:close/>
              </a:path>
            </a:pathLst>
          </a:custGeom>
          <a:solidFill>
            <a:srgbClr val="0A1D37"/>
          </a:solidFill>
          <a:ln/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5505450" y="1066800"/>
            <a:ext cx="12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975" b="1">
                <a:solidFill>
                  <a:srgbClr val="22D3EE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705475" y="1057275"/>
            <a:ext cx="885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8FAFC"/>
                </a:solidFill>
                <a:latin typeface="Microsoft YaHei"/>
                <a:ea typeface="Microsoft YaHei"/>
              </a:rPr>
              <a:t>Cron </a:t>
            </a:r>
            <a:r>
              <a:rPr lang="zh-CN" sz="1050" b="1">
                <a:solidFill>
                  <a:srgbClr val="F8FAFC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505450" y="1409700"/>
            <a:ext cx="2228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0F2039"/>
                </a:solidFill>
                <a:latin typeface="Microsoft YaHei"/>
                <a:ea typeface="Microsoft YaHei"/>
              </a:rPr>
              <a:t>00:00 · </a:t>
            </a:r>
            <a:r>
              <a:rPr lang="zh-CN" sz="938">
                <a:solidFill>
                  <a:srgbClr val="0F2039"/>
                </a:solidFill>
                <a:latin typeface="Microsoft YaHei"/>
                <a:ea typeface="Microsoft YaHei"/>
              </a:rPr>
              <a:t>训练</a:t>
            </a:r>
            <a:r>
              <a:rPr lang="en-US" sz="938">
                <a:solidFill>
                  <a:srgbClr val="0F2039"/>
                </a:solidFill>
                <a:latin typeface="Microsoft YaHei"/>
                <a:ea typeface="Microsoft YaHei"/>
              </a:rPr>
              <a:t> Skill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505450" y="1628775"/>
            <a:ext cx="22288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0F2039"/>
                </a:solidFill>
                <a:latin typeface="Microsoft YaHei"/>
                <a:ea typeface="Microsoft YaHei"/>
              </a:rPr>
              <a:t>00:40 · </a:t>
            </a:r>
            <a:r>
              <a:rPr lang="zh-CN" sz="938">
                <a:solidFill>
                  <a:srgbClr val="0F2039"/>
                </a:solidFill>
                <a:latin typeface="Microsoft YaHei"/>
                <a:ea typeface="Microsoft YaHei"/>
              </a:rPr>
              <a:t>时序验证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5505450" y="2438400"/>
            <a:ext cx="2228850" cy="447675"/>
          </a:xfrm>
          <a:prstGeom prst="roundRect">
            <a:avLst>
              <a:gd name="adj" fmla="val 12766"/>
            </a:avLst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5581650" y="2514600"/>
            <a:ext cx="2076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A1D37"/>
                </a:solidFill>
                <a:latin typeface="Microsoft YaHei"/>
                <a:ea typeface="Microsoft YaHei"/>
              </a:rPr>
              <a:t>01:00 · </a:t>
            </a:r>
            <a:r>
              <a:rPr lang="zh-CN" sz="938" b="1">
                <a:solidFill>
                  <a:srgbClr val="0A1D37"/>
                </a:solidFill>
                <a:latin typeface="Microsoft YaHei"/>
                <a:ea typeface="Microsoft YaHei"/>
              </a:rPr>
              <a:t>部署</a:t>
            </a:r>
            <a:r>
              <a:rPr lang="en-US" sz="938" b="1">
                <a:solidFill>
                  <a:srgbClr val="0A1D37"/>
                </a:solidFill>
                <a:latin typeface="Microsoft YaHei"/>
                <a:ea typeface="Microsoft YaHei"/>
              </a:rPr>
              <a:t> v_35 → active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5581650" y="2676525"/>
            <a:ext cx="2076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>
                <a:solidFill>
                  <a:srgbClr val="0891B2"/>
                </a:solidFill>
                <a:latin typeface="Microsoft YaHei"/>
                <a:ea typeface="Microsoft YaHei"/>
              </a:rPr>
              <a:t>新版本成为</a:t>
            </a:r>
            <a:r>
              <a:rPr lang="en-US" sz="825" b="1">
                <a:solidFill>
                  <a:srgbClr val="0891B2"/>
                </a:solidFill>
                <a:latin typeface="Microsoft YaHei"/>
                <a:ea typeface="Microsoft YaHei"/>
              </a:rPr>
              <a:t> active ✓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1543050" y="3152775"/>
            <a:ext cx="10668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657350" y="3190875"/>
            <a:ext cx="838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①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自然语言提问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2686050" y="3181350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2895600" y="3152775"/>
            <a:ext cx="118110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009900" y="3190875"/>
            <a:ext cx="952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②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结论沉淀为日志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152900" y="3181350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1" name=""/>
          <p:cNvSpPr/>
          <p:nvPr/>
        </p:nvSpPr>
        <p:spPr>
          <a:xfrm rot="0" flipH="0" flipV="0">
            <a:off x="4362450" y="3152775"/>
            <a:ext cx="1200150" cy="219075"/>
          </a:xfrm>
          <a:prstGeom prst="roundRect">
            <a:avLst>
              <a:gd name="adj" fmla="val 26087"/>
            </a:avLst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4476750" y="3190875"/>
            <a:ext cx="971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③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定时训练</a:t>
            </a:r>
            <a:r>
              <a:rPr lang="en-US" sz="900">
                <a:solidFill>
                  <a:srgbClr val="0F2039"/>
                </a:solidFill>
                <a:latin typeface="Microsoft YaHei"/>
                <a:ea typeface="Microsoft YaHei"/>
              </a:rPr>
              <a:t> + </a:t>
            </a:r>
            <a:r>
              <a:rPr lang="zh-CN" sz="900">
                <a:solidFill>
                  <a:srgbClr val="0F2039"/>
                </a:solidFill>
                <a:latin typeface="Microsoft YaHei"/>
                <a:ea typeface="Microsoft YaHei"/>
              </a:rPr>
              <a:t>验证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638800" y="3181350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5848350" y="3152775"/>
            <a:ext cx="1162050" cy="219075"/>
          </a:xfrm>
          <a:prstGeom prst="roundRect">
            <a:avLst>
              <a:gd name="adj" fmla="val 26087"/>
            </a:avLst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962650" y="3190875"/>
            <a:ext cx="9334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891B2"/>
                </a:solidFill>
                <a:latin typeface="Microsoft YaHei"/>
                <a:ea typeface="Microsoft YaHei"/>
              </a:rPr>
              <a:t>新模型成为</a:t>
            </a:r>
            <a:r>
              <a:rPr lang="en-US" sz="900" b="1">
                <a:solidFill>
                  <a:srgbClr val="0891B2"/>
                </a:solidFill>
                <a:latin typeface="Microsoft YaHei"/>
                <a:ea typeface="Microsoft YaHei"/>
              </a:rPr>
              <a:t> active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09600" y="3448050"/>
            <a:ext cx="7334250" cy="1428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同一套闭环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训练前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Agent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自动读取既有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EDM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日志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全程无人工干预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8191500" y="981075"/>
            <a:ext cx="3390900" cy="3124200"/>
          </a:xfrm>
          <a:prstGeom prst="roundRect">
            <a:avLst>
              <a:gd name="adj" fmla="val 3659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382000" y="117157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8FAFC"/>
                </a:solidFill>
                <a:latin typeface="Microsoft YaHei"/>
                <a:ea typeface="Microsoft YaHei"/>
              </a:rPr>
              <a:t>产业客户看到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8382000" y="16383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534400" y="1504950"/>
            <a:ext cx="1619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可用</a:t>
            </a:r>
            <a:r>
              <a:rPr lang="en-US" sz="1013" b="1">
                <a:solidFill>
                  <a:srgbClr val="F8FAFC"/>
                </a:solidFill>
                <a:latin typeface="Microsoft YaHei"/>
                <a:ea typeface="Microsoft YaHei"/>
              </a:rPr>
              <a:t> —— </a:t>
            </a: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自然语言驱动学习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534400" y="1685925"/>
            <a:ext cx="16192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业务人员零门槛发起分析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8382000" y="2066925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8534400" y="1933575"/>
            <a:ext cx="1495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可查</a:t>
            </a:r>
            <a:r>
              <a:rPr lang="en-US" sz="1013" b="1">
                <a:solidFill>
                  <a:srgbClr val="F8FAFC"/>
                </a:solidFill>
                <a:latin typeface="Microsoft YaHei"/>
                <a:ea typeface="Microsoft YaHei"/>
              </a:rPr>
              <a:t> —— </a:t>
            </a: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结论沉淀为日志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8534400" y="2114550"/>
            <a:ext cx="14954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漂移结论与训练依据随时回看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8382000" y="24955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8534400" y="236220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可审计</a:t>
            </a:r>
            <a:r>
              <a:rPr lang="en-US" sz="1013" b="1">
                <a:solidFill>
                  <a:srgbClr val="F8FAFC"/>
                </a:solidFill>
                <a:latin typeface="Microsoft YaHei"/>
                <a:ea typeface="Microsoft YaHei"/>
              </a:rPr>
              <a:t> —— </a:t>
            </a:r>
            <a:r>
              <a:rPr lang="zh-CN" sz="1013" b="1">
                <a:solidFill>
                  <a:srgbClr val="F8FAFC"/>
                </a:solidFill>
                <a:latin typeface="Microsoft YaHei"/>
                <a:ea typeface="Microsoft YaHei"/>
              </a:rPr>
              <a:t>行为可追溯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534400" y="2543175"/>
            <a:ext cx="15716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所有动作约束在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Harness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边界内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8229600" y="4219575"/>
            <a:ext cx="3390900" cy="1390650"/>
          </a:xfrm>
          <a:custGeom>
            <a:pathLst>
              <a:path w="356" h="146">
                <a:moveTo>
                  <a:pt x="0" y="0"/>
                </a:moveTo>
                <a:lnTo>
                  <a:pt x="346" y="0"/>
                </a:lnTo>
                <a:cubicBezTo>
                  <a:pt x="352" y="0"/>
                  <a:pt x="356" y="4"/>
                  <a:pt x="356" y="10"/>
                </a:cubicBezTo>
                <a:lnTo>
                  <a:pt x="356" y="136"/>
                </a:lnTo>
                <a:cubicBezTo>
                  <a:pt x="356" y="142"/>
                  <a:pt x="352" y="146"/>
                  <a:pt x="346" y="146"/>
                </a:cubicBezTo>
                <a:lnTo>
                  <a:pt x="0" y="146"/>
                </a:lnTo>
                <a:lnTo>
                  <a:pt x="0" y="146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22D3EE">
              <a:alpha val="7000"/>
            </a:srgbClr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8229600" y="4219575"/>
            <a:ext cx="3390900" cy="1390650"/>
          </a:xfrm>
          <a:custGeom>
            <a:pathLst>
              <a:path w="356" h="146">
                <a:moveTo>
                  <a:pt x="4" y="146"/>
                </a:moveTo>
                <a:lnTo>
                  <a:pt x="0" y="146"/>
                </a:lnTo>
                <a:lnTo>
                  <a:pt x="0" y="0"/>
                </a:lnTo>
                <a:lnTo>
                  <a:pt x="4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8382000" y="437197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A1D37"/>
                </a:solidFill>
                <a:latin typeface="Microsoft YaHei"/>
                <a:ea typeface="Microsoft YaHei"/>
              </a:rPr>
              <a:t>投资人看到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8382000" y="4629150"/>
            <a:ext cx="3048000" cy="542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可复制的产品闭环——同一套</a:t>
            </a:r>
            <a:r>
              <a:rPr lang="en-US" sz="975">
                <a:solidFill>
                  <a:srgbClr val="0F2039"/>
                </a:solidFill>
                <a:latin typeface="Microsoft YaHei"/>
                <a:ea typeface="Microsoft YaHei"/>
              </a:rPr>
              <a:t> Harness </a:t>
            </a:r>
            <a:r>
              <a:rPr lang="zh-CN" sz="975">
                <a:solidFill>
                  <a:srgbClr val="0F2039"/>
                </a:solidFill>
                <a:latin typeface="Microsoft YaHei"/>
                <a:ea typeface="Microsoft YaHei"/>
              </a:rPr>
              <a:t>结构，可迁移到其他时序预测场景。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8382000" y="5267325"/>
            <a:ext cx="628650" cy="190500"/>
          </a:xfrm>
          <a:prstGeom prst="roundRect">
            <a:avLst>
              <a:gd name="adj" fmla="val 30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8477250" y="5295900"/>
            <a:ext cx="4381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光伏出力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9086850" y="5267325"/>
            <a:ext cx="409575" cy="190500"/>
          </a:xfrm>
          <a:prstGeom prst="roundRect">
            <a:avLst>
              <a:gd name="adj" fmla="val 30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182100" y="529590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气象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9572625" y="5267325"/>
            <a:ext cx="409575" cy="190500"/>
          </a:xfrm>
          <a:prstGeom prst="roundRect">
            <a:avLst>
              <a:gd name="adj" fmla="val 30000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667875" y="5295900"/>
            <a:ext cx="2190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0891B2"/>
                </a:solidFill>
                <a:latin typeface="Microsoft YaHei"/>
                <a:ea typeface="Microsoft YaHei"/>
              </a:rPr>
              <a:t>水文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8191500" y="5724525"/>
            <a:ext cx="3390900" cy="695325"/>
          </a:xfrm>
          <a:prstGeom prst="roundRect">
            <a:avLst>
              <a:gd name="adj" fmla="val 10959"/>
            </a:avLst>
          </a:prstGeom>
          <a:solidFill>
            <a:srgbClr val="F8FAFC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305800" y="5838825"/>
            <a:ext cx="31623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现场以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20–30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秒预录演示呈现，避免训练耗时与网络波动影响路演。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7049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产品演示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CLE · 05 / 07</a:t>
            </a:r>
            <a:endParaRPr/>
          </a:p>
        </p:txBody>
      </p:sp>
    </p:spTree>
  </p:cSld>
</p:sld>
</file>

<file path=ppt/slides/slide6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3" name="" descr="&lt;Slide style={{ width: 1280, height: 720, background: '#0A1D37', display: 'flex', flexDirection: 'column', padding: '44px 64px 16px 64px' }}&gt;&#10;    &lt;Text style={{ fontSize: 14, color: '#22D3EE', letterSpacing: 3 }}&gt;实证 · 相同数据 · 相同模型&lt;/Text&gt;&#10;    &lt;Text style={{ fontSize: 33, fontWeight: 'bold', color: '#F8FAFC', marginTop: 8 }}&gt;相同数据、相同模型下，持续学习验证指标改善约 5.6%&lt;/Text&gt;&#10;&#10;    &lt;Box style={{ flexDirection: 'row', gap: 40, flex: 1, marginTop: 20, alignItems: 'stretch' }}&gt;&#10;        &lt;Box style={{ width: 400, display: 'flex', flexDirection: 'column' }}&gt;&#10;            &lt;Text style={{ fontSize: 104, fontWeight: 'bold', color: '#22D3EE', fontFamily: 'Space Grotesk, Inter, sans-serif', lineHeight: 1.0 }}&gt;5.6%&lt;/Text&gt;&#10;            &lt;Text style={{ fontSize: 17, color: '#F8FAFC', marginTop: 8 }}&gt;WAPE 相对改善&lt;/Text&gt;&#10;            &lt;Box style={{ height: 1, background: '#123B63', margin: '20px 0' }} /&gt;&#10;            &lt;Box style={{ flexDirection: 'row', gap: 32 }}&gt;&#10;                &lt;Box&gt;&#10;                    &lt;Text style={{ fontSize: 34, fontWeight: 'bold', color: '#F8FAFC', fontFamily: 'Space Grotesk, Inter, sans-serif' }}&gt;31 / 32&lt;/Text&gt;&#10;                    &lt;Text style={{ fontSize: 12, color: '#94A3B8', marginTop: 4 }}&gt;个月动态模型更优&lt;/Text&gt;&#10;                &lt;/Box&gt;&#10;                &lt;Box&gt;&#10;                    &lt;Text style={{ fontSize: 34, fontWeight: 'bold', color: '#F8FAFC', fontFamily: 'Space Grotesk, Inter, sans-serif' }}&gt;68,040&lt;/Text&gt;&#10;                    &lt;Text style={{ fontSize: 12, color: '#94A3B8', marginTop: 4 }}&gt;共有预测主键 · 同口径对齐&lt;/Text&gt;&#10;                &lt;/Box&gt;&#10;            &lt;/Box&gt;&#10;            &lt;Box style={{ marginTop: 18, border: '1px solid #123B63', borderRadius: 8, padding: '10px 14px' }}&gt;&#10;                &lt;Text style={{ fontSize: 12, color: '#94A3B8', lineHeight: 1.7 }}&gt;唯一回退月份：2016-07（WAPE +0.02 pp）——32 个月中仅 1 次略差，仍纳入统计、不做剔除。&lt;/Text&gt;&#10;            &lt;/Box&gt;&#10;            &lt;Text style={{ fontSize: 13, color: '#94A3B8', lineHeight: 1.8, marginTop: 'auto' }}&gt;改善不靠更换模型——在相同模型条件下，由持续学习获得。&lt;/Text&gt;&#10;        &lt;/Box&gt;&#10;&#10;        &lt;Box style={{ flex: 1, background: '#123B63', borderRadius: 14, padding: 22, display: 'flex', flexDirection: 'column' }}&gt;&#10;            &lt;Box&gt;&#10;                &lt;Box style={{ flexDirection: 'row', alignItems: 'center' }}&gt;&#10;                    &lt;Text style={{ fontSize: 14.5, fontWeight: 'bold', color: '#F8FAFC' }}&gt;WAPE｜越低越好&lt;/Text&gt;&#10;                    &lt;Box style={{ marginLeft: 'auto', border: '1px solid #22D3EE', borderRadius: 999, padding: '2px 10px' }}&gt;&#10;                        &lt;Text style={{ fontSize: 12.5, fontWeight: 'bold', color: '#22D3EE' }}&gt;−0.2176 pp&lt;/Text&gt;&#10;                    &lt;/Box&gt;&#10;                &lt;/Box&gt;&#10;                &lt;Box style={{ flexDirection: 'row', alignItems: 'center', gap: 8, marginTop: 10 }}&gt;&#10;                    &lt;Text style={{ width: 76, fontSize: 12.5, color: '#94A3B8' }}&gt;静态模型&lt;/Text&gt;&#10;                    &lt;Box style={{ width: 400, height: 20, background: '#0A1D37', borderRadius: 4, position: 'relative' }}&gt;&#10;                        &lt;Box style={{ position: 'absolute', left: 0, top: 0, width: 390, height: 20, background: '#94A3B8', borderRadius: 4 }} /&gt;&#10;                    &lt;/Box&gt;&#10;                    &lt;Text style={{ fontSize: 12.5, fontWeight: 'bold', color: '#F8FAFC', marginLeft: 6 }}&gt;3.8876%&lt;/Text&gt;&#10;                &lt;/Box&gt;&#10;                &lt;Box style={{ flexDirection: 'row', alignItems: 'center', gap: 8, marginTop: 8 }}&gt;&#10;                    &lt;Text style={{ width: 76, fontSize: 12.5, color: '#F8FAFC' }}&gt;持续学习&lt;/Text&gt;&#10;                    &lt;Box style={{ width: 400, height: 20, background: '#0A1D37', borderRadius: 4, position: 'relative' }}&gt;&#10;                        &lt;Box style={{ position: 'absolute', left: 0, top: 0, width: 368, height: 20, background: '#22D3EE', borderRadius: 4 }} /&gt;&#10;                    &lt;/Box&gt;&#10;                    &lt;Text style={{ fontSize: 12.5, fontWeight: 'bold', color: '#22D3EE', marginLeft: 6 }}&gt;3.6700%&lt;/Text&gt;&#10;                &lt;/Box&gt;&#10;            &lt;/Box&gt;&#10;&#10;            &lt;Box style={{ height: 1, background: '#0A1D37', margin: '14px 0' }} /&gt;&#10;&#10;            &lt;Box&gt;&#10;                &lt;Box style={{ flexDirection: 'row', alignItems: 'center' }}&gt;&#10;                    &lt;Text style={{ fontSize: 14.5, fontWeight: 'bold', color: '#F8FAFC' }}&gt;MAE｜越低越好&lt;/Text&gt;&#10;                    &lt;Box style={{ marginLeft: 'auto', border: '1px solid #22D3EE', borderRadius: 999, padding: '2px 10px' }}&gt;&#10;                        &lt;Text style={{ fontSize: 12.5, fontWeight: 'bold', color: '#22D3EE' }}&gt;−20.34 MW&lt;/Text&gt;&#10;                    &lt;/Box&gt;&#10;                &lt;/Box&gt;&#10;                &lt;Box style={{ flexDirection: 'row', alignItems: 'center', gap: 8, marginTop: 10 }}&gt;&#10;                    &lt;Text style={{ width: 76, fontSize: 12.5, color: '#94A3B8' }}&gt;静态模型&lt;/Text&gt;&#10;                    &lt;Box style={{ width: 400, height: 20, background: '#0A1D37', borderRadius: 4, position: 'relative' }}&gt;&#10;                        &lt;Box style={{ position: 'absolute', left: 0, top: 0, width: 363, height: 20, background: '#94A3B8', borderRadius: 4 }} /&gt;&#10;                    &lt;/Box&gt;&#10;                    &lt;Text style={{ fontSize: 12.5, fontWeight: 'bold', color: '#F8FAFC', marginLeft: 6 }}&gt;363.33&lt;/Text&gt;&#10;                &lt;/Box&gt;&#10;                &lt;Box style={{ flexDirection: 'row', alignItems: 'center', gap: 8, marginTop: 8 }}&gt;&#10;                    &lt;Text style={{ width: 76, fontSize: 12.5, color: '#F8FAFC' }}&gt;持续学习&lt;/Text&gt;&#10;                    &lt;Box style={{ width: 400, height: 20, background: '#0A1D37', borderRadius: 4, position: 'relative' }}&gt;&#10;                        &lt;Box style={{ position: 'absolute', left: 0, top: 0, width: 343, height: 20, background: '#22D3EE', borderRadius: 4 }} /&gt;&#10;                    &lt;/Box&gt;&#10;                    &lt;Text style={{ fontSize: 12.5, fontWeight: 'bold', color: '#22D3EE', marginLeft: 6 }}&gt;342.99&lt;/Text&gt;&#10;                &lt;/Box&gt;&#10;            &lt;/Box&gt;&#10;&#10;            &lt;Box style={{ height: 1, background: '#0A1D37', margin: '14px 0' }} /&gt;&#10;&#10;            &lt;Box style={{ flexDirection: 'row', alignItems: 'center', marginBottom: 6 }}&gt;&#10;                &lt;Text style={{ fontSize: 14.5, fontWeight: 'bold', color: '#F8FAFC' }}&gt;月度 WAPE 走势&lt;/Text&gt;&#10;                &lt;Text style={{ marginLeft: 12, fontSize: 11.5, color: '#94A3B8' }}&gt;2016-01 → 2018-08 · 动态模型长期低于静态&lt;/Text&gt;&#10;            &lt;/Box&gt;&#10;            &lt;Chart&#10;                style={{ height: 200 }}&#10;                chartType='lineChart'&#10;                background='#123B63'&#10;                showLegend={true}&#10;                legendColor='#94A3B8'&#10;                axisColor='#64748B'&#10;                colors={['#94A3B8', '#22D3EE']}&#10;                data={[&#10;                    ['月份', '静态 WAPE', '动态 WAPE'],&#10;                    ['16-01', 4.5448, 4.5448],&#10;                    ['16-02', 4.4292, 4.2311],&#10;                    ['16-03', 3.2708, 3.0051],&#10;                    ['16-04', 3.3004, 3.1009],&#10;                    ['16-05', 2.8832, 2.7354],&#10;                    ['16-06', 3.9656, 3.6806],&#10;                    ['16-07', 3.5909, 3.6100],&#10;                    ['16-08', 3.5359, 3.3589],&#10;                    ['16-09', 4.2052, 4.0221],&#10;                    ['16-10', 2.8927, 2.6459],&#10;                    ['16-11', 3.2834, 2.8776],&#10;                    ['16-12', 4.0062, 3.9155],&#10;                    ['17-01', 4.3050, 4.0186],&#10;                    ['17-02', 4.5920, 4.2749],&#10;                    ['17-03', 3.8754, 3.6176],&#10;                    ['17-04', 3.4790, 3.1714],&#10;                    ['17-05', 3.9822, 3.6762],&#10;                    ['17-06', 3.7651, 3.6524],&#10;                    ['17-07', 3.7563, 3.4687],&#10;                    ['17-08', 3.2999, 3.2072],&#10;                    ['17-09', 3.6859, 3.3214],&#10;                    ['17-10', 3.2119, 2.9114],&#10;                    ['17-11', 3.6483, 3.3150],&#10;                    ['17-12', 4.1561, 3.9405],&#10;                    ['18-01', 4.8647, 4.8506],&#10;                    ['18-02', 4.2964, 4.1074],&#10;                    ['18-03', 4.3352, 4.0496],&#10;                    ['18-04', 4.1911, 3.8786],&#10;                    ['18-05', 4.3633, 4.0013],&#10;                    ['18-06', 4.2547, 3.8982],&#10;                    ['18-07', 3.8659, 3.7938],&#10;                    ['18-08', 3.5641, 3.1085],&#10;                ]}&#10;            /&gt;&#10;        &lt;/Box&gt;&#10;    &lt;/Box&gt;&#10;&#10;    &lt;Box style={{ flexDirection: 'row', marginTop: 14, alignItems: 'center' }}&gt;&#10;        &lt;Text style={{ fontSize: 11.5, color: '#94A3B8' }}&gt;Source: monthly_static_dynamic_validation_metrics.csv · 68,040 共有预测主键 · 按纽约本地预测月份统计 · 验证集结果，非真实生产承诺&lt;/Text&gt;&#10;        &lt;Box style={{ marginLeft: 'auto', flexDirection: 'row', alignItems: 'center', gap: 8 }}&gt;&#10;            &lt;Box style={{ width: 10, height: 10, background: '#22D3EE' }} /&gt;&#10;            &lt;Text style={{ fontSize: 13, color: '#94A3B8' }}&gt;CLE · 06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实证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相同数据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相同模型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09600" y="657225"/>
            <a:ext cx="10972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F8FAFC"/>
                </a:solidFill>
                <a:latin typeface="Microsoft YaHei"/>
                <a:ea typeface="Microsoft YaHei"/>
              </a:rPr>
              <a:t>相同数据、相同模型下，持续学习验证指标改善约</a:t>
            </a:r>
            <a:r>
              <a:rPr lang="en-US" sz="2475" b="1">
                <a:solidFill>
                  <a:srgbClr val="F8FAFC"/>
                </a:solidFill>
                <a:latin typeface="Microsoft YaHei"/>
                <a:ea typeface="Microsoft YaHei"/>
              </a:rPr>
              <a:t> 5.6%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09600" y="1228725"/>
            <a:ext cx="3810000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22D3EE"/>
                </a:solidFill>
                <a:latin typeface="Space Grotesk"/>
                <a:ea typeface="Space Grotesk"/>
              </a:rPr>
              <a:t>5.6%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381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F8FAFC"/>
                </a:solidFill>
                <a:latin typeface="Microsoft YaHei"/>
                <a:ea typeface="Microsoft YaHei"/>
              </a:rPr>
              <a:t>WAPE </a:t>
            </a:r>
            <a:r>
              <a:rPr lang="zh-CN" sz="1275">
                <a:solidFill>
                  <a:srgbClr val="F8FAFC"/>
                </a:solidFill>
                <a:latin typeface="Microsoft YaHei"/>
                <a:ea typeface="Microsoft YaHei"/>
              </a:rPr>
              <a:t>相对改善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609600" y="2886075"/>
            <a:ext cx="3810000" cy="9525"/>
          </a:xfrm>
          <a:prstGeom prst="rect">
            <a:avLst/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609600" y="3086100"/>
            <a:ext cx="990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8FAFC"/>
                </a:solidFill>
                <a:latin typeface="Space Grotesk"/>
                <a:ea typeface="Space Grotesk"/>
              </a:rPr>
              <a:t>31 / 32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609600" y="3514725"/>
            <a:ext cx="9906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个月动态模型更优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905000" y="3086100"/>
            <a:ext cx="13620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8FAFC"/>
                </a:solidFill>
                <a:latin typeface="Space Grotesk"/>
                <a:ea typeface="Space Grotesk"/>
              </a:rPr>
              <a:t>68,040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1905000" y="3514725"/>
            <a:ext cx="1362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共有预测主键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同口径对齐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609600" y="3829050"/>
            <a:ext cx="3810000" cy="657225"/>
          </a:xfrm>
          <a:prstGeom prst="roundRect">
            <a:avLst>
              <a:gd name="adj" fmla="val 11594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42950" y="3924300"/>
            <a:ext cx="35433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唯一回退月份：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2016-07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（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WAPE +0.02 pp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）——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32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个月中仅</a:t>
            </a:r>
            <a:r>
              <a:rPr lang="en-US" sz="900">
                <a:solidFill>
                  <a:srgbClr val="94A3B8"/>
                </a:solidFill>
                <a:latin typeface="Microsoft YaHei"/>
                <a:ea typeface="Microsoft YaHei"/>
              </a:rPr>
              <a:t> 1 </a:t>
            </a:r>
            <a:r>
              <a:rPr lang="zh-CN" sz="900">
                <a:solidFill>
                  <a:srgbClr val="94A3B8"/>
                </a:solidFill>
                <a:latin typeface="Microsoft YaHei"/>
                <a:ea typeface="Microsoft YaHei"/>
              </a:rPr>
              <a:t>次略差，仍纳入统计、不做剔除。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609600" y="6143625"/>
            <a:ext cx="3810000" cy="2762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975">
                <a:solidFill>
                  <a:srgbClr val="94A3B8"/>
                </a:solidFill>
                <a:latin typeface="Microsoft YaHei"/>
                <a:ea typeface="Microsoft YaHei"/>
              </a:rPr>
              <a:t>改善不靠更换模型——在相同模型条件下，由持续学习获得。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4800600" y="1228725"/>
            <a:ext cx="6781800" cy="5191125"/>
          </a:xfrm>
          <a:prstGeom prst="roundRect">
            <a:avLst>
              <a:gd name="adj" fmla="val 2569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5010150" y="144780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WAPE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｜越低越好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10563225" y="1438275"/>
            <a:ext cx="809625" cy="180975"/>
          </a:xfrm>
          <a:prstGeom prst="roundRect">
            <a:avLst>
              <a:gd name="adj" fmla="val 5257895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0658475" y="1457325"/>
            <a:ext cx="619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−0.2176 pp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5010150" y="174307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静态模型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9753600" y="1743075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8FAFC"/>
                </a:solidFill>
                <a:latin typeface="Microsoft YaHei"/>
                <a:ea typeface="Microsoft YaHei"/>
              </a:rPr>
              <a:t>3.8876%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5010150" y="200977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8FAFC"/>
                </a:solidFill>
                <a:latin typeface="Microsoft YaHei"/>
                <a:ea typeface="Microsoft YaHei"/>
              </a:rPr>
              <a:t>持续学习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9753600" y="2009775"/>
            <a:ext cx="476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3.6700%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5010150" y="2305050"/>
            <a:ext cx="6362700" cy="9525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010150" y="2457450"/>
            <a:ext cx="1000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MAE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｜越低越好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10563225" y="2447925"/>
            <a:ext cx="809625" cy="180975"/>
          </a:xfrm>
          <a:prstGeom prst="roundRect">
            <a:avLst>
              <a:gd name="adj" fmla="val 5257895"/>
            </a:avLst>
          </a:prstGeom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10658475" y="2466975"/>
            <a:ext cx="6191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−20.34 MW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5010150" y="275272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静态模型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9753600" y="2752725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8FAFC"/>
                </a:solidFill>
                <a:latin typeface="Microsoft YaHei"/>
                <a:ea typeface="Microsoft YaHei"/>
              </a:rPr>
              <a:t>363.33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5010150" y="3019425"/>
            <a:ext cx="723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38">
                <a:solidFill>
                  <a:srgbClr val="F8FAFC"/>
                </a:solidFill>
                <a:latin typeface="Microsoft YaHei"/>
                <a:ea typeface="Microsoft YaHei"/>
              </a:rPr>
              <a:t>持续学习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9753600" y="3019425"/>
            <a:ext cx="3714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22D3EE"/>
                </a:solidFill>
                <a:latin typeface="Microsoft YaHei"/>
                <a:ea typeface="Microsoft YaHei"/>
              </a:rPr>
              <a:t>342.99</a:t>
            </a:r>
            <a:endParaRPr/>
          </a:p>
        </p:txBody>
      </p:sp>
      <p:sp>
        <p:nvSpPr>
          <p:cNvPr id="333" name=""/>
          <p:cNvSpPr/>
          <p:nvPr/>
        </p:nvSpPr>
        <p:spPr>
          <a:xfrm rot="0" flipH="0" flipV="0">
            <a:off x="5010150" y="3314700"/>
            <a:ext cx="6362700" cy="9525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5010150" y="3457575"/>
            <a:ext cx="1038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月度</a:t>
            </a: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 WAPE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走势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162675" y="3476625"/>
            <a:ext cx="2171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2016-01 → 2018-08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动态模型长期低于静态</a:t>
            </a:r>
            <a:endParaRPr/>
          </a:p>
        </p:txBody>
      </p:sp>
      <p:graphicFrame>
        <p:nvGraphicFramePr>
          <p:cNvPr id="336" name="336"/>
          <p:cNvGraphicFramePr/>
          <p:nvPr/>
        </p:nvGraphicFramePr>
        <p:xfrm rot="0" flipH="0" flipV="0">
          <a:off x="5010150" y="3686175"/>
          <a:ext cx="6362700" cy="19050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66579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Source: monthly_static_dynamic_validation_metrics.csv · 68,040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共有预测主键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按纽约本地预测月份统计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验证集结果，非真实生产承诺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CLE · 06 / 07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5810250" y="171450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1" name=""/>
          <p:cNvSpPr/>
          <p:nvPr/>
        </p:nvSpPr>
        <p:spPr>
          <a:xfrm rot="0" flipH="0" flipV="0">
            <a:off x="5810250" y="1714500"/>
            <a:ext cx="3714750" cy="190500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5810250" y="198120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3" name=""/>
          <p:cNvSpPr/>
          <p:nvPr/>
        </p:nvSpPr>
        <p:spPr>
          <a:xfrm rot="0" flipH="0" flipV="0">
            <a:off x="5810250" y="1981200"/>
            <a:ext cx="3505200" cy="19050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5810250" y="272415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5" name=""/>
          <p:cNvSpPr/>
          <p:nvPr/>
        </p:nvSpPr>
        <p:spPr>
          <a:xfrm rot="0" flipH="0" flipV="0">
            <a:off x="5810250" y="2724150"/>
            <a:ext cx="3457575" cy="190500"/>
          </a:xfrm>
          <a:prstGeom prst="roundRect">
            <a:avLst>
              <a:gd name="adj" fmla="val 20000"/>
            </a:avLst>
          </a:prstGeom>
          <a:solidFill>
            <a:srgbClr val="94A3B8"/>
          </a:solidFill>
          <a:ln/>
        </p:spPr>
        <p:txBody>
          <a:bodyPr/>
          <a:p/>
        </p:txBody>
      </p:sp>
      <p:sp>
        <p:nvSpPr>
          <p:cNvPr id="346" name=""/>
          <p:cNvSpPr/>
          <p:nvPr/>
        </p:nvSpPr>
        <p:spPr>
          <a:xfrm rot="0" flipH="0" flipV="0">
            <a:off x="5810250" y="2990850"/>
            <a:ext cx="3810000" cy="190500"/>
          </a:xfrm>
          <a:prstGeom prst="roundRect">
            <a:avLst>
              <a:gd name="adj" fmla="val 20000"/>
            </a:avLst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47" name=""/>
          <p:cNvSpPr/>
          <p:nvPr/>
        </p:nvSpPr>
        <p:spPr>
          <a:xfrm rot="0" flipH="0" flipV="0">
            <a:off x="5810250" y="2990850"/>
            <a:ext cx="3267075" cy="190500"/>
          </a:xfrm>
          <a:prstGeom prst="roundRect">
            <a:avLst>
              <a:gd name="adj" fmla="val 20000"/>
            </a:avLst>
          </a:prstGeom>
          <a:solidFill>
            <a:srgbClr val="22D3EE"/>
          </a:solidFill>
          <a:ln/>
        </p:spPr>
        <p:txBody>
          <a:bodyPr/>
          <a:p/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348" name="" descr="&lt;Slide style={{ width: 1280, height: 720, background: '#0A1D37', display: 'flex', flexDirection: 'column', padding: '42px 64px 16px 64px' }}&gt;&#10;    &lt;Text style={{ fontSize: 14, color: '#22D3EE', letterSpacing: 3 }}&gt;路线图 · 未来 100 天&lt;/Text&gt;&#10;    &lt;Text style={{ fontSize: 33, fontWeight: 'bold', color: '#F8FAFC', marginTop: 8 }}&gt;先补强工具，再以科研项目验证价值&lt;/Text&gt;&#10;&#10;    &lt;Box style={{ flexDirection: 'row', gap: 28, flex: 1, marginTop: 22, alignItems: 'flex-start' }}&gt;&#10;        &lt;Box style={{ width: 400, display: 'flex', flexDirection: 'column' }}&gt;&#10;            &lt;Box style={{ flexDirection: 'row', alignItems: 'center', gap: 12 }}&gt;&#10;                &lt;Box style={{ borderLeft: '4px solid #22D3EE', paddingLeft: 10 }}&gt;&#10;                    &lt;Text style={{ fontSize: 15, fontWeight: 'bold', color: '#F8FAFC' }}&gt;技术 · 补强工具&lt;/Text&gt;&#10;                &lt;/Box&gt;&#10;                &lt;Box style={{ padding: '2px 10px', border: '1px solid #123B63', borderRadius: 999 }}&gt;&#10;                    &lt;Text style={{ fontSize: 11.5, color: '#94A3B8' }}&gt;产出：可比较的候选方案集&lt;/Text&gt;&#10;                &lt;/Box&gt;&#10;            &lt;/Box&gt;&#10;            &lt;Box style={{ flexDirection: 'column', gap: 12, marginTop: 14 }}&gt;&#10;                &lt;Box style={{ background: '#123B63', borderRadius: 8, padding: '12px 16px', flexDirection: 'row', alignItems: 'center', gap: 14 }}&gt;&#10;                    &lt;Text style={{ fontSize: 20, fontWeight: 'bold', color: '#22D3EE', fontFamily: 'Space Grotesk, Inter, sans-serif' }}&gt;1&lt;/Text&gt;&#10;                    &lt;Box style={{ flex: 1 }}&gt;&#10;                        &lt;Text style={{ fontSize: 14, color: '#F8FAFC' }}&gt;补足当前有限的 EDM 方法&lt;/Text&gt;&#10;                        &lt;Text style={{ fontSize: 11.5, color: '#94A3B8', marginTop: 3 }}&gt;漂移检测更敏感，减少漏判&lt;/Text&gt;&#10;                    &lt;/Box&gt;&#10;                    &lt;Text style={{ fontSize: 11.5, color: '#22D3EE' }}&gt;0–30 天&lt;/Text&gt;&#10;                &lt;/Box&gt;&#10;                &lt;Box style={{ background: '#123B63', borderRadius: 8, padding: '12px 16px', flexDirection: 'row', alignItems: 'center', gap: 14 }}&gt;&#10;                    &lt;Text style={{ fontSize: 20, fontWeight: 'bold', color: '#22D3EE', fontFamily: 'Space Grotesk, Inter, sans-serif' }}&gt;2&lt;/Text&gt;&#10;                    &lt;Box style={{ flex: 1 }}&gt;&#10;                        &lt;Text style={{ fontSize: 14, color: '#F8FAFC' }}&gt;自然语言调用更多数据分析与训练工具&lt;/Text&gt;&#10;                        &lt;Text style={{ fontSize: 11.5, color: '#94A3B8', marginTop: 3 }}&gt;工具覆盖训练全流程&lt;/Text&gt;&#10;                    &lt;/Box&gt;&#10;                    &lt;Text style={{ fontSize: 11.5, color: '#22D3EE' }}&gt;30–60 天&lt;/Text&gt;&#10;                &lt;/Box&gt;&#10;                &lt;Box style={{ background: '#123B63', borderRadius: 8, padding: '12px 16px', flexDirection: 'row', alignItems: 'center', gap: 14 }}&gt;&#10;                    &lt;Text style={{ fontSize: 20, fontWeight: 'bold', color: '#22D3EE', fontFamily: 'Space Grotesk, Inter, sans-serif' }}&gt;3&lt;/Text&gt;&#10;                    &lt;Box style={{ flex: 1 }}&gt;&#10;                        &lt;Text style={{ fontSize: 14, color: '#F8FAFC' }}&gt;统一时序验证口径下比较候选方案&lt;/Text&gt;&#10;                        &lt;Text style={{ fontSize: 11.5, color: '#94A3B8', marginTop: 3 }}&gt;模型能力可横向对比&lt;/Text&gt;&#10;                    &lt;/Box&gt;&#10;                    &lt;Text style={{ fontSize: 11.5, color: '#22D3EE' }}&gt;60–100 天&lt;/Text&gt;&#10;                &lt;/Box&gt;&#10;            &lt;/Box&gt;&#10;            &lt;Text style={{ fontSize: 12.5, color: '#94A3B8', marginTop: 12, lineHeight: 1.7 }}&gt;模型能力从单一模型，扩展为可比较的候选方案集。&lt;/Text&gt;&#10;        &lt;/Box&gt;&#10;&#10;        &lt;Box style={{ flex: 1, display: 'flex', flexDirection: 'column' }}&gt;&#10;            &lt;Box style={{ flexDirection: 'row', alignItems: 'center', gap: 12 }}&gt;&#10;                &lt;Box style={{ borderLeft: '4px solid #94A3B8', paddingLeft: 10 }}&gt;&#10;                    &lt;Text style={{ fontSize: 15, fontWeight: 'bold', color: '#F8FAFC' }}&gt;商业 · 科研验证&lt;/Text&gt;&#10;                &lt;/Box&gt;&#10;                &lt;Box style={{ padding: '2px 10px', border: '1px solid #123B63', borderRadius: 999 }}&gt;&#10;                    &lt;Text style={{ fontSize: 11.5, color: '#94A3B8' }}&gt;量化收益后再灰度&lt;/Text&gt;&#10;                &lt;/Box&gt;&#10;            &lt;/Box&gt;&#10;            &lt;Box style={{ flexDirection: 'row', alignItems: 'center', marginTop: 14, justifyContent: 'space-between' }}&gt;&#10;                &lt;Box style={{ width: 168, height: 96, background: '#123B63', borderRadius: 8, padding: 12, justifyContent: 'center', alignItems: 'center' }}&gt;&#10;                    &lt;Text style={{ fontSize: 14.5, fontWeight: 'bold', color: '#F8FAFC', textAlign: 'center' }}&gt;① 科研合作&lt;/Text&gt;&#10;                    &lt;Text style={{ fontSize: 11.5, color: '#94A3B8', marginTop: 6, textAlign: 'center' }}&gt;电科院 · 数字电网研究院&lt;/Text&gt;&#10;                &lt;/Box&gt;&#10;                &lt;Text style={{ fontSize: 20, color: '#94A3B8' }}&gt;→&lt;/Text&gt;&#10;                &lt;Box style={{ width: 168, height: 96, background: '#123B63', borderRadius: 8, padding: 12, justifyContent: 'center', alignItems: 'center' }}&gt;&#10;                    &lt;Text style={{ fontSize: 14.5, fontWeight: 'bold', color: '#F8FAFC', textAlign: 'center' }}&gt;② 影子模式验证&lt;/Text&gt;&#10;                    &lt;Text style={{ fontSize: 11.5, color: '#94A3B8', marginTop: 6, textAlign: 'center' }}&gt;接入真实数据&lt;/Text&gt;&#10;                &lt;/Box&gt;&#10;                &lt;Text style={{ fontSize: 20, color: '#94A3B8' }}&gt;→&lt;/Text&gt;&#10;                &lt;Box style={{ width: 168, height: 96, background: '#123B63', borderRadius: 8, padding: 12, justifyContent: 'center', alignItems: 'center' }}&gt;&#10;                    &lt;Text style={{ fontSize: 14.5, fontWeight: 'bold', color: '#F8FAFC', textAlign: 'center' }}&gt;③ 局部试点&lt;/Text&gt;&#10;                    &lt;Text style={{ fontSize: 11.5, color: '#94A3B8', marginTop: 6, textAlign: 'center' }}&gt;量化收益&lt;/Text&gt;&#10;                &lt;/Box&gt;&#10;                &lt;Text style={{ fontSize: 20, color: '#94A3B8' }}&gt;→&lt;/Text&gt;&#10;                &lt;Box style={{ width: 168, height: 96, background: 'rgba(34,211,238,0.14)', border: '1.5px solid #22D3EE', borderRadius: 8, padding: 12, justifyContent: 'center', alignItems: 'center' }}&gt;&#10;                    &lt;Text style={{ fontSize: 14.5, fontWeight: 'bold', color: '#22D3EE', textAlign: 'center' }}&gt;④ 灰度发布&lt;/Text&gt;&#10;                    &lt;Text style={{ fontSize: 11.5, color: '#94A3B8', marginTop: 6, textAlign: 'center' }}&gt;量化后再放量&lt;/Text&gt;&#10;                &lt;/Box&gt;&#10;            &lt;/Box&gt;&#10;            &lt;Text style={{ fontSize: 12.5, color: '#94A3B8', marginTop: 12, lineHeight: 1.7 }}&gt;方法仍较新，不直接进入生产环境——以科技项目形式先行，量化收益后再灰度发布。&lt;/Text&gt;&#10;            &lt;Box style={{ marginTop: 12, border: '1px solid #123B63', borderRadius: 8, padding: '10px 14px' }}&gt;&#10;                &lt;Text style={{ fontSize: 12.5, color: '#CBD5E1', lineHeight: 1.7 }}&gt;100 天目标：工具补强完成 · 签署科研合作 · 影子模式接入真实数据&lt;/Text&gt;&#10;            &lt;/Box&gt;&#10;        &lt;/Box&gt;&#10;    &lt;/Box&gt;&#10;&#10;    &lt;Box style={{ flexDirection: 'row', alignItems: 'center', gap: 18, marginTop: 'auto', marginBottom: 22 }}&gt;&#10;        &lt;Box style={{ width: 6, height: 56, background: '#22D3EE' }} /&gt;&#10;        &lt;Box&gt;&#10;            &lt;Text style={{ fontSize: 25, fontWeight: 'bold', color: '#F8FAFC', lineHeight: 1.5 }}&gt;让负荷预测，从一次性项目，&lt;/Text&gt;&#10;            &lt;Text style={{ fontSize: 25, fontWeight: 'bold', color: '#F8FAFC', lineHeight: 1.5 }}&gt;变成持续自我适应的基础能力。&lt;/Text&gt;&#10;        &lt;/Box&gt;&#10;    &lt;/Box&gt;&#10;&#10;    &lt;Box style={{ flexDirection: 'row', marginTop: 10, alignItems: 'center' }}&gt;&#10;        &lt;Text style={{ fontSize: 12, color: '#64748B' }}&gt;负荷预测持续学习引擎 · 路线图&lt;/Text&gt;&#10;        &lt;Box style={{ marginLeft: 'auto', flexDirection: 'row', alignItems: 'center', gap: 8 }}&gt;&#10;            &lt;Box style={{ width: 10, height: 10, background: '#22D3EE' }} /&gt;&#10;            &lt;Text style={{ fontSize: 13, color: '#94A3B8' }}&gt;CLE · 07 / 07&lt;/Text&gt;&#10;        &lt;/Box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A1D37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09600" y="400050"/>
            <a:ext cx="1097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路线图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·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未来</a:t>
            </a:r>
            <a:r>
              <a:rPr lang="en-US" sz="1050" spc="225">
                <a:solidFill>
                  <a:srgbClr val="22D3EE"/>
                </a:solidFill>
                <a:latin typeface="Microsoft YaHei"/>
                <a:ea typeface="Microsoft YaHei"/>
              </a:rPr>
              <a:t> 100 </a:t>
            </a:r>
            <a:r>
              <a:rPr lang="zh-CN" sz="1050" spc="225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609600" y="638175"/>
            <a:ext cx="10972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F8FAFC"/>
                </a:solidFill>
                <a:latin typeface="Microsoft YaHei"/>
                <a:ea typeface="Microsoft YaHei"/>
              </a:rPr>
              <a:t>先补强工具，再以科研项目验证价值</a:t>
            </a:r>
            <a:endParaRPr/>
          </a:p>
        </p:txBody>
      </p:sp>
      <p:sp>
        <p:nvSpPr>
          <p:cNvPr id="352" name=""/>
          <p:cNvSpPr/>
          <p:nvPr/>
        </p:nvSpPr>
        <p:spPr>
          <a:xfrm rot="0" flipH="0" flipV="0">
            <a:off x="609600" y="1228725"/>
            <a:ext cx="1162050" cy="171450"/>
          </a:xfrm>
          <a:custGeom>
            <a:pathLst>
              <a:path w="122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742950" y="1228725"/>
            <a:ext cx="99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技术</a:t>
            </a:r>
            <a:r>
              <a:rPr lang="en-US" sz="1125" b="1">
                <a:solidFill>
                  <a:srgbClr val="F8FAFC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补强工具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1847850" y="1228725"/>
            <a:ext cx="150495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1943100" y="1247775"/>
            <a:ext cx="13144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产出：可比较的候选方案集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609600" y="153352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762000" y="16954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2D3EE"/>
                </a:solidFill>
                <a:latin typeface="Space Grotesk"/>
                <a:ea typeface="Space Grotesk"/>
              </a:rPr>
              <a:t>1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09650" y="164782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补足当前有限的</a:t>
            </a:r>
            <a:r>
              <a:rPr lang="en-US" sz="1050">
                <a:solidFill>
                  <a:srgbClr val="F8FAFC"/>
                </a:solidFill>
                <a:latin typeface="Microsoft YaHei"/>
                <a:ea typeface="Microsoft YaHei"/>
              </a:rPr>
              <a:t> EDM </a:t>
            </a: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方法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09650" y="1838325"/>
            <a:ext cx="2733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漂移检测更敏感，减少漏判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76675" y="1743075"/>
            <a:ext cx="390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22D3EE"/>
                </a:solidFill>
                <a:latin typeface="Microsoft YaHei"/>
                <a:ea typeface="Microsoft YaHei"/>
              </a:rPr>
              <a:t>0–30 </a:t>
            </a:r>
            <a:r>
              <a:rPr lang="zh-CN" sz="863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09600" y="220027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762000" y="236220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2D3EE"/>
                </a:solidFill>
                <a:latin typeface="Space Grotesk"/>
                <a:ea typeface="Space Grotesk"/>
              </a:rPr>
              <a:t>2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009650" y="2314575"/>
            <a:ext cx="2676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自然语言调用更多数据分析与训练工具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009650" y="2505075"/>
            <a:ext cx="267652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工具覆盖训练全流程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3819525" y="2409825"/>
            <a:ext cx="447675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22D3EE"/>
                </a:solidFill>
                <a:latin typeface="Microsoft YaHei"/>
                <a:ea typeface="Microsoft YaHei"/>
              </a:rPr>
              <a:t>30–60 </a:t>
            </a:r>
            <a:r>
              <a:rPr lang="zh-CN" sz="863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66" name=""/>
          <p:cNvSpPr/>
          <p:nvPr/>
        </p:nvSpPr>
        <p:spPr>
          <a:xfrm rot="0" flipH="0" flipV="0">
            <a:off x="609600" y="2867025"/>
            <a:ext cx="3810000" cy="552450"/>
          </a:xfrm>
          <a:prstGeom prst="roundRect">
            <a:avLst>
              <a:gd name="adj" fmla="val 1379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62000" y="3028950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22D3EE"/>
                </a:solidFill>
                <a:latin typeface="Space Grotesk"/>
                <a:ea typeface="Space Grotesk"/>
              </a:rPr>
              <a:t>3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09650" y="2981325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8FAFC"/>
                </a:solidFill>
                <a:latin typeface="Microsoft YaHei"/>
                <a:ea typeface="Microsoft YaHei"/>
              </a:rPr>
              <a:t>统一时序验证口径下比较候选方案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009650" y="3171825"/>
            <a:ext cx="26098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模型能力可横向对比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3752850" y="3076575"/>
            <a:ext cx="51435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63">
                <a:solidFill>
                  <a:srgbClr val="22D3EE"/>
                </a:solidFill>
                <a:latin typeface="Microsoft YaHei"/>
                <a:ea typeface="Microsoft YaHei"/>
              </a:rPr>
              <a:t>60–100 </a:t>
            </a:r>
            <a:r>
              <a:rPr lang="zh-CN" sz="863">
                <a:solidFill>
                  <a:srgbClr val="22D3EE"/>
                </a:solidFill>
                <a:latin typeface="Microsoft YaHei"/>
                <a:ea typeface="Microsoft YaHei"/>
              </a:rPr>
              <a:t>天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09600" y="3533775"/>
            <a:ext cx="38100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模型能力从单一模型，扩展为可比较的候选方案集。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4686300" y="1228725"/>
            <a:ext cx="1162050" cy="171450"/>
          </a:xfrm>
          <a:custGeom>
            <a:pathLst>
              <a:path w="122" h="18">
                <a:moveTo>
                  <a:pt x="0" y="0"/>
                </a:moveTo>
                <a:lnTo>
                  <a:pt x="4" y="0"/>
                </a:lnTo>
                <a:lnTo>
                  <a:pt x="4" y="18"/>
                </a:lnTo>
                <a:lnTo>
                  <a:pt x="0" y="18"/>
                </a:lnTo>
                <a:close/>
              </a:path>
            </a:pathLst>
          </a:custGeom>
          <a:solidFill>
            <a:srgbClr val="94A3B8"/>
          </a:solidFill>
          <a:ln/>
        </p:spPr>
        <p:txBody>
          <a:bodyPr/>
          <a:p/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4819650" y="1228725"/>
            <a:ext cx="99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商业</a:t>
            </a:r>
            <a:r>
              <a:rPr lang="en-US" sz="1125" b="1">
                <a:solidFill>
                  <a:srgbClr val="F8FAFC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F8FAFC"/>
                </a:solidFill>
                <a:latin typeface="Microsoft YaHei"/>
                <a:ea typeface="Microsoft YaHei"/>
              </a:rPr>
              <a:t>科研验证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5924550" y="1228725"/>
            <a:ext cx="1066800" cy="171450"/>
          </a:xfrm>
          <a:prstGeom prst="roundRect">
            <a:avLst>
              <a:gd name="adj" fmla="val 5550000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019800" y="1247775"/>
            <a:ext cx="8763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量化收益后再灰度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468630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5124450" y="1809750"/>
            <a:ext cx="7334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①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科研合作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4886325" y="2038350"/>
            <a:ext cx="120015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电科院</a:t>
            </a:r>
            <a:r>
              <a:rPr lang="en-US" sz="863">
                <a:solidFill>
                  <a:srgbClr val="94A3B8"/>
                </a:solidFill>
                <a:latin typeface="Microsoft YaHei"/>
                <a:ea typeface="Microsoft YaHei"/>
              </a:rPr>
              <a:t> · </a:t>
            </a: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数字电网研究院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267450" y="1876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645795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753225" y="1809750"/>
            <a:ext cx="10096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②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影子模式验证</a:t>
            </a:r>
            <a:endParaRPr/>
          </a:p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6934200" y="2038350"/>
            <a:ext cx="6572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接入真实数据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8039100" y="1876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822960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123B63"/>
          </a:solidFill>
          <a:ln/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8667750" y="1809750"/>
            <a:ext cx="7334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F8FAFC"/>
                </a:solidFill>
                <a:latin typeface="Microsoft YaHei"/>
                <a:ea typeface="Microsoft YaHei"/>
              </a:rPr>
              <a:t>③ </a:t>
            </a:r>
            <a:r>
              <a:rPr lang="zh-CN" sz="1088" b="1">
                <a:solidFill>
                  <a:srgbClr val="F8FAFC"/>
                </a:solidFill>
                <a:latin typeface="Microsoft YaHei"/>
                <a:ea typeface="Microsoft YaHei"/>
              </a:rPr>
              <a:t>局部试点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8810625" y="2038350"/>
            <a:ext cx="438150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量化收益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9810750" y="1876425"/>
            <a:ext cx="19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500">
                <a:solidFill>
                  <a:srgbClr val="94A3B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388" name=""/>
          <p:cNvSpPr/>
          <p:nvPr/>
        </p:nvSpPr>
        <p:spPr>
          <a:xfrm rot="0" flipH="0" flipV="0">
            <a:off x="10001250" y="1533525"/>
            <a:ext cx="1600200" cy="914400"/>
          </a:xfrm>
          <a:prstGeom prst="roundRect">
            <a:avLst>
              <a:gd name="adj" fmla="val 8333"/>
            </a:avLst>
          </a:prstGeom>
          <a:solidFill>
            <a:srgbClr val="22D3EE">
              <a:alpha val="14000"/>
            </a:srgbClr>
          </a:solidFill>
          <a:ln w="1905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439400" y="1809750"/>
            <a:ext cx="7334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88" b="1">
                <a:solidFill>
                  <a:srgbClr val="22D3EE"/>
                </a:solidFill>
                <a:latin typeface="Microsoft YaHei"/>
                <a:ea typeface="Microsoft YaHei"/>
              </a:rPr>
              <a:t>④ </a:t>
            </a:r>
            <a:r>
              <a:rPr lang="zh-CN" sz="1088" b="1">
                <a:solidFill>
                  <a:srgbClr val="22D3EE"/>
                </a:solidFill>
                <a:latin typeface="Microsoft YaHei"/>
                <a:ea typeface="Microsoft YaHei"/>
              </a:rPr>
              <a:t>灰度发布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10477500" y="2038350"/>
            <a:ext cx="657225" cy="1333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863">
                <a:solidFill>
                  <a:srgbClr val="94A3B8"/>
                </a:solidFill>
                <a:latin typeface="Microsoft YaHei"/>
                <a:ea typeface="Microsoft YaHei"/>
              </a:rPr>
              <a:t>量化后再放量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686300" y="2562225"/>
            <a:ext cx="68961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38">
                <a:solidFill>
                  <a:srgbClr val="94A3B8"/>
                </a:solidFill>
                <a:latin typeface="Microsoft YaHei"/>
                <a:ea typeface="Microsoft YaHei"/>
              </a:rPr>
              <a:t>方法仍较新，不直接进入生产环境——以科技项目形式先行，量化收益后再灰度发布。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4686300" y="2924175"/>
            <a:ext cx="6896100" cy="438150"/>
          </a:xfrm>
          <a:prstGeom prst="roundRect">
            <a:avLst>
              <a:gd name="adj" fmla="val 17391"/>
            </a:avLst>
          </a:prstGeom>
          <a:ln w="12700">
            <a:solidFill>
              <a:srgbClr val="123B63"/>
            </a:solidFill>
            <a:prstDash val="solid"/>
          </a:ln>
        </p:spPr>
        <p:txBody>
          <a:bodyPr/>
          <a:p/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4819650" y="3019425"/>
            <a:ext cx="6629400" cy="247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38">
                <a:solidFill>
                  <a:srgbClr val="CBD5E1"/>
                </a:solidFill>
                <a:latin typeface="Microsoft YaHei"/>
                <a:ea typeface="Microsoft YaHei"/>
              </a:rPr>
              <a:t>100 </a:t>
            </a:r>
            <a:r>
              <a:rPr lang="zh-CN" sz="938">
                <a:solidFill>
                  <a:srgbClr val="CBD5E1"/>
                </a:solidFill>
                <a:latin typeface="Microsoft YaHei"/>
                <a:ea typeface="Microsoft YaHei"/>
              </a:rPr>
              <a:t>天目标：工具补强完成</a:t>
            </a:r>
            <a:r>
              <a:rPr lang="en-US" sz="938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CBD5E1"/>
                </a:solidFill>
                <a:latin typeface="Microsoft YaHei"/>
                <a:ea typeface="Microsoft YaHei"/>
              </a:rPr>
              <a:t>签署科研合作</a:t>
            </a:r>
            <a:r>
              <a:rPr lang="en-US" sz="938">
                <a:solidFill>
                  <a:srgbClr val="CBD5E1"/>
                </a:solidFill>
                <a:latin typeface="Microsoft YaHei"/>
                <a:ea typeface="Microsoft YaHei"/>
              </a:rPr>
              <a:t> · </a:t>
            </a:r>
            <a:r>
              <a:rPr lang="zh-CN" sz="938">
                <a:solidFill>
                  <a:srgbClr val="CBD5E1"/>
                </a:solidFill>
                <a:latin typeface="Microsoft YaHei"/>
                <a:ea typeface="Microsoft YaHei"/>
              </a:rPr>
              <a:t>影子模式接入真实数据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609600" y="5553075"/>
            <a:ext cx="57150" cy="53340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38200" y="5391150"/>
            <a:ext cx="333375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 b="1">
                <a:solidFill>
                  <a:srgbClr val="F8FAFC"/>
                </a:solidFill>
                <a:latin typeface="Microsoft YaHei"/>
                <a:ea typeface="Microsoft YaHei"/>
              </a:rPr>
              <a:t>让负荷预测，从一次性项目，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838200" y="5819775"/>
            <a:ext cx="3333750" cy="4286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75" b="1">
                <a:solidFill>
                  <a:srgbClr val="F8FAFC"/>
                </a:solidFill>
                <a:latin typeface="Microsoft YaHei"/>
                <a:ea typeface="Microsoft YaHei"/>
              </a:rPr>
              <a:t>变成持续自我适应的基础能力。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609600" y="6562725"/>
            <a:ext cx="1590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负荷预测持续学习引擎</a:t>
            </a:r>
            <a:r>
              <a:rPr lang="en-US" sz="900">
                <a:solidFill>
                  <a:srgbClr val="64748B"/>
                </a:solidFill>
                <a:latin typeface="Microsoft YaHei"/>
                <a:ea typeface="Microsoft YaHei"/>
              </a:rPr>
              <a:t> · </a:t>
            </a:r>
            <a:r>
              <a:rPr lang="zh-CN" sz="900">
                <a:solidFill>
                  <a:srgbClr val="64748B"/>
                </a:solidFill>
                <a:latin typeface="Microsoft YaHei"/>
                <a:ea typeface="Microsoft YaHei"/>
              </a:rPr>
              <a:t>路线图</a:t>
            </a:r>
            <a:endParaRPr/>
          </a:p>
        </p:txBody>
      </p:sp>
      <p:sp>
        <p:nvSpPr>
          <p:cNvPr id="398" name=""/>
          <p:cNvSpPr/>
          <p:nvPr/>
        </p:nvSpPr>
        <p:spPr>
          <a:xfrm rot="0" flipH="0" flipV="0">
            <a:off x="10677525" y="6581775"/>
            <a:ext cx="95250" cy="9525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10848975" y="6553200"/>
            <a:ext cx="733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94A3B8"/>
                </a:solidFill>
                <a:latin typeface="Microsoft YaHei"/>
                <a:ea typeface="Microsoft YaHei"/>
              </a:rPr>
              <a:t>CLE · 07 / 07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2026-08-29T22:53:37Z</dcterms:created>
  <dcterms:modified xsi:type="dcterms:W3CDTF">2026-08-29T22:53:37Z</dcterms:modified>
</cp:coreProperties>
</file>