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theme/theme1.xml" ContentType="application/vnd.openxmlformats-officedocument.them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8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presProps" Target="presProps.xml" /><Relationship Id="rId8" Type="http://schemas.openxmlformats.org/officeDocument/2006/relationships/notesMaster" Target="notesMasters/notesMaster1.xml" /><Relationship Id="rId6" Type="http://schemas.openxmlformats.org/officeDocument/2006/relationships/slide" Target="slides/slide6.xml" /><Relationship Id="rId1" Type="http://schemas.openxmlformats.org/officeDocument/2006/relationships/slide" Target="slides/slide1.xml" /><Relationship Id="rId5" Type="http://schemas.openxmlformats.org/officeDocument/2006/relationships/slide" Target="slides/slide5.xml" /><Relationship Id="rId11" Type="http://schemas.openxmlformats.org/officeDocument/2006/relationships/viewProps" Target="viewProps.xml" /><Relationship Id="rId4" Type="http://schemas.openxmlformats.org/officeDocument/2006/relationships/slide" Target="slides/slide4.xml" /><Relationship Id="rId3" Type="http://schemas.openxmlformats.org/officeDocument/2006/relationships/slide" Target="slides/slide3.xml" /><Relationship Id="rId7" Type="http://schemas.openxmlformats.org/officeDocument/2006/relationships/slide" Target="slides/slide7.xml" /><Relationship Id="rId2" Type="http://schemas.openxmlformats.org/officeDocument/2006/relationships/slide" Target="slides/slide2.xml" /><Relationship Id="rId10" Type="http://schemas.openxmlformats.org/officeDocument/2006/relationships/tableStyles" Target="tableStyles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chart" Target="charts/chart2.xml" /><Relationship Id="rId2" Type="http://schemas.openxmlformats.org/officeDocument/2006/relationships/slideLayout" Target="../slideLayouts/slideLayout1.xml" /><Relationship Id="rId0" Type="http://schemas.openxmlformats.org/officeDocument/2006/relationships/chart" Target="charts/char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p>
            <a:pPr>
              <a:defRPr sz="1350">
                <a:solidFill>
                  <a:srgbClr val="E9F0FB"/>
                </a:solidFill>
              </a:defRPr>
            </a:pPr>
            <a:r>
              <a:rPr sz="1350">
                <a:solidFill>
                  <a:srgbClr val="E9F0FB"/>
                </a:solidFill>
              </a:rPr>
              <a:t>WAPE（%）</a:t>
            </a:r>
          </a:p>
        </c:rich>
      </c:tx>
      <c:overlay val="0"/>
      <c:spPr>
        <a:noFill/>
        <a:ln>
          <a:noFill/>
        </a:ln>
        <a:effectLst/>
      </c:spPr>
      <c:txPr>
        <a:bodyPr/>
        <a:p>
          <a:pPr>
            <a:defRPr sz="1350">
              <a:solidFill>
                <a:srgbClr val="E9F0FB"/>
              </a:solidFill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静态模型</c:v>
                </c:pt>
              </c:strCache>
            </c:strRef>
          </c:tx>
          <c:spPr>
            <a:solidFill>
              <a:srgbClr val="C2620A"/>
            </a:solidFill>
          </c:spPr>
          <c:dLbls>
            <c:txPr>
              <a:bodyPr/>
              <a:p>
                <a:pPr>
                  <a:defRPr sz="750">
                    <a:solidFill>
                      <a:srgbClr val="E9F0FB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1"/>
                <c:pt idx="0">
                  <c:v>整体</c:v>
                </c:pt>
              </c:strCache>
            </c:strRef>
          </c:cat>
          <c:val>
            <c:numRef>
              <c:numCache>
                <c:formatCode>General</c:formatCode>
                <c:ptCount val="1"/>
                <c:pt idx="0">
                  <c:v>3.8876</c:v>
                </c:pt>
              </c:numCache>
            </c:numRef>
          </c:val>
        </c:ser>
        <c:ser>
          <c:idx val="1"/>
          <c:order val="1"/>
          <c:tx>
            <c:strRef>
              <c:f>sheet</c:f>
              <c:strCache>
                <c:ptCount val="1"/>
                <c:pt idx="0">
                  <c:v>持续学习</c:v>
                </c:pt>
              </c:strCache>
            </c:strRef>
          </c:tx>
          <c:spPr>
            <a:solidFill>
              <a:srgbClr val="0891B2"/>
            </a:solidFill>
          </c:spPr>
          <c:dLbls>
            <c:txPr>
              <a:bodyPr/>
              <a:p>
                <a:pPr>
                  <a:defRPr sz="750">
                    <a:solidFill>
                      <a:srgbClr val="E9F0FB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1"/>
                <c:pt idx="0">
                  <c:v>整体</c:v>
                </c:pt>
              </c:strCache>
            </c:strRef>
          </c:cat>
          <c:val>
            <c:numRef>
              <c:numCache>
                <c:formatCode>General</c:formatCode>
                <c:ptCount val="1"/>
                <c:pt idx="0">
                  <c:v>3.67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E9F0FB">
                    <a:alpha val="50000"/>
                  </a:srgbClr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E9F0FB">
                    <a:alpha val="50000"/>
                  </a:srgbClr>
                </a:solidFill>
              </a:defRPr>
            </a:pPr>
          </a:p>
        </c:txPr>
        <c:crossAx val="89736801"/>
        <c:crossBetween val="between"/>
      </c:valAx>
      <c:spPr>
        <a:solidFill>
          <a:srgbClr val="0B1730"/>
        </a:solidFill>
        <a:ln>
          <a:noFill/>
        </a:ln>
        <a:effectLst/>
      </c:spPr>
    </c:plotArea>
    <c:dispBlanksAs val="gap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p>
            <a:pPr>
              <a:defRPr sz="1350">
                <a:solidFill>
                  <a:srgbClr val="E9F0FB"/>
                </a:solidFill>
              </a:defRPr>
            </a:pPr>
            <a:r>
              <a:rPr sz="1350">
                <a:solidFill>
                  <a:srgbClr val="E9F0FB"/>
                </a:solidFill>
              </a:rPr>
              <a:t>MAE（MW）</a:t>
            </a:r>
          </a:p>
        </c:rich>
      </c:tx>
      <c:overlay val="0"/>
      <c:spPr>
        <a:noFill/>
        <a:ln>
          <a:noFill/>
        </a:ln>
        <a:effectLst/>
      </c:spPr>
      <c:txPr>
        <a:bodyPr/>
        <a:p>
          <a:pPr>
            <a:defRPr sz="1350">
              <a:solidFill>
                <a:srgbClr val="E9F0FB"/>
              </a:solidFill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静态模型</c:v>
                </c:pt>
              </c:strCache>
            </c:strRef>
          </c:tx>
          <c:spPr>
            <a:solidFill>
              <a:srgbClr val="C2620A"/>
            </a:solidFill>
          </c:spPr>
          <c:dLbls>
            <c:txPr>
              <a:bodyPr/>
              <a:p>
                <a:pPr>
                  <a:defRPr sz="750">
                    <a:solidFill>
                      <a:srgbClr val="E9F0FB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1"/>
                <c:pt idx="0">
                  <c:v>整体</c:v>
                </c:pt>
              </c:strCache>
            </c:strRef>
          </c:cat>
          <c:val>
            <c:numRef>
              <c:numCache>
                <c:formatCode>General</c:formatCode>
                <c:ptCount val="1"/>
                <c:pt idx="0">
                  <c:v>363.33</c:v>
                </c:pt>
              </c:numCache>
            </c:numRef>
          </c:val>
        </c:ser>
        <c:ser>
          <c:idx val="1"/>
          <c:order val="1"/>
          <c:tx>
            <c:strRef>
              <c:f>sheet</c:f>
              <c:strCache>
                <c:ptCount val="1"/>
                <c:pt idx="0">
                  <c:v>持续学习</c:v>
                </c:pt>
              </c:strCache>
            </c:strRef>
          </c:tx>
          <c:spPr>
            <a:solidFill>
              <a:srgbClr val="0891B2"/>
            </a:solidFill>
          </c:spPr>
          <c:dLbls>
            <c:txPr>
              <a:bodyPr/>
              <a:p>
                <a:pPr>
                  <a:defRPr sz="750">
                    <a:solidFill>
                      <a:srgbClr val="E9F0FB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1"/>
                <c:pt idx="0">
                  <c:v>整体</c:v>
                </c:pt>
              </c:strCache>
            </c:strRef>
          </c:cat>
          <c:val>
            <c:numRef>
              <c:numCache>
                <c:formatCode>General</c:formatCode>
                <c:ptCount val="1"/>
                <c:pt idx="0">
                  <c:v>342.99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E9F0FB">
                    <a:alpha val="50000"/>
                  </a:srgbClr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E9F0FB">
                    <a:alpha val="50000"/>
                  </a:srgbClr>
                </a:solidFill>
              </a:defRPr>
            </a:pPr>
          </a:p>
        </c:txPr>
        <c:crossAx val="89736801"/>
        <c:crossBetween val="between"/>
      </c:valAx>
      <c:spPr>
        <a:solidFill>
          <a:srgbClr val="0B1730"/>
        </a:solidFill>
        <a:ln>
          <a:noFill/>
        </a:ln>
        <a:effectLst/>
      </c:spPr>
    </c:plotArea>
    <c:dispBlanksAs val="gap"/>
  </c:chart>
</c:chartSpace>
</file>

<file path=ppt/slides/slide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" name="" descr="&lt;Slide style={{ width: '1280px', height: '720px', background: '#0B1730', position: 'relative', fontFamily: &quot;'PingFang SC','Noto Sans SC',sans-serif&quot;, padding: 0 }}&gt;&#10;&#10;  &lt;svg width={1280} height={720} viewBox=&quot;0 0 1280 720&quot; style={{ position: 'absolute', top: 0, left: 0 }}&gt;&#10;    {/* 夜航微光网格 */}&#10;    &lt;g stroke=&quot;rgba(233,240,251,0.05)&quot; strokeWidth=&quot;1&quot;&gt;&#10;      &lt;line x1=&quot;60&quot; y1=&quot;80&quot; x2=&quot;1220&quot; y2=&quot;80&quot; /&gt;&#10;      &lt;line x1=&quot;60&quot; y1=&quot;170&quot; x2=&quot;1220&quot; y2=&quot;170&quot; /&gt;&#10;      &lt;line x1=&quot;60&quot; y1=&quot;350&quot; x2=&quot;1220&quot; y2=&quot;350&quot; /&gt;&#10;      &lt;line x1=&quot;60&quot; y1=&quot;440&quot; x2=&quot;1220&quot; y2=&quot;440&quot; /&gt;&#10;      &lt;line x1=&quot;60&quot; y1=&quot;530&quot; x2=&quot;1220&quot; y2=&quot;530&quot; /&gt;&#10;      &lt;line x1=&quot;236&quot; y1=&quot;60&quot; x2=&quot;236&quot; y2=&quot;545&quot; /&gt;&#10;      &lt;line x1=&quot;412&quot; y1=&quot;60&quot; x2=&quot;412&quot; y2=&quot;545&quot; /&gt;&#10;      &lt;line x1=&quot;588&quot; y1=&quot;60&quot; x2=&quot;588&quot; y2=&quot;545&quot; /&gt;&#10;      &lt;line x1=&quot;764&quot; y1=&quot;60&quot; x2=&quot;764&quot; y2=&quot;545&quot; /&gt;&#10;      &lt;line x1=&quot;940&quot; y1=&quot;60&quot; x2=&quot;940&quot; y2=&quot;545&quot; /&gt;&#10;      &lt;line x1=&quot;1116&quot; y1=&quot;60&quot; x2=&quot;1116&quot; y2=&quot;545&quot; /&gt;&#10;    &lt;/g&gt;&#10;    {/* 星点 */}&#10;    &lt;g fill=&quot;rgba(233,240,251,0.14)&quot;&gt;&#10;      &lt;circle cx=&quot;180&quot; cy=&quot;70&quot; r=&quot;1.6&quot; /&gt;&#10;      &lt;circle cx=&quot;520&quot; cy=&quot;55&quot; r=&quot;1.3&quot; /&gt;&#10;      &lt;circle cx=&quot;700&quot; cy=&quot;95&quot; r=&quot;1.8&quot; /&gt;&#10;      &lt;circle cx=&quot;1180&quot; cy=&quot;60&quot; r=&quot;1.4&quot; /&gt;&#10;      &lt;circle cx=&quot;90&quot; cy=&quot;120&quot; r=&quot;1.4&quot; /&gt;&#10;    &lt;/g&gt;&#10;    {/* 实际负荷下方淡填充 */}&#10;    &lt;path d=&quot;M 60 470 C 120 500, 160 510, 220 505 C 300 498, 340 440, 420 400 C 500 360, 560 350, 640 330 C 700 315, 760 300, 820 268 C 850 252, 870 246, 880 244 C 900 248, 940 300, 1000 380 C 1060 450, 1120 480, 1220 500 L 1220 560 L 60 560 Z&quot; fill=&quot;rgba(8,145,178,0.07)&quot; /&gt;&#10;    {/* 变压器重过载阈值 */}&#10;    &lt;line x1=&quot;60&quot; y1=&quot;300&quot; x2=&quot;1220&quot; y2=&quot;300&quot; stroke=&quot;rgba(233,240,251,0.35)&quot; strokeWidth=&quot;1.5&quot; strokeDasharray=&quot;10 6&quot; /&gt;&#10;    &lt;text x=&quot;66&quot; y=&quot;292&quot; fontSize=&quot;14&quot; fill=&quot;rgba(233,240,251,0.55)&quot; fontFamily=&quot;'PingFang SC',sans-serif&quot;&gt;变压器重过载阈值&lt;/text&gt;&#10;    {/* 预测低估的实际峰值区域 */}&#10;    &lt;path d=&quot;M 700 342 C 760 327, 820 295, 880 255 C 900 259, 940 311, 1000 391 L 1000 396 C 940 341, 900 305, 880 301 C 820 323, 760 331, 700 341 Z&quot; fill=&quot;rgba(194,98,10,0.18)&quot; /&gt;&#10;    {/* 预测负荷（琥珀虚线，峰值被低估） */}&#10;    &lt;path d=&quot;M 60 470 C 120 500, 160 510, 220 505 C 300 498, 340 442, 420 402 C 500 364, 560 354, 640 340 C 700 330, 760 322, 820 310 C 850 306, 870 302, 880 300 C 900 304, 940 340, 1000 395 C 1060 455, 1120 482, 1220 500&quot; fill=&quot;none&quot; stroke=&quot;#C2620A&quot; strokeWidth=&quot;2.5&quot; strokeDasharray=&quot;12 8&quot; /&gt;&#10;    {/* 实际负荷（青实线，冲过阈值） */}&#10;    &lt;path d=&quot;M 60 470 C 120 500, 160 510, 220 505 C 300 498, 340 440, 420 400 C 500 360, 560 350, 640 330 C 700 315, 760 300, 820 268 C 850 252, 870 246, 880 244 C 900 248, 940 300, 1000 380 C 1060 450, 1120 480, 1220 500&quot; fill=&quot;none&quot; stroke=&quot;#0891B2&quot; strokeWidth=&quot;3&quot; /&gt;&#10;    {/* 曲线标签 */}&#10;    &lt;text x=&quot;1010&quot; y=&quot;360&quot; fontSize=&quot;16&quot; fontWeight=&quot;bold&quot; fill=&quot;#0891B2&quot; fontFamily=&quot;'PingFang SC',sans-serif&quot;&gt;实际负荷&lt;/text&gt;&#10;    &lt;text x=&quot;1010&quot; y=&quot;432&quot; fontSize=&quot;16&quot; fontWeight=&quot;bold&quot; fill=&quot;#C2620A&quot; fontFamily=&quot;'PingFang SC',sans-serif&quot;&gt;预测负荷&lt;/text&gt;&#10;    {/* 峰值标记 */}&#10;    &lt;circle cx=&quot;880&quot; cy=&quot;244&quot; r=&quot;12&quot; fill=&quot;rgba(194,98,10,0.25)&quot; /&gt;&#10;    &lt;path d=&quot;M 880 226 L 891 244 L 869 244 Z&quot; fill=&quot;#C2620A&quot; /&gt;&#10;    &lt;text x=&quot;898&quot; y=&quot;238&quot; fontSize=&quot;15&quot; fontWeight=&quot;bold&quot; fill=&quot;#E9F0FB&quot; fontFamily=&quot;'PingFang SC',sans-serif&quot;&gt;未预见的实际峰值&lt;/text&gt;&#10;    {/* 风险链连接线 */}&#10;    &lt;path d=&quot;M 950 148 L 890 220&quot; stroke=&quot;rgba(194,98,10,0.5)&quot; strokeWidth=&quot;1.5&quot; strokeDasharray=&quot;4 4&quot; fill=&quot;none&quot; /&gt;&#10;    {/* 风险链三节 */}&#10;    &lt;text x=&quot;690&quot; y=&quot;90&quot; fontSize=&quot;13&quot; fill=&quot;rgba(233,240,251,0.55)&quot; letterSpacing=&quot;3&quot; fontFamily=&quot;'PingFang SC',sans-serif&quot;&gt;风 险 链&lt;/text&gt;&#10;    &lt;g fontFamily=&quot;'PingFang SC',sans-serif&quot;&gt;&#10;      &lt;rect x=&quot;690&quot; y=&quot;102&quot; width=&quot;150&quot; height=&quot;46&quot; rx=&quot;8&quot; fill=&quot;rgba(194,98,10,0.10)&quot; stroke=&quot;rgba(194,98,10,0.55)&quot; strokeWidth=&quot;1&quot; /&gt;&#10;      &lt;text x=&quot;765&quot; y=&quot;131&quot; fontSize=&quot;16&quot; fill=&quot;#E9F0FB&quot; textAnchor=&quot;middle&quot;&gt;未预见峰值&lt;/text&gt;&#10;      &lt;path d=&quot;M 848 125 L 866 125 L 860 120 L 866 125 L 860 130 Z&quot; fill=&quot;rgba(194,98,10,0.8)&quot; /&gt;&#10;      &lt;rect x=&quot;872&quot; y=&quot;102&quot; width=&quot;150&quot; height=&quot;46&quot; rx=&quot;8&quot; fill=&quot;rgba(194,98,10,0.16)&quot; stroke=&quot;rgba(194,98,10,0.65)&quot; strokeWidth=&quot;1&quot; /&gt;&#10;      &lt;text x=&quot;947&quot; y=&quot;131&quot; fontSize=&quot;16&quot; fill=&quot;#E9F0FB&quot; textAnchor=&quot;middle&quot;&gt;持续重过载&lt;/text&gt;&#10;      &lt;path d=&quot;M 1030 125 L 1048 125 L 1042 120 L 1048 125 L 1042 130 Z&quot; fill=&quot;rgba(194,98,10,0.8)&quot; /&gt;&#10;      &lt;rect x=&quot;1054&quot; y=&quot;102&quot; width=&quot;140&quot; height=&quot;46&quot; rx=&quot;8&quot; fill=&quot;rgba(194,98,10,0.30)&quot; stroke=&quot;#C2620A&quot; strokeWidth=&quot;1.5&quot; /&gt;&#10;      &lt;text x=&quot;1124&quot; y=&quot;131&quot; fontSize=&quot;16&quot; fontWeight=&quot;bold&quot; fill=&quot;#E9F0FB&quot; textAnchor=&quot;middle&quot;&gt;设备损坏&lt;/text&gt;&#10;    &lt;/g&gt;&#10;  &lt;/svg&gt;&#10;&#10;  {/* 骑线主标题区 */}&#10;  &lt;Box style={{ position: 'absolute', left: 60, top: 540, width: 820 }}&gt;&#10;    &lt;Text style={{ fontSize: 64, fontWeight: 'bold', color: '#E9F0FB', lineHeight: 1.15, letterSpacing: 6 }}&gt;烛龙 ZHULONG&lt;/Text&gt;&#10;    &lt;Box style={{ width: 56, height: 4, background: '#0891B2', marginTop: 12, borderRadius: 2 }} /&gt;&#10;    &lt;Text style={{ fontSize: 22, color: 'rgba(233,240,251,0.80)', marginTop: 14 }}&gt;面向电力负荷预测持续学习的智能引擎&lt;/Text&gt;&#10;    &lt;Text style={{ fontSize: 17, color: 'rgba(233,240,251,0.60)', marginTop: 8 }}&gt;让 Agent 指导小模型持续学习&lt;/Text&gt;&#10;  &lt;/Box&gt;&#10;&#10;  {/* 落款 */}&#10;  &lt;Text style={{ position: 'absolute', right: 60, bottom: 26, fontSize: 12, color: 'rgba(233,240,251,0.40)' }}&gt;贵州黑客松 · 赛道二 · 2026.08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730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571500" y="5143500"/>
            <a:ext cx="78105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 spc="450">
                <a:solidFill>
                  <a:srgbClr val="E9F0FB"/>
                </a:solidFill>
                <a:latin typeface="PingFang SC"/>
                <a:ea typeface="PingFang SC"/>
              </a:rPr>
              <a:t>烛龙</a:t>
            </a:r>
            <a:r>
              <a:rPr lang="en-US" sz="4800" b="1" spc="450">
                <a:solidFill>
                  <a:srgbClr val="E9F0FB"/>
                </a:solidFill>
                <a:latin typeface="PingFang SC"/>
                <a:ea typeface="PingFang SC"/>
              </a:rPr>
              <a:t> ZHULONG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571500" y="6105525"/>
            <a:ext cx="533400" cy="381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571500" y="6276975"/>
            <a:ext cx="7810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9F0FB">
                    <a:alpha val="80000"/>
                  </a:srgbClr>
                </a:solidFill>
                <a:latin typeface="PingFang SC"/>
                <a:ea typeface="PingFang SC"/>
              </a:rPr>
              <a:t>面向电力负荷预测持续学习的智能引擎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571500" y="6610350"/>
            <a:ext cx="781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9F0FB">
                    <a:alpha val="60000"/>
                  </a:srgbClr>
                </a:solidFill>
                <a:latin typeface="PingFang SC"/>
                <a:ea typeface="PingFang SC"/>
              </a:rPr>
              <a:t>让</a:t>
            </a:r>
            <a:r>
              <a:rPr lang="en-US" sz="1275">
                <a:solidFill>
                  <a:srgbClr val="E9F0FB">
                    <a:alpha val="60000"/>
                  </a:srgbClr>
                </a:solidFill>
                <a:latin typeface="PingFang SC"/>
                <a:ea typeface="PingFang SC"/>
              </a:rPr>
              <a:t> Agent </a:t>
            </a:r>
            <a:r>
              <a:rPr lang="zh-CN" sz="1275">
                <a:solidFill>
                  <a:srgbClr val="E9F0FB">
                    <a:alpha val="60000"/>
                  </a:srgbClr>
                </a:solidFill>
                <a:latin typeface="PingFang SC"/>
                <a:ea typeface="PingFang SC"/>
              </a:rPr>
              <a:t>指导小模型持续学习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9991725" y="6467475"/>
            <a:ext cx="1628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贵州黑客松</a:t>
            </a:r>
            <a:r>
              <a:rPr lang="en-US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 · </a:t>
            </a:r>
            <a:r>
              <a:rPr lang="zh-CN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赛道二</a:t>
            </a:r>
            <a:r>
              <a:rPr lang="en-US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 · 2026.08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" name="" descr="&lt;Slide style={{ width: '1280px', height: '720px', background: '#0B1730', padding: '20px 60px 16px 60px', fontFamily: &quot;'PingFang SC','Noto Sans SC',sans-serif&quot;, display: 'flex', flexDirection: 'column' }}&gt;&#10;&#10;  {/* A · 标题块 */}&#10;  &lt;Box style={{ height: 92, marginBottom: 12, flexShrink: 0 }}&gt;&#10;    &lt;Text style={{ fontSize: 34, fontWeight: 'bold', color: '#E9F0FB', lineHeight: 1.3 }}&gt;预测不准时，王工只能用经验预测补救&lt;/Text&gt;&#10;    &lt;Box style={{ width: 44, height: 3, background: '#0891B2', marginTop: 6, marginBottom: 8, borderRadius: 2 }} /&gt;&#10;    &lt;Text style={{ fontSize: 16, color: 'rgba(233,240,251,0.62)' }}&gt;省电网公司生技部专责王工的一天——旅游旺季与返乡潮的峰值研判&lt;/Text&gt;&#10;  &lt;/Box&gt;&#10;&#10;  {/* B · 内容区 */}&#10;  &lt;Box style={{ height: 540, marginBottom: 10, flexShrink: 0, flexDirection: 'row', gap: 24 }}&gt;&#10;&#10;    {/* 左栏 · 人物与痛点叙事 */}&#10;    &lt;Box style={{ width: 360, flexDirection: 'column', background: 'rgba(233,240,251,0.05)', border: '1px solid rgba(233,240,251,0.14)', borderRadius: 12, padding: 20 }}&gt;&#10;      &lt;Box style={{ flexDirection: 'row', alignItems: 'center', gap: 14 }}&gt;&#10;        &lt;Box style={{ width: 44, height: 44, borderRadius: 22, background: 'rgba(8,145,178,0.15)', border: '1px solid rgba(8,145,178,0.55)', alignItems: 'center', justifyContent: 'center' }}&gt;&#10;          &lt;Text style={{ fontSize: 20, fontWeight: 'bold', color: '#0891B2' }}&gt;王&lt;/Text&gt;&#10;        &lt;/Box&gt;&#10;        &lt;Box&gt;&#10;          &lt;Text style={{ fontSize: 20, fontWeight: 'bold', color: '#E9F0FB' }}&gt;王工&lt;/Text&gt;&#10;          &lt;Text style={{ fontSize: 13, color: 'rgba(233,240,251,0.55)' }}&gt;省级电网公司 · 生技部专责&lt;/Text&gt;&#10;        &lt;/Box&gt;&#10;      &lt;/Box&gt;&#10;      &lt;Box style={{ height: 1, background: 'rgba(233,240,251,0.12)', margin: '16px 0' }} /&gt;&#10;      &lt;Text style={{ fontSize: 16, color: 'rgba(233,240,251,0.82)', lineHeight: 1.6 }}&gt;旅游旺季、返乡潮可能带来用电高峰，他需要据此研判峰值风险、安排重过载应对。&lt;/Text&gt;&#10;      &lt;Text style={{ fontSize: 16, color: 'rgba(233,240,251,0.82)', lineHeight: 1.6, marginTop: 12 }}&gt;当预测出现偏差，他参考往年同期负荷，乘以一个基于经验估计的修正因子，得到临时预测。&lt;/Text&gt;&#10;      &lt;Text style={{ fontSize: 16, color: 'rgba(233,240,251,0.82)', lineHeight: 1.6, marginTop: 12 }}&gt;若要从模型层面介入——合同结束后没有算法团队、没有迭代权限，只能重新走流程。&lt;/Text&gt;&#10;      &lt;Box style={{ marginTop: 'auto', background: 'rgba(194,98,10,0.12)', borderLeft: '3px solid #C2620A', borderRadius: 8, padding: 14 }}&gt;&#10;        &lt;Text style={{ fontSize: 16, fontWeight: 'bold', color: '#E9F0FB', lineHeight: 1.5 }}&gt;判断——不是人不努力，是模型失效后没有持续学习的通道。&lt;/Text&gt;&#10;      &lt;/Box&gt;&#10;    &lt;/Box&gt;&#10;&#10;    {/* 右栏 · 补救流程 */}&#10;    &lt;Box style={{ flex: 1 }}&gt;&#10;      &lt;svg width={776} height={540} viewBox=&quot;0 0 776 540&quot; fontFamily=&quot;'PingFang SC',sans-serif&quot;&gt;&#10;        {/* 节点1 · 预测偏差（琥珀） */}&#10;        &lt;rect x=&quot;40&quot; y=&quot;16&quot; width=&quot;320&quot; height=&quot;78&quot; rx=&quot;10&quot; fill=&quot;rgba(194,98,10,0.10)&quot; stroke=&quot;rgba(194,98,10,0.55)&quot; strokeWidth=&quot;1&quot; /&gt;&#10;        &lt;text x=&quot;200&quot; y=&quot;48&quot; fontSize=&quot;19&quot; fontWeight=&quot;bold&quot; fill=&quot;#E9F0FB&quot; textAnchor=&quot;middle&quot;&gt;预测偏差&lt;/text&gt;&#10;        &lt;text x=&quot;200&quot; y=&quot;74&quot; fontSize=&quot;13&quot; fill=&quot;rgba(233,240,251,0.55)&quot; textAnchor=&quot;middle&quot;&gt;模型输出明显偏离实际负荷&lt;/text&gt;&#10;        {/* 箭头 */}&#10;        &lt;line x1=&quot;200&quot; y1=&quot;94&quot; x2=&quot;200&quot; y2=&quot;126&quot; stroke=&quot;#0891B2&quot; strokeWidth=&quot;2&quot; /&gt;&#10;        &lt;path d=&quot;M 200 134 L 205 124 L 195 124 Z&quot; fill=&quot;#0891B2&quot; /&gt;&#10;        {/* 节点2 · 经验因子 */}&#10;        &lt;rect x=&quot;40&quot; y=&quot;138&quot; width=&quot;320&quot; height=&quot;78&quot; rx=&quot;10&quot; fill=&quot;rgba(233,240,251,0.05)&quot; stroke=&quot;rgba(233,240,251,0.20)&quot; strokeWidth=&quot;1&quot; /&gt;&#10;        &lt;text x=&quot;200&quot; y=&quot;170&quot; fontSize=&quot;19&quot; fontWeight=&quot;bold&quot; fill=&quot;#E9F0FB&quot; textAnchor=&quot;middle&quot;&gt;往年同期 × 经验因子&lt;/text&gt;&#10;        &lt;text x=&quot;200&quot; y=&quot;196&quot; fontSize=&quot;13&quot; fill=&quot;rgba(233,240,251,0.55)&quot; textAnchor=&quot;middle&quot;&gt;人工拍一个修正系数，无数据依据&lt;/text&gt;&#10;        &lt;line x1=&quot;200&quot; y1=&quot;216&quot; x2=&quot;200&quot; y2=&quot;248&quot; stroke=&quot;#0891B2&quot; strokeWidth=&quot;2&quot; /&gt;&#10;        &lt;path d=&quot;M 200 256 L 205 246 L 195 246 Z&quot; fill=&quot;#0891B2&quot; /&gt;&#10;        {/* 节点3 · 临时预测 */}&#10;        &lt;rect x=&quot;40&quot; y=&quot;260&quot; width=&quot;320&quot; height=&quot;78&quot; rx=&quot;10&quot; fill=&quot;rgba(233,240,251,0.05)&quot; stroke=&quot;rgba(233,240,251,0.20)&quot; strokeWidth=&quot;1&quot; /&gt;&#10;        &lt;text x=&quot;200&quot; y=&quot;292&quot; fontSize=&quot;19&quot; fontWeight=&quot;bold&quot; fill=&quot;#E9F0FB&quot; textAnchor=&quot;middle&quot;&gt;临时预测&lt;/text&gt;&#10;        &lt;text x=&quot;200&quot; y=&quot;318&quot; fontSize=&quot;13&quot; fill=&quot;rgba(233,240,251,0.55)&quot; textAnchor=&quot;middle&quot;&gt;应急研判可用，精度无人担保&lt;/text&gt;&#10;        &lt;line x1=&quot;200&quot; y1=&quot;338&quot; x2=&quot;200&quot; y2=&quot;370&quot; stroke=&quot;#0891B2&quot; strokeWidth=&quot;2&quot; /&gt;&#10;        &lt;path d=&quot;M 200 378 L 205 368 L 195 368 Z&quot; fill=&quot;#0891B2&quot; /&gt;&#10;        {/* 节点4 · 兜底（青） */}&#10;        &lt;rect x=&quot;40&quot; y=&quot;382&quot; width=&quot;320&quot; height=&quot;86&quot; rx=&quot;10&quot; fill=&quot;rgba(8,145,178,0.10)&quot; stroke=&quot;rgba(8,145,178,0.60)&quot; strokeWidth=&quot;1.5&quot; /&gt;&#10;        &lt;text x=&quot;200&quot; y=&quot;416&quot; fontSize=&quot;19&quot; fontWeight=&quot;bold&quot; fill=&quot;#E9F0FB&quot; textAnchor=&quot;middle&quot;&gt;峰值风险研判 / 重过载应对&lt;/text&gt;&#10;        &lt;text x=&quot;200&quot; y=&quot;442&quot; fontSize=&quot;13&quot; fill=&quot;rgba(233,240,251,0.55)&quot; textAnchor=&quot;middle&quot;&gt;一切只能靠人来兜底&lt;/text&gt;&#10;&#10;        {/* 旁注 · 模型层面介入遥不可及 */}&#10;        &lt;path d=&quot;M 360 177 C 400 177, 400 190, 424 190&quot; stroke=&quot;rgba(194,98,10,0.5)&quot; strokeWidth=&quot;1.5&quot; strokeDasharray=&quot;4 4&quot; fill=&quot;none&quot; /&gt;&#10;        &lt;rect x=&quot;428&quot; y=&quot;138&quot; width=&quot;324&quot; height=&quot;200&quot; rx=&quot;10&quot; fill=&quot;rgba(194,98,10,0.06)&quot; stroke=&quot;rgba(194,98,10,0.45)&quot; strokeWidth=&quot;1&quot; strokeDasharray=&quot;6 5&quot; /&gt;&#10;        &lt;text x=&quot;452&quot; y=&quot;172&quot; fontSize=&quot;15&quot; fontWeight=&quot;bold&quot; fill=&quot;#C2620A&quot;&gt;而要从模型层面介入 · 遥不可及&lt;/text&gt;&#10;        &lt;text x=&quot;452&quot; y=&quot;206&quot; fontSize=&quot;14&quot; fill=&quot;rgba(233,240,251,0.75)&quot;&gt;重新优化要走立项、采购或运维流程&lt;/text&gt;&#10;        &lt;text x=&quot;452&quot; y=&quot;236&quot; fontSize=&quot;14&quot; fill=&quot;rgba(233,240,251,0.75)&quot;&gt;耗时一到两个月&lt;/text&gt;&#10;        &lt;text x=&quot;452&quot; y=&quot;266&quot; fontSize=&quot;14&quot; fill=&quot;rgba(233,240,251,0.75)&quot;&gt;没有算法团队，也没有自行迭代权限&lt;/text&gt;&#10;        &lt;text x=&quot;452&quot; y=&quot;300&quot; fontSize=&quot;13&quot; fill=&quot;rgba(233,240,251,0.50)&quot;&gt;——旺季的高峰，等不起两个月&lt;/text&gt;&#10;&#10;        {/* 底部结语 */}&#10;        &lt;line x1=&quot;40&quot; y1=&quot;496&quot; x2=&quot;752&quot; y2=&quot;496&quot; stroke=&quot;rgba(233,240,251,0.12)&quot; strokeWidth=&quot;1&quot; /&gt;&#10;        &lt;text x=&quot;40&quot; y=&quot;526&quot; fontSize=&quot;14&quot; fill=&quot;rgba(233,240,251,0.55)&quot;&gt;临时预测能应急，但误差随季节漂移持续放大——而每次模型修复，都要把项目重做一遍。&lt;/text&gt;&#10;      &lt;/svg&gt;&#10;    &lt;/Box&gt;&#10;  &lt;/Box&gt;&#10;&#10;  {/* C · 页脚条 */}&#10;  &lt;Box style={{ height: 24, flexDirection: 'row', justifyContent: 'space-between', alignItems: 'center', flexShrink: 0 }}&gt;&#10;    &lt;Box style={{ flexDirection: 'row', alignItems: 'center', gap: 8 }}&gt;&#10;      &lt;Box style={{ width: 6, height: 6, background: '#0891B2' }} /&gt;&#10;      &lt;Text style={{ fontSize: 12, color: 'rgba(233,240,251,0.40)' }}&gt;烛龙 ZHULONG&lt;/Text&gt;&#10;    &lt;/Box&gt;&#10;    &lt;Text style={{ fontSize: 12, color: 'rgba(233,240,251,0.40)', fontFamily: &quot;'Menlo','Courier New',monospace&quot; }}&gt;02 / 07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730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571500" y="190500"/>
            <a:ext cx="110490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E9F0FB"/>
                </a:solidFill>
                <a:latin typeface="PingFang SC"/>
                <a:ea typeface="PingFang SC"/>
              </a:rPr>
              <a:t>预测不准时，王工只能用经验预测补救</a:t>
            </a:r>
            <a:endParaRPr/>
          </a:p>
        </p:txBody>
      </p:sp>
      <p:sp>
        <p:nvSpPr>
          <p:cNvPr id="12" name=""/>
          <p:cNvSpPr/>
          <p:nvPr/>
        </p:nvSpPr>
        <p:spPr>
          <a:xfrm rot="0" flipH="0" flipV="0">
            <a:off x="571500" y="762000"/>
            <a:ext cx="419100" cy="28575"/>
          </a:xfrm>
          <a:prstGeom prst="roundRect">
            <a:avLst>
              <a:gd name="adj" fmla="val 66667"/>
            </a:avLst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571500" y="866775"/>
            <a:ext cx="11049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省电网公司生技部专责王工的一天——旅游旺季与返乡潮的峰值研判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571500" y="1181100"/>
            <a:ext cx="3429000" cy="5143500"/>
          </a:xfrm>
          <a:prstGeom prst="roundRect">
            <a:avLst>
              <a:gd name="adj" fmla="val 3333"/>
            </a:avLst>
          </a:prstGeom>
          <a:solidFill>
            <a:srgbClr val="E9F0FB">
              <a:alpha val="5000"/>
            </a:srgbClr>
          </a:solidFill>
          <a:ln w="12700">
            <a:solidFill>
              <a:srgbClr val="E9F0FB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762000" y="13716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0891B2">
              <a:alpha val="15000"/>
            </a:srgbClr>
          </a:solidFill>
          <a:ln w="12700">
            <a:solidFill>
              <a:srgbClr val="0891B2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876300" y="1466850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891B2"/>
                </a:solidFill>
                <a:latin typeface="PingFang SC"/>
                <a:ea typeface="PingFang SC"/>
              </a:rPr>
              <a:t>王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314450" y="1390650"/>
            <a:ext cx="1514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9F0FB"/>
                </a:solidFill>
                <a:latin typeface="PingFang SC"/>
                <a:ea typeface="PingFang SC"/>
              </a:rPr>
              <a:t>王工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1314450" y="1619250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E9F0FB">
                    <a:alpha val="55000"/>
                  </a:srgbClr>
                </a:solidFill>
                <a:latin typeface="PingFang SC"/>
                <a:ea typeface="PingFang SC"/>
              </a:rPr>
              <a:t>省级电网公司</a:t>
            </a:r>
            <a:r>
              <a:rPr lang="en-US" sz="975">
                <a:solidFill>
                  <a:srgbClr val="E9F0FB">
                    <a:alpha val="55000"/>
                  </a:srgbClr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E9F0FB">
                    <a:alpha val="55000"/>
                  </a:srgbClr>
                </a:solidFill>
                <a:latin typeface="PingFang SC"/>
                <a:ea typeface="PingFang SC"/>
              </a:rPr>
              <a:t>生技部专责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762000" y="1943100"/>
            <a:ext cx="3048000" cy="9525"/>
          </a:xfrm>
          <a:prstGeom prst="rect">
            <a:avLst/>
          </a:prstGeom>
          <a:solidFill>
            <a:srgbClr val="E9F0FB">
              <a:alpha val="12000"/>
            </a:srgbClr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762000" y="2105025"/>
            <a:ext cx="3048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9F0FB">
                    <a:alpha val="82000"/>
                  </a:srgbClr>
                </a:solidFill>
                <a:latin typeface="PingFang SC"/>
                <a:ea typeface="PingFang SC"/>
              </a:rPr>
              <a:t>旅游旺季、返乡潮可能带来用电高峰，他需要据此研判峰值风险、安排重过载应对。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762000" y="2809875"/>
            <a:ext cx="30480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9F0FB">
                    <a:alpha val="82000"/>
                  </a:srgbClr>
                </a:solidFill>
                <a:latin typeface="PingFang SC"/>
                <a:ea typeface="PingFang SC"/>
              </a:rPr>
              <a:t>当预测出现偏差，他参考往年同期负荷，乘以一个基于经验估计的修正因子，得到临时预测。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762000" y="3810000"/>
            <a:ext cx="3048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9F0FB">
                    <a:alpha val="82000"/>
                  </a:srgbClr>
                </a:solidFill>
                <a:latin typeface="PingFang SC"/>
                <a:ea typeface="PingFang SC"/>
              </a:rPr>
              <a:t>若要从模型层面介入——合同结束后没有算法团队、没有迭代权限，只能重新走流程。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790575" y="5314950"/>
            <a:ext cx="3048000" cy="819150"/>
          </a:xfrm>
          <a:prstGeom prst="roundRect">
            <a:avLst>
              <a:gd name="adj" fmla="val 9302"/>
            </a:avLst>
          </a:prstGeom>
          <a:solidFill>
            <a:srgbClr val="C2620A">
              <a:alpha val="12000"/>
            </a:srgbClr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790575" y="5314950"/>
            <a:ext cx="3048000" cy="819150"/>
          </a:xfrm>
          <a:custGeom>
            <a:pathLst>
              <a:path w="320" h="86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1"/>
                </a:lnTo>
                <a:cubicBezTo>
                  <a:pt x="3" y="83"/>
                  <a:pt x="5" y="85"/>
                  <a:pt x="7" y="86"/>
                </a:cubicBezTo>
                <a:cubicBezTo>
                  <a:pt x="3" y="85"/>
                  <a:pt x="0" y="82"/>
                  <a:pt x="0" y="7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C2620A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923925" y="5448300"/>
            <a:ext cx="27527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 b="1">
                <a:solidFill>
                  <a:srgbClr val="E9F0FB"/>
                </a:solidFill>
                <a:latin typeface="PingFang SC"/>
                <a:ea typeface="PingFang SC"/>
              </a:rPr>
              <a:t>判断——不是人不努力，是模型失效后没有持续学习的通道。</a:t>
            </a:r>
            <a:endParaRPr/>
          </a:p>
        </p:txBody>
      </p:sp>
      <p:pic>
        <p:nvPicPr>
          <p:cNvPr id="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29100" y="1181100"/>
            <a:ext cx="7391400" cy="5143500"/>
          </a:xfrm>
          <a:prstGeom prst="rect">
            <a:avLst/>
          </a:prstGeom>
          <a:ln/>
        </p:spPr>
      </p:pic>
      <p:sp>
        <p:nvSpPr>
          <p:cNvPr id="27" name=""/>
          <p:cNvSpPr/>
          <p:nvPr/>
        </p:nvSpPr>
        <p:spPr>
          <a:xfrm rot="0" flipH="0" flipV="0">
            <a:off x="571500" y="6515100"/>
            <a:ext cx="57150" cy="5715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704850" y="6467475"/>
            <a:ext cx="828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烛龙</a:t>
            </a:r>
            <a:r>
              <a:rPr lang="en-US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 ZHULONG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1134725" y="6467475"/>
            <a:ext cx="485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E9F0FB">
                    <a:alpha val="40000"/>
                  </a:srgbClr>
                </a:solidFill>
                <a:latin typeface="Menlo"/>
                <a:ea typeface="Menlo"/>
              </a:rPr>
              <a:t>02 / 07</a:t>
            </a:r>
            <a:endParaRPr/>
          </a:p>
        </p:txBody>
      </p:sp>
    </p:spTree>
  </p:cSld>
</p:sld>
</file>

<file path=ppt/slides/slide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0" name="" descr="&lt;Slide style={{ width: '1280px', height: '720px', background: '#0B1730', padding: '20px 60px 16px 60px', fontFamily: &quot;'PingFang SC','Noto Sans SC',sans-serif&quot;, display: 'flex', flexDirection: 'column' }}&gt;&#10;&#10;  {/* A · 标题块 */}&#10;  &lt;Box style={{ height: 92, marginBottom: 12, flexShrink: 0 }}&gt;&#10;    &lt;Text style={{ fontSize: 34, fontWeight: 'bold', color: '#E9F0FB', lineHeight: 1.3 }}&gt;我们卖的不是模型，而是让 Agent 可靠工作的 Harness&lt;/Text&gt;&#10;    &lt;Box style={{ width: 44, height: 3, background: '#0891B2', marginTop: 6, marginBottom: 8, borderRadius: 2 }} /&gt;&#10;    &lt;Text style={{ fontSize: 16, color: 'rgba(233,240,251,0.62)' }}&gt;分工：Agent 负责判断，Harness 负责供给能力、守住约束&lt;/Text&gt;&#10;  &lt;/Box&gt;&#10;&#10;  {/* B · 内容区 */}&#10;  &lt;Box style={{ height: 540, marginBottom: 10, flexShrink: 0, flexDirection: 'row', gap: 24 }}&gt;&#10;&#10;    {/* 左 · 中心辐射架构图 */}&#10;    &lt;Box style={{ width: 700, flexShrink: 0 }}&gt;&#10;      &lt;svg width={700} height={540} viewBox=&quot;0 0 700 540&quot; fontFamily=&quot;'PingFang SC',sans-serif&quot;&gt;&#10;        {/* 组标签 */}&#10;        &lt;text x=&quot;20&quot; y=&quot;116&quot; fontSize=&quot;13&quot; fontWeight=&quot;bold&quot; fill=&quot;#0891B2&quot; letterSpacing=&quot;2&quot;&gt;读取&lt;/text&gt;&#10;        &lt;text x=&quot;480&quot; y=&quot;46&quot; fontSize=&quot;13&quot; fill=&quot;rgba(233,240,251,0.55)&quot; letterSpacing=&quot;2&quot;&gt;供给与约束&lt;/text&gt;&#10;&#10;        {/* 中心 Agent */}&#10;        &lt;circle cx=&quot;350&quot; cy=&quot;240&quot; r=&quot;88&quot; fill=&quot;rgba(8,145,178,0.10)&quot; /&gt;&#10;        &lt;circle cx=&quot;350&quot; cy=&quot;240&quot; r=&quot;60&quot; fill=&quot;rgba(8,145,178,0.16)&quot; stroke=&quot;#0891B2&quot; strokeWidth=&quot;1.5&quot; /&gt;&#10;        &lt;text x=&quot;350&quot; y=&quot;236&quot; fontSize=&quot;26&quot; fontWeight=&quot;bold&quot; fill=&quot;#E9F0FB&quot; textAnchor=&quot;middle&quot; fontFamily=&quot;'Menlo',monospace&quot;&gt;Agent&lt;/text&gt;&#10;        &lt;text x=&quot;350&quot; y=&quot;262&quot; fontSize=&quot;13&quot; fill=&quot;rgba(233,240,251,0.60)&quot; textAnchor=&quot;middle&quot;&gt;负责判断&lt;/text&gt;&#10;&#10;        {/* 左节点 · 数据上下文 */}&#10;        &lt;rect x=&quot;20&quot; y=&quot;130&quot; width=&quot;230&quot; height=&quot;230&quot; rx=&quot;12&quot; fill=&quot;rgba(233,240,251,0.05)&quot; stroke=&quot;rgba(8,145,178,0.45)&quot; strokeWidth=&quot;1&quot; /&gt;&#10;        &lt;text x=&quot;40&quot; y=&quot;164&quot; fontSize=&quot;15&quot; fontWeight=&quot;bold&quot; fill=&quot;#0891B2&quot;&gt;数据上下文 · Agent 读取&lt;/text&gt;&#10;        &lt;g fill=&quot;#0891B2&quot;&gt;&#10;          &lt;circle cx=&quot;48&quot; cy=&quot;196&quot; r=&quot;2.5&quot; /&gt;&lt;circle cx=&quot;48&quot; cy=&quot;226&quot; r=&quot;2.5&quot; /&gt;&lt;circle cx=&quot;48&quot; cy=&quot;256&quot; r=&quot;2.5&quot; /&gt;&lt;circle cx=&quot;48&quot; cy=&quot;286&quot; r=&quot;2.5&quot; /&gt;&lt;circle cx=&quot;48&quot; cy=&quot;316&quot; r=&quot;2.5&quot; /&gt;&#10;        &lt;/g&gt;&#10;        &lt;text x=&quot;60&quot; y=&quot;201&quot; fontSize=&quot;14&quot; fill=&quot;rgba(233,240,251,0.80)&quot;&gt;新增负荷&lt;/text&gt;&#10;        &lt;text x=&quot;60&quot; y=&quot;231&quot; fontSize=&quot;14&quot; fill=&quot;rgba(233,240,251,0.80)&quot;&gt;天气&lt;/text&gt;&#10;        &lt;text x=&quot;60&quot; y=&quot;261&quot; fontSize=&quot;14&quot; fill=&quot;rgba(233,240,251,0.80)&quot;&gt;历史分布&lt;/text&gt;&#10;        &lt;text x=&quot;60&quot; y=&quot;291&quot; fontSize=&quot;14&quot; fill=&quot;rgba(233,240,251,0.80)&quot;&gt;模型表现&lt;/text&gt;&#10;        &lt;text x=&quot;60&quot; y=&quot;321&quot; fontSize=&quot;14&quot; fill=&quot;rgba(233,240,251,0.80)&quot;&gt;EDM 日志&lt;/text&gt;&#10;&#10;        {/* 连线：左节点 → Agent */}&#10;        &lt;line x1=&quot;250&quot; y1=&quot;245&quot; x2=&quot;282&quot; y2=&quot;245&quot; stroke=&quot;rgba(8,145,178,0.7)&quot; strokeWidth=&quot;2&quot; /&gt;&#10;        &lt;path d=&quot;M 290 245 L 280 240 L 280 250 Z&quot; fill=&quot;rgba(8,145,178,0.7)&quot; /&gt;&#10;&#10;        {/* 连线：Agent → 右侧三节点 */}&#10;        &lt;path d=&quot;M 412 220 C 446 200, 452 140, 476 116&quot; stroke=&quot;rgba(8,145,178,0.55)&quot; strokeWidth=&quot;1.8&quot; fill=&quot;none&quot; /&gt;&#10;        &lt;path d=&quot;M 480 112 L 469 113 L 475 122 Z&quot; fill=&quot;rgba(8,145,178,0.55)&quot; /&gt;&#10;        &lt;line x1=&quot;412&quot; y1=&quot;242&quot; x2=&quot;472&quot; y2=&quot;242&quot; stroke=&quot;rgba(8,145,178,0.55)&quot; strokeWidth=&quot;1.8&quot; /&gt;&#10;        &lt;path d=&quot;M 480 242 L 470 237 L 470 247 Z&quot; fill=&quot;rgba(8,145,178,0.55)&quot; /&gt;&#10;        &lt;path d=&quot;M 412 264 C 446 284, 452 344, 476 368&quot; stroke=&quot;rgba(8,145,178,0.55)&quot; strokeWidth=&quot;1.8&quot; fill=&quot;none&quot; /&gt;&#10;        &lt;path d=&quot;M 480 372 L 475 362 L 469 370 Z&quot; fill=&quot;rgba(8,145,178,0.55)&quot; /&gt;&#10;&#10;        {/* 右上 · EDM */}&#10;        &lt;rect x=&quot;482&quot; y=&quot;60&quot; width=&quot;198&quot; height=&quot;104&quot; rx=&quot;10&quot; fill=&quot;rgba(233,240,251,0.05)&quot; stroke=&quot;rgba(233,240,251,0.20)&quot; strokeWidth=&quot;1&quot; /&gt;&#10;        &lt;text x=&quot;502&quot; y=&quot;94&quot; fontSize=&quot;15&quot; fontWeight=&quot;bold&quot; fill=&quot;#E9F0FB&quot;&gt;EDM · 漂移诊断&lt;/text&gt;&#10;        &lt;text x=&quot;502&quot; y=&quot;120&quot; fontSize=&quot;12.5&quot; fill=&quot;rgba(233,240,251,0.55)&quot;&gt;分析数据变化与成因&lt;/text&gt;&#10;        &lt;text x=&quot;502&quot; y=&quot;142&quot; fontSize=&quot;12.5&quot; fill=&quot;rgba(233,240,251,0.55)&quot;&gt;结论沉淀为日志与上下文&lt;/text&gt;&#10;&#10;        {/* 右中 · 训练验证 */}&#10;        &lt;rect x=&quot;482&quot; y=&quot;196&quot; width=&quot;198&quot; height=&quot;104&quot; rx=&quot;10&quot; fill=&quot;rgba(233,240,251,0.05)&quot; stroke=&quot;rgba(233,240,251,0.20)&quot; strokeWidth=&quot;1&quot; /&gt;&#10;        &lt;text x=&quot;502&quot; y=&quot;230&quot; fontSize=&quot;15&quot; fontWeight=&quot;bold&quot; fill=&quot;#E9F0FB&quot;&gt;训练 · 验证&lt;/text&gt;&#10;        &lt;text x=&quot;502&quot; y=&quot;256&quot; fontSize=&quot;12.5&quot; fill=&quot;rgba(233,240,251,0.55)&quot;&gt;训练 Skill 按需调用&lt;/text&gt;&#10;        &lt;text x=&quot;502&quot; y=&quot;278&quot; fontSize=&quot;12.5&quot; fill=&quot;rgba(233,240,251,0.55)&quot;&gt;统一时序验证口径&lt;/text&gt;&#10;&#10;        {/* 右下 · 发布约束（琥珀） */}&#10;        &lt;rect x=&quot;482&quot; y=&quot;332&quot; width=&quot;198&quot; height=&quot;104&quot; rx=&quot;10&quot; fill=&quot;rgba(194,98,10,0.08)&quot; stroke=&quot;rgba(194,98,10,0.55)&quot; strokeWidth=&quot;1&quot; /&gt;&#10;        &lt;text x=&quot;502&quot; y=&quot;366&quot; fontSize=&quot;15&quot; fontWeight=&quot;bold&quot; fill=&quot;#E9F0FB&quot;&gt;部署 · 发布约束&lt;/text&gt;&#10;        &lt;text x=&quot;502&quot; y=&quot;392&quot; fontSize=&quot;12.5&quot; fill=&quot;rgba(233,240,251,0.55)&quot;&gt;只使用已到达的数据&lt;/text&gt;&#10;        &lt;text x=&quot;502&quot; y=&quot;414&quot; fontSize=&quot;12.5&quot; fill=&quot;rgba(233,240,251,0.55)&quot;&gt;验证通过才发布 active&lt;/text&gt;&#10;&#10;        {/* 反馈闭环 */}&#10;        &lt;path d=&quot;M 581 436 C 581 512, 135 524, 135 366&quot; stroke=&quot;rgba(8,145,178,0.45)&quot; strokeWidth=&quot;1.5&quot; strokeDasharray=&quot;6 5&quot; fill=&quot;none&quot; /&gt;&#10;        &lt;path d=&quot;M 135 360 L 130 371 L 140 371 Z&quot; fill=&quot;rgba(8,145,178,0.45)&quot; /&gt;&#10;        &lt;text x=&quot;358&quot; y=&quot;512&quot; fontSize=&quot;13&quot; fill=&quot;rgba(233,240,251,0.55)&quot; textAnchor=&quot;middle&quot;&gt;反馈：发布后的模型表现，回流为下一轮学习上下文&lt;/text&gt;&#10;      &lt;/svg&gt;&#10;    &lt;/Box&gt;&#10;&#10;    {/* 右 · 定义卡 */}&#10;    &lt;Box style={{ flex: 1, flexDirection: 'column', gap: 16 }}&gt;&#10;      &lt;Box style={{ background: 'rgba(8,145,178,0.08)', border: '1px solid rgba(8,145,178,0.35)', borderRadius: 12, padding: 22 }}&gt;&#10;        &lt;Text style={{ fontSize: 15, fontWeight: 'bold', color: '#0891B2', letterSpacing: 2 }}&gt;一句话定义&lt;/Text&gt;&#10;        &lt;Text style={{ fontSize: 20, fontWeight: 'bold', color: '#E9F0FB', lineHeight: 1.55, marginTop: 10 }}&gt;Harness 把数据、工具、约束和反馈组织起来，让通用 Agent 成为负荷预测持续学习的垂直智能体。&lt;/Text&gt;&#10;      &lt;/Box&gt;&#10;      &lt;Box style={{ background: 'rgba(233,240,251,0.05)', border: '1px solid rgba(233,240,251,0.14)', borderRadius: 12, padding: 22 }}&gt;&#10;        &lt;Text style={{ fontSize: 15, fontWeight: 'bold', color: '#C2620A', letterSpacing: 2 }}&gt;我们卖的&lt;/Text&gt;&#10;        &lt;Text style={{ fontSize: 17, color: 'rgba(233,240,251,0.82)', lineHeight: 1.6, marginTop: 10 }}&gt;不是一次性的更大模型，而是让模型持续变好的工程系统——交付之后，它依然在学习。&lt;/Text&gt;&#10;      &lt;/Box&gt;&#10;      &lt;Box style={{ marginTop: 'auto' }}&gt;&#10;        &lt;Text style={{ fontSize: 13, color: 'rgba(233,240,251,0.50)', marginBottom: 10 }}&gt;HARNESS 三要素&lt;/Text&gt;&#10;        &lt;Box style={{ flexDirection: 'row', gap: 12 }}&gt;&#10;          &lt;Box style={{ flex: 1, background: 'rgba(233,240,251,0.05)', border: '1px solid rgba(233,240,251,0.14)', borderRadius: 10, padding: '14px 0', alignItems: 'center' }}&gt;&#10;            &lt;Text style={{ fontSize: 16, fontWeight: 'bold', color: '#E9F0FB' }}&gt;数据&lt;/Text&gt;&#10;            &lt;Text style={{ fontSize: 11, color: 'rgba(233,240,251,0.50)', marginTop: 4 }}&gt;有上下文&lt;/Text&gt;&#10;          &lt;/Box&gt;&#10;          &lt;Box style={{ flex: 1, background: 'rgba(233,240,251,0.05)', border: '1px solid rgba(233,240,251,0.14)', borderRadius: 10, padding: '14px 0', alignItems: 'center' }}&gt;&#10;            &lt;Text style={{ fontSize: 16, fontWeight: 'bold', color: '#E9F0FB' }}&gt;工具 + 约束&lt;/Text&gt;&#10;            &lt;Text style={{ fontSize: 11, color: 'rgba(233,240,251,0.50)', marginTop: 4 }}&gt;能干且不越界&lt;/Text&gt;&#10;          &lt;/Box&gt;&#10;          &lt;Box style={{ flex: 1, background: 'rgba(233,240,251,0.05)', border: '1px solid rgba(233,240,251,0.14)', borderRadius: 10, padding: '14px 0', alignItems: 'center' }}&gt;&#10;            &lt;Text style={{ fontSize: 16, fontWeight: 'bold', color: '#E9F0FB' }}&gt;反馈&lt;/Text&gt;&#10;            &lt;Text style={{ fontSize: 11, color: 'rgba(233,240,251,0.50)', marginTop: 4 }}&gt;经验会积累&lt;/Text&gt;&#10;          &lt;/Box&gt;&#10;        &lt;/Box&gt;&#10;      &lt;/Box&gt;&#10;    &lt;/Box&gt;&#10;  &lt;/Box&gt;&#10;&#10;  {/* C · 页脚条 */}&#10;  &lt;Box style={{ height: 24, flexDirection: 'row', justifyContent: 'space-between', alignItems: 'center', flexShrink: 0 }}&gt;&#10;    &lt;Box style={{ flexDirection: 'row', alignItems: 'center', gap: 8 }}&gt;&#10;      &lt;Box style={{ width: 6, height: 6, background: '#0891B2' }} /&gt;&#10;      &lt;Text style={{ fontSize: 12, color: 'rgba(233,240,251,0.40)' }}&gt;烛龙 ZHULONG&lt;/Text&gt;&#10;    &lt;/Box&gt;&#10;    &lt;Text style={{ fontSize: 12, color: 'rgba(233,240,251,0.40)', fontFamily: &quot;'Menlo','Courier New',monospace&quot; }}&gt;03 / 07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730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571500" y="190500"/>
            <a:ext cx="110490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E9F0FB"/>
                </a:solidFill>
                <a:latin typeface="PingFang SC"/>
                <a:ea typeface="PingFang SC"/>
              </a:rPr>
              <a:t>我们卖的不是模型，而是让</a:t>
            </a:r>
            <a:r>
              <a:rPr lang="en-US" sz="2550" b="1">
                <a:solidFill>
                  <a:srgbClr val="E9F0FB"/>
                </a:solidFill>
                <a:latin typeface="PingFang SC"/>
                <a:ea typeface="PingFang SC"/>
              </a:rPr>
              <a:t> Agent </a:t>
            </a:r>
            <a:r>
              <a:rPr lang="zh-CN" sz="2550" b="1">
                <a:solidFill>
                  <a:srgbClr val="E9F0FB"/>
                </a:solidFill>
                <a:latin typeface="PingFang SC"/>
                <a:ea typeface="PingFang SC"/>
              </a:rPr>
              <a:t>可靠工作的</a:t>
            </a:r>
            <a:r>
              <a:rPr lang="en-US" sz="2550" b="1">
                <a:solidFill>
                  <a:srgbClr val="E9F0FB"/>
                </a:solidFill>
                <a:latin typeface="PingFang SC"/>
                <a:ea typeface="PingFang SC"/>
              </a:rPr>
              <a:t> Harness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571500" y="762000"/>
            <a:ext cx="419100" cy="28575"/>
          </a:xfrm>
          <a:prstGeom prst="roundRect">
            <a:avLst>
              <a:gd name="adj" fmla="val 66667"/>
            </a:avLst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571500" y="866775"/>
            <a:ext cx="11049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分工：</a:t>
            </a:r>
            <a:r>
              <a:rPr lang="en-US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Agent </a:t>
            </a:r>
            <a:r>
              <a:rPr lang="zh-CN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负责判断，</a:t>
            </a:r>
            <a:r>
              <a:rPr lang="en-US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Harness </a:t>
            </a:r>
            <a:r>
              <a:rPr lang="zh-CN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负责供给能力、守住约束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181100"/>
            <a:ext cx="6667500" cy="5143500"/>
          </a:xfrm>
          <a:prstGeom prst="rect">
            <a:avLst/>
          </a:prstGeom>
          <a:ln/>
        </p:spPr>
      </p:pic>
      <p:sp>
        <p:nvSpPr>
          <p:cNvPr id="36" name=""/>
          <p:cNvSpPr/>
          <p:nvPr/>
        </p:nvSpPr>
        <p:spPr>
          <a:xfrm rot="0" flipH="0" flipV="0">
            <a:off x="7467600" y="1181100"/>
            <a:ext cx="4152900" cy="1752600"/>
          </a:xfrm>
          <a:prstGeom prst="roundRect">
            <a:avLst>
              <a:gd name="adj" fmla="val 6522"/>
            </a:avLst>
          </a:prstGeom>
          <a:solidFill>
            <a:srgbClr val="0891B2">
              <a:alpha val="8000"/>
            </a:srgbClr>
          </a:solidFill>
          <a:ln w="12700">
            <a:solidFill>
              <a:srgbClr val="0891B2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677150" y="1390650"/>
            <a:ext cx="3733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0891B2"/>
                </a:solidFill>
                <a:latin typeface="PingFang SC"/>
                <a:ea typeface="PingFang SC"/>
              </a:rPr>
              <a:t>一句话定义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677150" y="1657350"/>
            <a:ext cx="3733800" cy="1066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 b="1">
                <a:solidFill>
                  <a:srgbClr val="E9F0FB"/>
                </a:solidFill>
                <a:latin typeface="PingFang SC"/>
                <a:ea typeface="PingFang SC"/>
              </a:rPr>
              <a:t>Harness </a:t>
            </a:r>
            <a:r>
              <a:rPr lang="zh-CN" sz="1500" b="1">
                <a:solidFill>
                  <a:srgbClr val="E9F0FB"/>
                </a:solidFill>
                <a:latin typeface="PingFang SC"/>
                <a:ea typeface="PingFang SC"/>
              </a:rPr>
              <a:t>把数据、工具、约束和反馈组织起来，让通用</a:t>
            </a:r>
            <a:r>
              <a:rPr lang="en-US" sz="1500" b="1">
                <a:solidFill>
                  <a:srgbClr val="E9F0FB"/>
                </a:solidFill>
                <a:latin typeface="PingFang SC"/>
                <a:ea typeface="PingFang SC"/>
              </a:rPr>
              <a:t> Agent </a:t>
            </a:r>
            <a:r>
              <a:rPr lang="zh-CN" sz="1500" b="1">
                <a:solidFill>
                  <a:srgbClr val="E9F0FB"/>
                </a:solidFill>
                <a:latin typeface="PingFang SC"/>
                <a:ea typeface="PingFang SC"/>
              </a:rPr>
              <a:t>成为负荷预测持续学习的垂直智能体。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7467600" y="3086100"/>
            <a:ext cx="4152900" cy="1314450"/>
          </a:xfrm>
          <a:prstGeom prst="roundRect">
            <a:avLst>
              <a:gd name="adj" fmla="val 8696"/>
            </a:avLst>
          </a:prstGeom>
          <a:solidFill>
            <a:srgbClr val="E9F0FB">
              <a:alpha val="5000"/>
            </a:srgbClr>
          </a:solidFill>
          <a:ln w="12700">
            <a:solidFill>
              <a:srgbClr val="E9F0FB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677150" y="3295650"/>
            <a:ext cx="3733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C2620A"/>
                </a:solidFill>
                <a:latin typeface="PingFang SC"/>
                <a:ea typeface="PingFang SC"/>
              </a:rPr>
              <a:t>我们卖的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677150" y="3562350"/>
            <a:ext cx="3733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E9F0FB">
                    <a:alpha val="82000"/>
                  </a:srgbClr>
                </a:solidFill>
                <a:latin typeface="PingFang SC"/>
                <a:ea typeface="PingFang SC"/>
              </a:rPr>
              <a:t>不是一次性的更大模型，而是让模型持续变好的工程系统——交付之后，它依然在学习。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7467600" y="5448300"/>
            <a:ext cx="4152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E9F0FB">
                    <a:alpha val="50000"/>
                  </a:srgbClr>
                </a:solidFill>
                <a:latin typeface="PingFang SC"/>
                <a:ea typeface="PingFang SC"/>
              </a:rPr>
              <a:t>HARNESS </a:t>
            </a:r>
            <a:r>
              <a:rPr lang="zh-CN" sz="975">
                <a:solidFill>
                  <a:srgbClr val="E9F0FB">
                    <a:alpha val="50000"/>
                  </a:srgbClr>
                </a:solidFill>
                <a:latin typeface="PingFang SC"/>
                <a:ea typeface="PingFang SC"/>
              </a:rPr>
              <a:t>三要素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7467600" y="5695950"/>
            <a:ext cx="1304925" cy="628650"/>
          </a:xfrm>
          <a:prstGeom prst="roundRect">
            <a:avLst>
              <a:gd name="adj" fmla="val 15152"/>
            </a:avLst>
          </a:prstGeom>
          <a:solidFill>
            <a:srgbClr val="E9F0FB">
              <a:alpha val="5000"/>
            </a:srgbClr>
          </a:solidFill>
          <a:ln w="12700">
            <a:solidFill>
              <a:srgbClr val="E9F0FB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972425" y="5829300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9F0FB"/>
                </a:solidFill>
                <a:latin typeface="PingFang SC"/>
                <a:ea typeface="PingFang SC"/>
              </a:rPr>
              <a:t>数据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915275" y="6057900"/>
            <a:ext cx="419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E9F0FB">
                    <a:alpha val="50000"/>
                  </a:srgbClr>
                </a:solidFill>
                <a:latin typeface="PingFang SC"/>
                <a:ea typeface="PingFang SC"/>
              </a:rPr>
              <a:t>有上下文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8886825" y="5695950"/>
            <a:ext cx="1314450" cy="628650"/>
          </a:xfrm>
          <a:prstGeom prst="roundRect">
            <a:avLst>
              <a:gd name="adj" fmla="val 15152"/>
            </a:avLst>
          </a:prstGeom>
          <a:solidFill>
            <a:srgbClr val="E9F0FB">
              <a:alpha val="5000"/>
            </a:srgbClr>
          </a:solidFill>
          <a:ln w="12700">
            <a:solidFill>
              <a:srgbClr val="E9F0FB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144000" y="5829300"/>
            <a:ext cx="809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9F0FB"/>
                </a:solidFill>
                <a:latin typeface="PingFang SC"/>
                <a:ea typeface="PingFang SC"/>
              </a:rPr>
              <a:t>工具</a:t>
            </a:r>
            <a:r>
              <a:rPr lang="en-US" sz="1200" b="1">
                <a:solidFill>
                  <a:srgbClr val="E9F0FB"/>
                </a:solidFill>
                <a:latin typeface="PingFang SC"/>
                <a:ea typeface="PingFang SC"/>
              </a:rPr>
              <a:t> + </a:t>
            </a:r>
            <a:r>
              <a:rPr lang="zh-CN" sz="1200" b="1">
                <a:solidFill>
                  <a:srgbClr val="E9F0FB"/>
                </a:solidFill>
                <a:latin typeface="PingFang SC"/>
                <a:ea typeface="PingFang SC"/>
              </a:rPr>
              <a:t>约束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9229725" y="6057900"/>
            <a:ext cx="6286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E9F0FB">
                    <a:alpha val="50000"/>
                  </a:srgbClr>
                </a:solidFill>
                <a:latin typeface="PingFang SC"/>
                <a:ea typeface="PingFang SC"/>
              </a:rPr>
              <a:t>能干且不越界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10315575" y="5695950"/>
            <a:ext cx="1304925" cy="628650"/>
          </a:xfrm>
          <a:prstGeom prst="roundRect">
            <a:avLst>
              <a:gd name="adj" fmla="val 15152"/>
            </a:avLst>
          </a:prstGeom>
          <a:solidFill>
            <a:srgbClr val="E9F0FB">
              <a:alpha val="5000"/>
            </a:srgbClr>
          </a:solidFill>
          <a:ln w="12700">
            <a:solidFill>
              <a:srgbClr val="E9F0FB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10820400" y="5829300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9F0FB"/>
                </a:solidFill>
                <a:latin typeface="PingFang SC"/>
                <a:ea typeface="PingFang SC"/>
              </a:rPr>
              <a:t>反馈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10706100" y="6057900"/>
            <a:ext cx="5238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E9F0FB">
                    <a:alpha val="50000"/>
                  </a:srgbClr>
                </a:solidFill>
                <a:latin typeface="PingFang SC"/>
                <a:ea typeface="PingFang SC"/>
              </a:rPr>
              <a:t>经验会积累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571500" y="6515100"/>
            <a:ext cx="57150" cy="5715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704850" y="6467475"/>
            <a:ext cx="828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烛龙</a:t>
            </a:r>
            <a:r>
              <a:rPr lang="en-US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 ZHULONG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11134725" y="6467475"/>
            <a:ext cx="485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E9F0FB">
                    <a:alpha val="40000"/>
                  </a:srgbClr>
                </a:solidFill>
                <a:latin typeface="Menlo"/>
                <a:ea typeface="Menlo"/>
              </a:rPr>
              <a:t>03 / 07</a:t>
            </a:r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" name="" descr="&lt;Slide style={{ width: '1280px', height: '720px', background: '#0B1730', padding: '20px 60px 16px 60px', fontFamily: &quot;'PingFang SC','Noto Sans SC',sans-serif&quot;, display: 'flex', flexDirection: 'column' }}&gt;&#10;&#10;  {/* A · 标题块 */}&#10;  &lt;Box style={{ height: 92, marginBottom: 12, flexShrink: 0 }}&gt;&#10;    &lt;Text style={{ fontSize: 34, fontWeight: 'bold', color: '#E9F0FB', lineHeight: 1.3 }}&gt;Agent 决定如何学习，模型每天稳定地推理&lt;/Text&gt;&#10;    &lt;Box style={{ width: 44, height: 3, background: '#0891B2', marginTop: 6, marginBottom: 8, borderRadius: 2 }} /&gt;&#10;    &lt;Text style={{ fontSize: 16, color: 'rgba(233,240,251,0.62)' }}&gt;两条运行路径，共用一个 active 模型版本——学习是决策，推理是流水线&lt;/Text&gt;&#10;  &lt;/Box&gt;&#10;&#10;  {/* B · 内容区 */}&#10;  &lt;Box style={{ height: 540, marginBottom: 10, flexShrink: 0, flexDirection: 'column', gap: 12 }}&gt;&#10;&#10;    &lt;svg width={1160} height={430} viewBox=&quot;0 0 1160 430&quot; fontFamily=&quot;'PingFang SC',sans-serif&quot;&gt;&#10;      {/* 上泳道标签 */}&#10;      &lt;rect x=&quot;0&quot; y=&quot;0&quot; width=&quot;230&quot; height=&quot;32&quot; rx=&quot;8&quot; fill=&quot;rgba(8,145,178,0.12)&quot; stroke=&quot;rgba(8,145,178,0.5)&quot; strokeWidth=&quot;1&quot; /&gt;&#10;      &lt;text x=&quot;16&quot; y=&quot;21&quot; fontSize=&quot;14&quot; fontWeight=&quot;bold&quot; fill=&quot;#0891B2&quot;&gt;持续学习路径 · Agent 决策&lt;/text&gt;&#10;&#10;      {/* 五节点 */}&#10;      &lt;rect x=&quot;37&quot; y=&quot;56&quot; width=&quot;190&quot; height=&quot;96&quot; rx=&quot;10&quot; fill=&quot;rgba(233,240,251,0.05)&quot; stroke=&quot;rgba(233,240,251,0.20)&quot; strokeWidth=&quot;1&quot; /&gt;&#10;      &lt;text x=&quot;132&quot; y=&quot;94&quot; fontSize=&quot;17&quot; fontWeight=&quot;bold&quot; fill=&quot;#E9F0FB&quot; textAnchor=&quot;middle&quot;&gt;新增数据 / EDM 日志&lt;/text&gt;&#10;      &lt;text x=&quot;132&quot; y=&quot;122&quot; fontSize=&quot;12.5&quot; fill=&quot;rgba(233,240,251,0.55)&quot; textAnchor=&quot;middle&quot;&gt;触发信号&lt;/text&gt;&#10;&#10;      &lt;rect x=&quot;259&quot; y=&quot;56&quot; width=&quot;190&quot; height=&quot;96&quot; rx=&quot;10&quot; fill=&quot;rgba(8,145,178,0.10)&quot; stroke=&quot;rgba(8,145,178,0.6)&quot; strokeWidth=&quot;1.5&quot; /&gt;&#10;      &lt;text x=&quot;354&quot; y=&quot;94&quot; fontSize=&quot;17&quot; fontWeight=&quot;bold&quot; fill=&quot;#E9F0FB&quot; textAnchor=&quot;middle&quot;&gt;Agent 判断变化&lt;/text&gt;&#10;      &lt;text x=&quot;354&quot; y=&quot;122&quot; fontSize=&quot;12.5&quot; fill=&quot;rgba(233,240,251,0.55)&quot; textAnchor=&quot;middle&quot;&gt;是否更新 · 如何更新&lt;/text&gt;&#10;&#10;      &lt;rect x=&quot;481&quot; y=&quot;56&quot; width=&quot;190&quot; height=&quot;96&quot; rx=&quot;10&quot; fill=&quot;rgba(233,240,251,0.05)&quot; stroke=&quot;rgba(233,240,251,0.20)&quot; strokeWidth=&quot;1&quot; /&gt;&#10;      &lt;text x=&quot;576&quot; y=&quot;94&quot; fontSize=&quot;17&quot; fontWeight=&quot;bold&quot; fill=&quot;#E9F0FB&quot; textAnchor=&quot;middle&quot;&gt;调用训练 Skill&lt;/text&gt;&#10;      &lt;text x=&quot;576&quot; y=&quot;122&quot; fontSize=&quot;12.5&quot; fill=&quot;rgba(233,240,251,0.55)&quot; textAnchor=&quot;middle&quot;&gt;按需，不盲目&lt;/text&gt;&#10;&#10;      &lt;rect x=&quot;703&quot; y=&quot;56&quot; width=&quot;190&quot; height=&quot;96&quot; rx=&quot;10&quot; fill=&quot;rgba(233,240,251,0.05)&quot; stroke=&quot;rgba(233,240,251,0.20)&quot; strokeWidth=&quot;1&quot; /&gt;&#10;      &lt;text x=&quot;798&quot; y=&quot;94&quot; fontSize=&quot;17&quot; fontWeight=&quot;bold&quot; fill=&quot;#E9F0FB&quot; textAnchor=&quot;middle&quot;&gt;时序验证&lt;/text&gt;&#10;      &lt;text x=&quot;798&quot; y=&quot;122&quot; fontSize=&quot;12.5&quot; fill=&quot;rgba(233,240,251,0.55)&quot; textAnchor=&quot;middle&quot;&gt;统一口径&lt;/text&gt;&#10;&#10;      &lt;rect x=&quot;925&quot; y=&quot;56&quot; width=&quot;190&quot; height=&quot;96&quot; rx=&quot;10&quot; fill=&quot;rgba(194,98,10,0.14)&quot; stroke=&quot;rgba(194,98,10,0.65)&quot; strokeWidth=&quot;1.5&quot; /&gt;&#10;      &lt;text x=&quot;1020&quot; y=&quot;94&quot; fontSize=&quot;17&quot; fontWeight=&quot;bold&quot; fill=&quot;#E9F0FB&quot; textAnchor=&quot;middle&quot;&gt;发布 active 模型&lt;/text&gt;&#10;      &lt;text x=&quot;1020&quot; y=&quot;122&quot; fontSize=&quot;12.5&quot; fill=&quot;rgba(233,240,251,0.55)&quot; textAnchor=&quot;middle&quot;&gt;新版本生效&lt;/text&gt;&#10;&#10;      {/* 节点间箭头 */}&#10;      &lt;g stroke=&quot;#0891B2&quot; strokeWidth=&quot;2&quot;&gt;&#10;        &lt;line x1=&quot;227&quot; y1=&quot;104&quot; x2=&quot;251&quot; y2=&quot;104&quot; /&gt;&#10;        &lt;line x1=&quot;449&quot; y1=&quot;104&quot; x2=&quot;473&quot; y2=&quot;104&quot; /&gt;&#10;        &lt;line x1=&quot;671&quot; y1=&quot;104&quot; x2=&quot;695&quot; y2=&quot;104&quot; /&gt;&#10;        &lt;line x1=&quot;893&quot; y1=&quot;104&quot; x2=&quot;917&quot; y2=&quot;104&quot; /&gt;&#10;      &lt;/g&gt;&#10;      &lt;g fill=&quot;#0891B2&quot;&gt;&#10;        &lt;path d=&quot;M 259 104 L 249 99 L 249 109 Z&quot; /&gt;&#10;        &lt;path d=&quot;M 481 104 L 471 99 L 471 109 Z&quot; /&gt;&#10;        &lt;path d=&quot;M 703 104 L 693 99 L 693 109 Z&quot; /&gt;&#10;        &lt;path d=&quot;M 925 104 L 915 99 L 915 109 Z&quot; /&gt;&#10;      &lt;/g&gt;&#10;&#10;      {/* 闭环回流 */}&#10;      &lt;path d=&quot;M 1020 54 C 1020 16, 354 16, 354 48&quot; stroke=&quot;rgba(8,145,178,0.55)&quot; strokeWidth=&quot;1.5&quot; strokeDasharray=&quot;6 5&quot; fill=&quot;none&quot; /&gt;&#10;      &lt;path d=&quot;M 354 56 L 349 45 L 359 45 Z&quot; fill=&quot;rgba(8,145,178,0.55)&quot; /&gt;&#10;      &lt;text x=&quot;687&quot; y=&quot;44&quot; fontSize=&quot;13&quot; fill=&quot;rgba(233,240,251,0.55)&quot; textAnchor=&quot;middle&quot;&gt;持续闭环 · 新表现回流为下一轮判断上下文&lt;/text&gt;&#10;&#10;      {/* active 版本连接 */}&#10;      &lt;line x1=&quot;1020&quot; y1=&quot;152&quot; x2=&quot;1020&quot; y2=&quot;196&quot; stroke=&quot;rgba(194,98,10,0.6)&quot; strokeWidth=&quot;1.5&quot; strokeDasharray=&quot;5 4&quot; /&gt;&#10;      &lt;rect x=&quot;880&quot; y=&quot;200&quot; width=&quot;280&quot; height=&quot;56&quot; rx=&quot;10&quot; fill=&quot;rgba(194,98,10,0.12)&quot; stroke=&quot;#C2620A&quot; strokeWidth=&quot;1.5&quot; /&gt;&#10;      &lt;text x=&quot;902&quot; y=&quot;235&quot; fontSize=&quot;18&quot; fontWeight=&quot;bold&quot; fill=&quot;#C2620A&quot; fontFamily=&quot;'Menlo',monospace&quot;&gt;● active v07&lt;/text&gt;&#10;      &lt;text x=&quot;1136&quot; y=&quot;234&quot; fontSize=&quot;12&quot; fill=&quot;rgba(233,240,251,0.55)&quot; textAnchor=&quot;end&quot;&gt;当前生产版本&lt;/text&gt;&#10;      &lt;line x1=&quot;1020&quot; y1=&quot;256&quot; x2=&quot;1020&quot; y2=&quot;292&quot; stroke=&quot;rgba(194,98,10,0.6)&quot; strokeWidth=&quot;1.5&quot; strokeDasharray=&quot;5 4&quot; /&gt;&#10;      &lt;path d=&quot;M 1020 298 L 1015 288 L 1025 288 Z&quot; fill=&quot;rgba(194,98,10,0.7)&quot; /&gt;&#10;&#10;      {/* 下泳道标签 */}&#10;      &lt;rect x=&quot;0&quot; y=&quot;316&quot; width=&quot;200&quot; height=&quot;32&quot; rx=&quot;8&quot; fill=&quot;rgba(233,240,251,0.05)&quot; stroke=&quot;rgba(233,240,251,0.20)&quot; strokeWidth=&quot;1&quot; /&gt;&#10;      &lt;text x=&quot;16&quot; y=&quot;337&quot; fontSize=&quot;14&quot; fontWeight=&quot;bold&quot; fill=&quot;rgba(233,240,251,0.75)&quot;&gt;生产推理路径 · 流水线&lt;/text&gt;&#10;&#10;      &lt;rect x=&quot;240&quot; y=&quot;296&quot; width=&quot;240&quot; height=&quot;96&quot; rx=&quot;10&quot; fill=&quot;rgba(233,240,251,0.05)&quot; stroke=&quot;rgba(233,240,251,0.20)&quot; strokeWidth=&quot;1&quot; /&gt;&#10;      &lt;text x=&quot;360&quot; y=&quot;334&quot; fontSize=&quot;17&quot; fontWeight=&quot;bold&quot; fill=&quot;#E9F0FB&quot; textAnchor=&quot;middle&quot;&gt;每日 00:00 · Cron&lt;/text&gt;&#10;      &lt;text x=&quot;360&quot; y=&quot;362&quot; fontSize=&quot;12.5&quot; fill=&quot;rgba(233,240,251,0.55)&quot; textAnchor=&quot;middle&quot;&gt;自动触发，无人工介入&lt;/text&gt;&#10;&#10;      &lt;rect x=&quot;520&quot; y=&quot;296&quot; width=&quot;240&quot; height=&quot;96&quot; rx=&quot;10&quot; fill=&quot;rgba(8,145,178,0.10)&quot; stroke=&quot;rgba(8,145,178,0.6)&quot; strokeWidth=&quot;1.5&quot; /&gt;&#10;      &lt;text x=&quot;640&quot; y=&quot;334&quot; fontSize=&quot;17&quot; fontWeight=&quot;bold&quot; fill=&quot;#E9F0FB&quot; textAnchor=&quot;middle&quot;&gt;加载 active 模型&lt;/text&gt;&#10;      &lt;text x=&quot;640&quot; y=&quot;362&quot; fontSize=&quot;12.5&quot; fill=&quot;rgba(233,240,251,0.55)&quot; textAnchor=&quot;middle&quot;&gt;永远是上线的版本&lt;/text&gt;&#10;&#10;      &lt;rect x=&quot;800&quot; y=&quot;296&quot; width=&quot;240&quot; height=&quot;96&quot; rx=&quot;10&quot; fill=&quot;rgba(233,240,251,0.05)&quot; stroke=&quot;rgba(233,240,251,0.20)&quot; strokeWidth=&quot;1&quot; /&gt;&#10;      &lt;text x=&quot;920&quot; y=&quot;334&quot; fontSize=&quot;17&quot; fontWeight=&quot;bold&quot; fill=&quot;#E9F0FB&quot; textAnchor=&quot;middle&quot;&gt;输出未来 24h 预测&lt;/text&gt;&#10;      &lt;text x=&quot;920&quot; y=&quot;362&quot; fontSize=&quot;12.5&quot; fill=&quot;rgba(233,240,251,0.55)&quot; textAnchor=&quot;middle&quot;&gt;稳定流水线，每天一次&lt;/text&gt;&#10;&#10;      &lt;g stroke=&quot;#0891B2&quot; strokeWidth=&quot;2&quot;&gt;&#10;        &lt;line x1=&quot;480&quot; y1=&quot;344&quot; x2=&quot;512&quot; y2=&quot;344&quot; /&gt;&#10;        &lt;line x1=&quot;760&quot; y1=&quot;344&quot; x2=&quot;792&quot; y2=&quot;344&quot; /&gt;&#10;      &lt;/g&gt;&#10;      &lt;g fill=&quot;#0891B2&quot;&gt;&#10;        &lt;path d=&quot;M 520 344 L 510 339 L 510 349 Z&quot; /&gt;&#10;        &lt;path d=&quot;M 800 344 L 790 339 L 790 349 Z&quot; /&gt;&#10;      &lt;/g&gt;&#10;    &lt;/svg&gt;&#10;&#10;    {/* 洞察条 */}&#10;    &lt;Box style={{ height: 98, background: 'rgba(233,240,251,0.05)', border: '1px solid rgba(233,240,251,0.14)', borderLeft: '3px solid #0891B2', borderRadius: 10, padding: '16px 20px', flexDirection: 'row', alignItems: 'center', gap: 24 }}&gt;&#10;      &lt;Text style={{ flex: 1, fontSize: 17, color: 'rgba(233,240,251,0.85)', lineHeight: 1.6 }}&gt;不是每天盲目重训——「是否更新、如何更新」由 Agent 在约束下决定；&lt;br /&gt;生产侧每天只做一件事：加载 active 模型，输出未来 24 小时预测。&lt;/Text&gt;&#10;      &lt;Box style={{ padding: '10px 16px', borderRadius: 8, background: 'rgba(194,98,10,0.12)', border: '1px solid rgba(194,98,10,0.5)', flexShrink: 0 }}&gt;&#10;        &lt;Text style={{ fontSize: 14, fontWeight: 'bold', color: '#C2620A', fontFamily: &quot;'Menlo','Courier New',monospace&quot; }}&gt;active = 唯一生产入口&lt;/Text&gt;&#10;      &lt;/Box&gt;&#10;    &lt;/Box&gt;&#10;  &lt;/Box&gt;&#10;&#10;  {/* C · 页脚条 */}&#10;  &lt;Box style={{ height: 24, flexDirection: 'row', justifyContent: 'space-between', alignItems: 'center', flexShrink: 0 }}&gt;&#10;    &lt;Box style={{ flexDirection: 'row', alignItems: 'center', gap: 8 }}&gt;&#10;      &lt;Box style={{ width: 6, height: 6, background: '#0891B2' }} /&gt;&#10;      &lt;Text style={{ fontSize: 12, color: 'rgba(233,240,251,0.40)' }}&gt;烛龙 ZHULONG&lt;/Text&gt;&#10;    &lt;/Box&gt;&#10;    &lt;Text style={{ fontSize: 12, color: 'rgba(233,240,251,0.40)', fontFamily: &quot;'Menlo','Courier New',monospace&quot; }}&gt;04 / 07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730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71500" y="190500"/>
            <a:ext cx="110490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E9F0FB"/>
                </a:solidFill>
                <a:latin typeface="PingFang SC"/>
                <a:ea typeface="PingFang SC"/>
              </a:rPr>
              <a:t>Agent </a:t>
            </a:r>
            <a:r>
              <a:rPr lang="zh-CN" sz="2550" b="1">
                <a:solidFill>
                  <a:srgbClr val="E9F0FB"/>
                </a:solidFill>
                <a:latin typeface="PingFang SC"/>
                <a:ea typeface="PingFang SC"/>
              </a:rPr>
              <a:t>决定如何学习，模型每天稳定地推理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571500" y="762000"/>
            <a:ext cx="419100" cy="28575"/>
          </a:xfrm>
          <a:prstGeom prst="roundRect">
            <a:avLst>
              <a:gd name="adj" fmla="val 66667"/>
            </a:avLst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571500" y="866775"/>
            <a:ext cx="11049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两条运行路径，共用一个</a:t>
            </a:r>
            <a:r>
              <a:rPr lang="en-US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 active </a:t>
            </a:r>
            <a:r>
              <a:rPr lang="zh-CN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模型版本——学习是决策，推理是流水线</a:t>
            </a:r>
            <a:endParaRPr/>
          </a:p>
        </p:txBody>
      </p:sp>
      <p:pic>
        <p:nvPicPr>
          <p:cNvPr id="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181100"/>
            <a:ext cx="11049000" cy="4095750"/>
          </a:xfrm>
          <a:prstGeom prst="rect">
            <a:avLst/>
          </a:prstGeom>
          <a:ln/>
        </p:spPr>
      </p:pic>
      <p:sp>
        <p:nvSpPr>
          <p:cNvPr id="61" name=""/>
          <p:cNvSpPr/>
          <p:nvPr/>
        </p:nvSpPr>
        <p:spPr>
          <a:xfrm rot="0" flipH="0" flipV="0">
            <a:off x="600075" y="5391150"/>
            <a:ext cx="11049000" cy="933450"/>
          </a:xfrm>
          <a:prstGeom prst="roundRect">
            <a:avLst>
              <a:gd name="adj" fmla="val 10204"/>
            </a:avLst>
          </a:prstGeom>
          <a:solidFill>
            <a:srgbClr val="E9F0FB">
              <a:alpha val="5000"/>
            </a:srgbClr>
          </a:solidFill>
          <a:ln/>
        </p:spPr>
        <p:txBody>
          <a:bodyPr/>
          <a:p/>
        </p:txBody>
      </p:sp>
      <p:sp>
        <p:nvSpPr>
          <p:cNvPr id="62" name=""/>
          <p:cNvSpPr/>
          <p:nvPr/>
        </p:nvSpPr>
        <p:spPr>
          <a:xfrm rot="0" flipH="0" flipV="0">
            <a:off x="600075" y="5391150"/>
            <a:ext cx="11049000" cy="933450"/>
          </a:xfrm>
          <a:custGeom>
            <a:pathLst>
              <a:path w="1160" h="98">
                <a:moveTo>
                  <a:pt x="9" y="0"/>
                </a:moveTo>
                <a:cubicBezTo>
                  <a:pt x="6" y="0"/>
                  <a:pt x="3" y="3"/>
                  <a:pt x="3" y="7"/>
                </a:cubicBezTo>
                <a:lnTo>
                  <a:pt x="3" y="91"/>
                </a:lnTo>
                <a:cubicBezTo>
                  <a:pt x="3" y="94"/>
                  <a:pt x="5" y="97"/>
                  <a:pt x="8" y="98"/>
                </a:cubicBezTo>
                <a:cubicBezTo>
                  <a:pt x="3" y="97"/>
                  <a:pt x="0" y="93"/>
                  <a:pt x="0" y="8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891B2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790575" y="5543550"/>
            <a:ext cx="8582025" cy="628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不是每天盲目重训——「是否更新、如何更新」由</a:t>
            </a:r>
            <a:r>
              <a:rPr lang="en-US" sz="12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 Agent </a:t>
            </a:r>
            <a:r>
              <a:rPr lang="zh-CN" sz="12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在约束下决定；</a:t>
            </a:r>
            <a:endParaRPr/>
          </a:p>
          <a:p>
            <a:pPr>
              <a:lnSpc>
                <a:spcPct val="160000"/>
              </a:lnSpc>
            </a:pPr>
            <a:r>
              <a:rPr lang="zh-CN" sz="12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生产侧每天只做一件事：加载</a:t>
            </a:r>
            <a:r>
              <a:rPr lang="en-US" sz="12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 active </a:t>
            </a:r>
            <a:r>
              <a:rPr lang="zh-CN" sz="12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模型，输出未来</a:t>
            </a:r>
            <a:r>
              <a:rPr lang="en-US" sz="12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 24 </a:t>
            </a:r>
            <a:r>
              <a:rPr lang="zh-CN" sz="12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小时预测。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9601200" y="5686425"/>
            <a:ext cx="1828800" cy="352425"/>
          </a:xfrm>
          <a:prstGeom prst="roundRect">
            <a:avLst>
              <a:gd name="adj" fmla="val 21622"/>
            </a:avLst>
          </a:prstGeom>
          <a:solidFill>
            <a:srgbClr val="C2620A">
              <a:alpha val="12000"/>
            </a:srgbClr>
          </a:solidFill>
          <a:ln w="12700">
            <a:solidFill>
              <a:srgbClr val="C2620A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9753600" y="5781675"/>
            <a:ext cx="152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C2620A"/>
                </a:solidFill>
                <a:latin typeface="Menlo"/>
                <a:ea typeface="Menlo"/>
              </a:rPr>
              <a:t>active = </a:t>
            </a:r>
            <a:r>
              <a:rPr lang="zh-CN" sz="1050" b="1">
                <a:solidFill>
                  <a:srgbClr val="C2620A"/>
                </a:solidFill>
                <a:latin typeface="Menlo"/>
                <a:ea typeface="Menlo"/>
              </a:rPr>
              <a:t>唯一生产入口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571500" y="6515100"/>
            <a:ext cx="57150" cy="5715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704850" y="6467475"/>
            <a:ext cx="828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烛龙</a:t>
            </a:r>
            <a:r>
              <a:rPr lang="en-US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 ZHULONG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11134725" y="6467475"/>
            <a:ext cx="485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E9F0FB">
                    <a:alpha val="40000"/>
                  </a:srgbClr>
                </a:solidFill>
                <a:latin typeface="Menlo"/>
                <a:ea typeface="Menlo"/>
              </a:rPr>
              <a:t>04 / 07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69" name="" descr="&lt;Slide style={{ width: '1280px', height: '720px', background: '#0B1730', padding: '20px 60px 16px 60px', fontFamily: &quot;'PingFang SC','Noto Sans SC',sans-serif&quot;, display: 'flex', flexDirection: 'column' }}&gt;&#10;&#10;  {/* A · 标题块 */}&#10;  &lt;Box style={{ height: 92, marginBottom: 12, flexShrink: 0 }}&gt;&#10;    &lt;Text style={{ fontSize: 34, fontWeight: 'bold', color: '#E9F0FB', lineHeight: 1.3 }}&gt;聊天与 Cron，让持续学习成为可运营能力&lt;/Text&gt;&#10;    &lt;Box style={{ width: 44, height: 3, background: '#0891B2', marginTop: 6, marginBottom: 8, borderRadius: 2 }} /&gt;&#10;    &lt;Text style={{ fontSize: 16, color: 'rgba(233,240,251,0.62)' }}&gt;产品入口演示：聊天问数 → 日志沉淀 → 定时训练发布&lt;/Text&gt;&#10;  &lt;/Box&gt;&#10;&#10;  {/* B · 内容区 */}&#10;  &lt;Box style={{ height: 540, marginBottom: 10, flexShrink: 0, flexDirection: 'column', gap: 14 }}&gt;&#10;&#10;    {/* 三帧演示 */}&#10;    &lt;Box style={{ height: 316, flexDirection: 'row', alignItems: 'stretch' }}&gt;&#10;&#10;      {/* 帧1 · 聊天 */}&#10;      &lt;Box style={{ flex: 1, background: 'rgba(233,240,251,0.05)', border: '1px solid rgba(233,240,251,0.14)', borderRadius: 12, flexDirection: 'column', overflow: 'hidden' }}&gt;&#10;        &lt;Box style={{ height: 34, background: 'rgba(233,240,251,0.06)', flexDirection: 'row', alignItems: 'center', gap: 6, paddingLeft: 14, flexShrink: 0 }}&gt;&#10;          &lt;Box style={{ width: 8, height: 8, borderRadius: 4, background: 'rgba(233,240,251,0.25)' }} /&gt;&#10;          &lt;Box style={{ width: 8, height: 8, borderRadius: 4, background: 'rgba(233,240,251,0.25)' }} /&gt;&#10;          &lt;Box style={{ width: 8, height: 8, borderRadius: 4, background: 'rgba(233,240,251,0.25)' }} /&gt;&#10;          &lt;Text style={{ fontSize: 12, color: 'rgba(233,240,251,0.55)', marginLeft: 8, fontFamily: &quot;'Menlo','Courier New',monospace&quot; }}&gt;对话 · 烛龙&lt;/Text&gt;&#10;        &lt;/Box&gt;&#10;        &lt;Box style={{ flex: 1, padding: 14, flexDirection: 'column', gap: 10 }}&gt;&#10;          &lt;Box style={{ alignSelf: 'flex-end', maxWidth: '88%', background: 'rgba(8,145,178,0.16)', borderRadius: 10, padding: 10 }}&gt;&#10;            &lt;Text style={{ fontSize: 14, color: '#E9F0FB', lineHeight: 1.5 }}&gt;分析最近两周的负荷数据，有没有漂移？&lt;/Text&gt;&#10;          &lt;/Box&gt;&#10;          &lt;Box style={{ alignSelf: 'flex-start', width: '94%', background: 'rgba(233,240,251,0.05)', border: '1px solid rgba(233,240,251,0.12)', borderRadius: 10, padding: 10 }}&gt;&#10;            &lt;Text style={{ fontSize: 13, color: 'rgba(233,240,251,0.85)', lineHeight: 1.55 }}&gt;EDM 结论：近 7 天负荷均值上移 4.2%，温度驱动为主，建议 08-28 窗口重训。&lt;/Text&gt;&#10;          &lt;/Box&gt;&#10;          &lt;Text style={{ fontSize: 11, color: 'rgba(233,240,251,0.50)', fontFamily: &quot;'Menlo','Courier New',monospace&quot;, marginTop: 'auto' }}&gt;✓ 结论已写入 EDM 日志&lt;/Text&gt;&#10;        &lt;/Box&gt;&#10;      &lt;/Box&gt;&#10;&#10;      &lt;Box style={{ width: 40, alignItems: 'center', justifyContent: 'center', flexShrink: 0 }}&gt;&#10;        &lt;Text style={{ fontSize: 26, fontWeight: 'bold', color: '#0891B2' }}&gt;→&lt;/Text&gt;&#10;      &lt;/Box&gt;&#10;&#10;      {/* 帧2 · EDM 日志 */}&#10;      &lt;Box style={{ flex: 1, background: 'rgba(233,240,251,0.05)', border: '1px solid rgba(233,240,251,0.14)', borderRadius: 12, flexDirection: 'column', overflow: 'hidden' }}&gt;&#10;        &lt;Box style={{ height: 34, background: 'rgba(233,240,251,0.06)', flexDirection: 'row', alignItems: 'center', gap: 6, paddingLeft: 14, flexShrink: 0 }}&gt;&#10;          &lt;Box style={{ width: 8, height: 8, borderRadius: 4, background: 'rgba(233,240,251,0.25)' }} /&gt;&#10;          &lt;Box style={{ width: 8, height: 8, borderRadius: 4, background: 'rgba(233,240,251,0.25)' }} /&gt;&#10;          &lt;Box style={{ width: 8, height: 8, borderRadius: 4, background: 'rgba(233,240,251,0.25)' }} /&gt;&#10;          &lt;Text style={{ fontSize: 12, color: 'rgba(233,240,251,0.55)', marginLeft: 8, fontFamily: &quot;'Menlo','Courier New',monospace&quot; }}&gt;logs / edm.jsonl&lt;/Text&gt;&#10;        &lt;/Box&gt;&#10;        &lt;Box style={{ flex: 1, padding: 14, flexDirection: 'column', gap: 9 }}&gt;&#10;          &lt;Text style={{ fontSize: 12.5, color: 'rgba(233,240,251,0.75)', fontFamily: &quot;'Menlo','Courier New',monospace&quot; }}&gt;&lt;span style={{ color: 'rgba(233,240,251,0.45)' }}&gt;[08-27 10:00]&lt;/span&gt; &lt;span style={{ color: '#0891B2' }}&gt;edm #012&lt;/span&gt; · recorded&lt;/Text&gt;&#10;          &lt;Text style={{ fontSize: 12.5, color: 'rgba(233,240,251,0.75)', fontFamily: &quot;'Menlo','Courier New',monospace&quot; }}&gt;  均值上移 &lt;span style={{ color: '#E9F0FB', fontWeight: 'bold' }}&gt;+4.2%&lt;/span&gt; · 温度驱动&lt;/Text&gt;&#10;          &lt;Text style={{ fontSize: 12.5, color: 'rgba(233,240,251,0.75)', fontFamily: &quot;'Menlo','Courier New',monospace&quot; }}&gt;  建议重训窗口 &lt;span style={{ color: '#C2620A' }}&gt;08-28&lt;/span&gt;&lt;/Text&gt;&#10;          &lt;Text style={{ fontSize: 12.5, color: 'rgba(233,240,251,0.75)', fontFamily: &quot;'Menlo','Courier New',monospace&quot; }}&gt;&lt;span style={{ color: 'rgba(233,240,251,0.45)' }}&gt;[08-28 06:00]&lt;/span&gt; &lt;span style={{ color: '#0891B2' }}&gt;train&lt;/span&gt; start · 读取 #012&lt;/Text&gt;&#10;          &lt;Text style={{ fontSize: 12.5, color: 'rgba(233,240,251,0.75)', fontFamily: &quot;'Menlo','Courier New',monospace&quot; }}&gt;&lt;span style={{ color: 'rgba(233,240,251,0.45)' }}&gt;[08-28 06:40]&lt;/span&gt; &lt;span style={{ color: '#0891B2' }}&gt;validate&lt;/span&gt; pass · 时序口径&lt;/Text&gt;&#10;          &lt;Box style={{ marginTop: 'auto', alignSelf: 'flex-start', background: 'rgba(8,145,178,0.10)', border: '1px solid rgba(8,145,178,0.45)', borderRadius: 6, padding: '6px 10px' }}&gt;&#10;            &lt;Text style={{ fontSize: 12, color: '#0891B2', fontFamily: &quot;'Menlo','Courier New',monospace&quot; }}&gt;沉淀为日志与上下文 ✓&lt;/Text&gt;&#10;          &lt;/Box&gt;&#10;        &lt;/Box&gt;&#10;      &lt;/Box&gt;&#10;&#10;      &lt;Box style={{ width: 40, alignItems: 'center', justifyContent: 'center', flexShrink: 0 }}&gt;&#10;        &lt;Text style={{ fontSize: 26, fontWeight: 'bold', color: '#0891B2' }}&gt;→&lt;/Text&gt;&#10;      &lt;/Box&gt;&#10;&#10;      {/* 帧3 · Cron 训练发布 */}&#10;      &lt;Box style={{ flex: 1, background: 'rgba(233,240,251,0.05)', border: '1px solid rgba(233,240,251,0.14)', borderRadius: 12, flexDirection: 'column', overflow: 'hidden' }}&gt;&#10;        &lt;Box style={{ height: 34, background: 'rgba(233,240,251,0.06)', flexDirection: 'row', alignItems: 'center', gap: 6, paddingLeft: 14, flexShrink: 0 }}&gt;&#10;          &lt;Box style={{ width: 8, height: 8, borderRadius: 4, background: 'rgba(233,240,251,0.25)' }} /&gt;&#10;          &lt;Box style={{ width: 8, height: 8, borderRadius: 4, background: 'rgba(233,240,251,0.25)' }} /&gt;&#10;          &lt;Box style={{ width: 8, height: 8, borderRadius: 4, background: 'rgba(233,240,251,0.25)' }} /&gt;&#10;          &lt;Text style={{ fontSize: 12, color: 'rgba(233,240,251,0.55)', marginLeft: 8, fontFamily: &quot;'Menlo','Courier New',monospace&quot; }}&gt;cron · train-deploy&lt;/Text&gt;&#10;        &lt;/Box&gt;&#10;        &lt;Box style={{ flex: 1, padding: 14, flexDirection: 'column', gap: 9 }}&gt;&#10;          &lt;Box style={{ background: 'rgba(233,240,251,0.05)', borderRadius: 8, padding: '8px 10px' }}&gt;&#10;            &lt;Text style={{ fontSize: 13, color: '#0891B2', fontFamily: &quot;'Menlo','Courier New',monospace&quot; }}&gt;0 6 * * * → train → validate → deploy&lt;/Text&gt;&#10;          &lt;/Box&gt;&#10;          &lt;Text style={{ fontSize: 12.5, color: 'rgba(233,240,251,0.75)', fontFamily: &quot;'Menlo','Courier New',monospace&quot; }}&gt;&lt;span style={{ color: 'rgba(233,240,251,0.45)' }}&gt;[08-28 06:41]&lt;/span&gt; v07 训练完成&lt;/Text&gt;&#10;          &lt;Text style={{ fontSize: 12.5, color: 'rgba(233,240,251,0.75)', fontFamily: &quot;'Menlo','Courier New',monospace&quot; }}&gt;  WAPE 3.71% → &lt;span style={{ color: '#0891B2', fontWeight: 'bold' }}&gt;3.67%&lt;/span&gt; ✓&lt;/Text&gt;&#10;          &lt;Text style={{ fontSize: 12.5, color: 'rgba(233,240,251,0.75)', fontFamily: &quot;'Menlo','Courier New',monospace&quot; }}&gt;  发布通过验证 · 切换版本&lt;/Text&gt;&#10;          &lt;Box style={{ marginTop: 'auto', flexDirection: 'row', alignItems: 'center', gap: 10 }}&gt;&#10;            &lt;Text style={{ fontSize: 12, color: 'rgba(233,240,251,0.55)' }}&gt;当前版本&lt;/Text&gt;&#10;            &lt;Box style={{ background: 'rgba(194,98,10,0.18)', border: '1px solid rgba(194,98,10,0.6)', borderRadius: 6, padding: '6px 10px' }}&gt;&#10;              &lt;Text style={{ fontSize: 13, fontWeight: 'bold', color: '#C2620A', fontFamily: &quot;'Menlo','Courier New',monospace&quot; }}&gt;● active v07&lt;/Text&gt;&#10;            &lt;/Box&gt;&#10;          &lt;/Box&gt;&#10;        &lt;/Box&gt;&#10;      &lt;/Box&gt;&#10;    &lt;/Box&gt;&#10;&#10;    {/* 价值句 */}&#10;    &lt;Box style={{ height: 210, flexDirection: 'row', gap: 24 }}&gt;&#10;      &lt;Box style={{ width: '62%', flexDirection: 'column' }}&gt;&#10;        &lt;Text style={{ fontSize: 14, fontWeight: 'bold', color: '#C2620A', letterSpacing: 2 }}&gt;产业客户看到的是&lt;/Text&gt;&#10;        &lt;Text style={{ fontSize: 22, fontWeight: 'bold', color: '#E9F0FB', marginTop: 6 }}&gt;可用 · 可查 · 可审计&lt;/Text&gt;&#10;        &lt;Box style={{ flexDirection: 'column', gap: 8, marginTop: 14 }}&gt;&#10;          &lt;Text style={{ fontSize: 14.5, color: 'rgba(233,240,251,0.75)' }}&gt;&lt;span style={{ color: '#0891B2' }}&gt;●&lt;/span&gt;  可用——自然语言发起分析，不需要算法团队&lt;/Text&gt;&#10;          &lt;Text style={{ fontSize: 14.5, color: 'rgba(233,240,251,0.75)' }}&gt;&lt;span style={{ color: '#0891B2' }}&gt;●&lt;/span&gt;  可查——每次 EDM 结论沉淀为日志与上下文&lt;/Text&gt;&#10;          &lt;Text style={{ fontSize: 14.5, color: 'rgba(233,240,251,0.75)' }}&gt;&lt;span style={{ color: '#0891B2' }}&gt;●&lt;/span&gt;  可审计——模型版本与验证指标全程留痕&lt;/Text&gt;&#10;        &lt;/Box&gt;&#10;      &lt;/Box&gt;&#10;      &lt;Box style={{ flex: 1, background: 'rgba(8,145,178,0.07)', border: '1px solid rgba(8,145,178,0.35)', borderLeft: '3px solid #0891B2', borderRadius: 10, padding: 20, flexDirection: 'column' }}&gt;&#10;        &lt;Text style={{ fontSize: 14, fontWeight: 'bold', color: '#0891B2', letterSpacing: 2 }}&gt;投资人看到的是&lt;/Text&gt;&#10;        &lt;Text style={{ fontSize: 20, fontWeight: 'bold', color: '#E9F0FB', marginTop: 6 }}&gt;可复制的产品闭环&lt;/Text&gt;&#10;        &lt;Text style={{ fontSize: 13.5, color: 'rgba(233,240,251,0.70)', lineHeight: 1.6, marginTop: 10 }}&gt;聊天与 Cron 不是功能点缀，而是持续学习的运营入口——每一次交互，都在让模型变好。&lt;/Text&gt;&#10;      &lt;/Box&gt;&#10;    &lt;/Box&gt;&#10;  &lt;/Box&gt;&#10;&#10;  {/* C · 页脚条 */}&#10;  &lt;Box style={{ height: 24, flexDirection: 'row', justifyContent: 'space-between', alignItems: 'center', flexShrink: 0 }}&gt;&#10;    &lt;Box style={{ flexDirection: 'row', alignItems: 'center', gap: 8 }}&gt;&#10;      &lt;Box style={{ width: 6, height: 6, background: '#0891B2' }} /&gt;&#10;      &lt;Text style={{ fontSize: 12, color: 'rgba(233,240,251,0.40)' }}&gt;烛龙 ZHULONG&lt;/Text&gt;&#10;    &lt;/Box&gt;&#10;    &lt;Text style={{ fontSize: 12, color: 'rgba(233,240,251,0.40)', fontFamily: &quot;'Menlo','Courier New',monospace&quot; }}&gt;05 / 07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730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571500" y="190500"/>
            <a:ext cx="110490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E9F0FB"/>
                </a:solidFill>
                <a:latin typeface="PingFang SC"/>
                <a:ea typeface="PingFang SC"/>
              </a:rPr>
              <a:t>聊天与</a:t>
            </a:r>
            <a:r>
              <a:rPr lang="en-US" sz="2550" b="1">
                <a:solidFill>
                  <a:srgbClr val="E9F0FB"/>
                </a:solidFill>
                <a:latin typeface="PingFang SC"/>
                <a:ea typeface="PingFang SC"/>
              </a:rPr>
              <a:t> Cron</a:t>
            </a:r>
            <a:r>
              <a:rPr lang="zh-CN" sz="2550" b="1">
                <a:solidFill>
                  <a:srgbClr val="E9F0FB"/>
                </a:solidFill>
                <a:latin typeface="PingFang SC"/>
                <a:ea typeface="PingFang SC"/>
              </a:rPr>
              <a:t>，让持续学习成为可运营能力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571500" y="762000"/>
            <a:ext cx="419100" cy="28575"/>
          </a:xfrm>
          <a:prstGeom prst="roundRect">
            <a:avLst>
              <a:gd name="adj" fmla="val 66667"/>
            </a:avLst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571500" y="866775"/>
            <a:ext cx="11049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产品入口演示：聊天问数</a:t>
            </a:r>
            <a:r>
              <a:rPr lang="en-US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 → </a:t>
            </a:r>
            <a:r>
              <a:rPr lang="zh-CN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日志沉淀</a:t>
            </a:r>
            <a:r>
              <a:rPr lang="en-US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 → </a:t>
            </a:r>
            <a:r>
              <a:rPr lang="zh-CN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定时训练发布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571500" y="1181100"/>
            <a:ext cx="3429000" cy="3009900"/>
          </a:xfrm>
          <a:prstGeom prst="roundRect">
            <a:avLst>
              <a:gd name="adj" fmla="val 3797"/>
            </a:avLst>
          </a:prstGeom>
          <a:solidFill>
            <a:srgbClr val="E9F0FB">
              <a:alpha val="5000"/>
            </a:srgbClr>
          </a:solidFill>
          <a:ln w="12700">
            <a:solidFill>
              <a:srgbClr val="E9F0FB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571500" y="1181100"/>
            <a:ext cx="3429000" cy="323850"/>
          </a:xfrm>
          <a:custGeom>
            <a:pathLst>
              <a:path w="360" h="34">
                <a:moveTo>
                  <a:pt x="348" y="0"/>
                </a:moveTo>
                <a:cubicBezTo>
                  <a:pt x="355" y="0"/>
                  <a:pt x="360" y="5"/>
                  <a:pt x="360" y="12"/>
                </a:cubicBezTo>
                <a:lnTo>
                  <a:pt x="360" y="34"/>
                </a:lnTo>
                <a:lnTo>
                  <a:pt x="0" y="34"/>
                </a:ln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348" y="0"/>
                </a:lnTo>
                <a:close/>
              </a:path>
            </a:pathLst>
          </a:custGeom>
          <a:solidFill>
            <a:srgbClr val="E9F0FB">
              <a:alpha val="6000"/>
            </a:srgbClr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704850" y="1304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9F0FB">
              <a:alpha val="25000"/>
            </a:srgbClr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838200" y="1304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9F0FB">
              <a:alpha val="25000"/>
            </a:srgbClr>
          </a:solidFill>
          <a:ln/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971550" y="1304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9F0FB">
              <a:alpha val="25000"/>
            </a:srgbClr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181100" y="1276350"/>
            <a:ext cx="666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E9F0FB">
                    <a:alpha val="55000"/>
                  </a:srgbClr>
                </a:solidFill>
                <a:latin typeface="Menlo"/>
                <a:ea typeface="Menlo"/>
              </a:rPr>
              <a:t>对话</a:t>
            </a:r>
            <a:r>
              <a:rPr lang="en-US" sz="900">
                <a:solidFill>
                  <a:srgbClr val="E9F0FB">
                    <a:alpha val="55000"/>
                  </a:srgbClr>
                </a:solidFill>
                <a:latin typeface="Menlo"/>
                <a:ea typeface="Menlo"/>
              </a:rPr>
              <a:t> · </a:t>
            </a:r>
            <a:r>
              <a:rPr lang="zh-CN" sz="900">
                <a:solidFill>
                  <a:srgbClr val="E9F0FB">
                    <a:alpha val="55000"/>
                  </a:srgbClr>
                </a:solidFill>
                <a:latin typeface="Menlo"/>
                <a:ea typeface="Menlo"/>
              </a:rPr>
              <a:t>烛龙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1276350" y="1638300"/>
            <a:ext cx="2590800" cy="438150"/>
          </a:xfrm>
          <a:prstGeom prst="roundRect">
            <a:avLst>
              <a:gd name="adj" fmla="val 21739"/>
            </a:avLst>
          </a:prstGeom>
          <a:solidFill>
            <a:srgbClr val="0891B2">
              <a:alpha val="16000"/>
            </a:srgbClr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371600" y="1733550"/>
            <a:ext cx="24003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E9F0FB"/>
                </a:solidFill>
                <a:latin typeface="PingFang SC"/>
                <a:ea typeface="PingFang SC"/>
              </a:rPr>
              <a:t>分析最近两周的负荷数据，有没有漂移？</a:t>
            </a:r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704850" y="2171700"/>
            <a:ext cx="2971800" cy="657225"/>
          </a:xfrm>
          <a:prstGeom prst="roundRect">
            <a:avLst>
              <a:gd name="adj" fmla="val 14493"/>
            </a:avLst>
          </a:prstGeom>
          <a:solidFill>
            <a:srgbClr val="E9F0FB">
              <a:alpha val="5000"/>
            </a:srgbClr>
          </a:solidFill>
          <a:ln w="12700">
            <a:solidFill>
              <a:srgbClr val="E9F0FB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00100" y="2266950"/>
            <a:ext cx="27813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EDM </a:t>
            </a:r>
            <a:r>
              <a:rPr lang="zh-CN" sz="9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结论：近</a:t>
            </a:r>
            <a:r>
              <a:rPr lang="en-US" sz="9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 7 </a:t>
            </a:r>
            <a:r>
              <a:rPr lang="zh-CN" sz="9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天负荷均值上移</a:t>
            </a:r>
            <a:r>
              <a:rPr lang="en-US" sz="9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 4.2%</a:t>
            </a:r>
            <a:r>
              <a:rPr lang="zh-CN" sz="9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，温度驱动为主，建议</a:t>
            </a:r>
            <a:r>
              <a:rPr lang="en-US" sz="9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 08-28 </a:t>
            </a:r>
            <a:r>
              <a:rPr lang="zh-CN" sz="975">
                <a:solidFill>
                  <a:srgbClr val="E9F0FB">
                    <a:alpha val="85000"/>
                  </a:srgbClr>
                </a:solidFill>
                <a:latin typeface="PingFang SC"/>
                <a:ea typeface="PingFang SC"/>
              </a:rPr>
              <a:t>窗口重训。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04850" y="3924300"/>
            <a:ext cx="3162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E9F0FB">
                    <a:alpha val="50000"/>
                  </a:srgbClr>
                </a:solidFill>
                <a:latin typeface="Menlo"/>
                <a:ea typeface="Menlo"/>
              </a:rPr>
              <a:t>✓ </a:t>
            </a:r>
            <a:r>
              <a:rPr lang="zh-CN" sz="825">
                <a:solidFill>
                  <a:srgbClr val="E9F0FB">
                    <a:alpha val="50000"/>
                  </a:srgbClr>
                </a:solidFill>
                <a:latin typeface="Menlo"/>
                <a:ea typeface="Menlo"/>
              </a:rPr>
              <a:t>结论已写入</a:t>
            </a:r>
            <a:r>
              <a:rPr lang="en-US" sz="825">
                <a:solidFill>
                  <a:srgbClr val="E9F0FB">
                    <a:alpha val="50000"/>
                  </a:srgbClr>
                </a:solidFill>
                <a:latin typeface="Menlo"/>
                <a:ea typeface="Menlo"/>
              </a:rPr>
              <a:t> EDM </a:t>
            </a:r>
            <a:r>
              <a:rPr lang="zh-CN" sz="825">
                <a:solidFill>
                  <a:srgbClr val="E9F0FB">
                    <a:alpha val="50000"/>
                  </a:srgbClr>
                </a:solidFill>
                <a:latin typeface="Menlo"/>
                <a:ea typeface="Menlo"/>
              </a:rPr>
              <a:t>日志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4067175" y="2533650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b="1">
                <a:solidFill>
                  <a:srgbClr val="0891B2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4381500" y="1181100"/>
            <a:ext cx="3429000" cy="3009900"/>
          </a:xfrm>
          <a:prstGeom prst="roundRect">
            <a:avLst>
              <a:gd name="adj" fmla="val 3797"/>
            </a:avLst>
          </a:prstGeom>
          <a:solidFill>
            <a:srgbClr val="E9F0FB">
              <a:alpha val="5000"/>
            </a:srgbClr>
          </a:solidFill>
          <a:ln w="12700">
            <a:solidFill>
              <a:srgbClr val="E9F0FB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4381500" y="1181100"/>
            <a:ext cx="3429000" cy="323850"/>
          </a:xfrm>
          <a:custGeom>
            <a:pathLst>
              <a:path w="360" h="34">
                <a:moveTo>
                  <a:pt x="348" y="0"/>
                </a:moveTo>
                <a:cubicBezTo>
                  <a:pt x="355" y="0"/>
                  <a:pt x="360" y="5"/>
                  <a:pt x="360" y="12"/>
                </a:cubicBezTo>
                <a:lnTo>
                  <a:pt x="360" y="34"/>
                </a:lnTo>
                <a:lnTo>
                  <a:pt x="0" y="34"/>
                </a:ln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348" y="0"/>
                </a:lnTo>
                <a:close/>
              </a:path>
            </a:pathLst>
          </a:custGeom>
          <a:solidFill>
            <a:srgbClr val="E9F0FB">
              <a:alpha val="6000"/>
            </a:srgbClr>
          </a:solidFill>
          <a:ln/>
        </p:spPr>
        <p:txBody>
          <a:bodyPr/>
          <a:p/>
        </p:txBody>
      </p:sp>
      <p:sp>
        <p:nvSpPr>
          <p:cNvPr id="88" name=""/>
          <p:cNvSpPr/>
          <p:nvPr/>
        </p:nvSpPr>
        <p:spPr>
          <a:xfrm rot="0" flipH="0" flipV="0">
            <a:off x="4514850" y="1304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9F0FB">
              <a:alpha val="25000"/>
            </a:srgbClr>
          </a:solidFill>
          <a:ln/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4648200" y="1304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9F0FB">
              <a:alpha val="25000"/>
            </a:srgbClr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4781550" y="1304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9F0FB">
              <a:alpha val="25000"/>
            </a:srgbClr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4991100" y="1276350"/>
            <a:ext cx="1104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E9F0FB">
                    <a:alpha val="55000"/>
                  </a:srgbClr>
                </a:solidFill>
                <a:latin typeface="Menlo"/>
                <a:ea typeface="Menlo"/>
              </a:rPr>
              <a:t>logs / edm.jsonl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4514850" y="1638300"/>
            <a:ext cx="3162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E9F0FB">
                    <a:alpha val="45000"/>
                  </a:srgbClr>
                </a:solidFill>
                <a:latin typeface="Menlo"/>
                <a:ea typeface="Menlo"/>
              </a:rPr>
              <a:t>[08-27 10:00]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</a:t>
            </a:r>
            <a:r>
              <a:rPr lang="en-US" sz="938">
                <a:solidFill>
                  <a:srgbClr val="0891B2"/>
                </a:solidFill>
                <a:latin typeface="Menlo"/>
                <a:ea typeface="Menlo"/>
              </a:rPr>
              <a:t>edm #012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· recorded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4514850" y="1866900"/>
            <a:ext cx="3162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 </a:t>
            </a:r>
            <a:r>
              <a:rPr lang="zh-CN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均值上移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</a:t>
            </a:r>
            <a:r>
              <a:rPr lang="en-US" sz="938" b="1">
                <a:solidFill>
                  <a:srgbClr val="E9F0FB"/>
                </a:solidFill>
                <a:latin typeface="Menlo"/>
                <a:ea typeface="Menlo"/>
              </a:rPr>
              <a:t>+4.2%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· </a:t>
            </a:r>
            <a:r>
              <a:rPr lang="zh-CN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温度驱动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514850" y="2095500"/>
            <a:ext cx="3162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 </a:t>
            </a:r>
            <a:r>
              <a:rPr lang="zh-CN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建议重训窗口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</a:t>
            </a:r>
            <a:r>
              <a:rPr lang="en-US" sz="938">
                <a:solidFill>
                  <a:srgbClr val="C2620A"/>
                </a:solidFill>
                <a:latin typeface="Menlo"/>
                <a:ea typeface="Menlo"/>
              </a:rPr>
              <a:t>08-28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514850" y="2324100"/>
            <a:ext cx="3162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E9F0FB">
                    <a:alpha val="45000"/>
                  </a:srgbClr>
                </a:solidFill>
                <a:latin typeface="Menlo"/>
                <a:ea typeface="Menlo"/>
              </a:rPr>
              <a:t>[08-28 06:00]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</a:t>
            </a:r>
            <a:r>
              <a:rPr lang="en-US" sz="938">
                <a:solidFill>
                  <a:srgbClr val="0891B2"/>
                </a:solidFill>
                <a:latin typeface="Menlo"/>
                <a:ea typeface="Menlo"/>
              </a:rPr>
              <a:t>train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start · </a:t>
            </a:r>
            <a:r>
              <a:rPr lang="zh-CN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读取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#012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514850" y="2552700"/>
            <a:ext cx="3162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E9F0FB">
                    <a:alpha val="45000"/>
                  </a:srgbClr>
                </a:solidFill>
                <a:latin typeface="Menlo"/>
                <a:ea typeface="Menlo"/>
              </a:rPr>
              <a:t>[08-28 06:40]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</a:t>
            </a:r>
            <a:r>
              <a:rPr lang="en-US" sz="938">
                <a:solidFill>
                  <a:srgbClr val="0891B2"/>
                </a:solidFill>
                <a:latin typeface="Menlo"/>
                <a:ea typeface="Menlo"/>
              </a:rPr>
              <a:t>validate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pass · </a:t>
            </a:r>
            <a:r>
              <a:rPr lang="zh-CN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时序口径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4514850" y="3800475"/>
            <a:ext cx="1362075" cy="257175"/>
          </a:xfrm>
          <a:prstGeom prst="roundRect">
            <a:avLst>
              <a:gd name="adj" fmla="val 22222"/>
            </a:avLst>
          </a:prstGeom>
          <a:solidFill>
            <a:srgbClr val="0891B2">
              <a:alpha val="10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4610100" y="3857625"/>
            <a:ext cx="1171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891B2"/>
                </a:solidFill>
                <a:latin typeface="Menlo"/>
                <a:ea typeface="Menlo"/>
              </a:rPr>
              <a:t>沉淀为日志与上下文</a:t>
            </a:r>
            <a:r>
              <a:rPr lang="en-US" sz="900">
                <a:solidFill>
                  <a:srgbClr val="0891B2"/>
                </a:solidFill>
                <a:latin typeface="Menlo"/>
                <a:ea typeface="Menlo"/>
              </a:rPr>
              <a:t> ✓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877175" y="2533650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b="1">
                <a:solidFill>
                  <a:srgbClr val="0891B2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8191500" y="1181100"/>
            <a:ext cx="3429000" cy="3009900"/>
          </a:xfrm>
          <a:prstGeom prst="roundRect">
            <a:avLst>
              <a:gd name="adj" fmla="val 3797"/>
            </a:avLst>
          </a:prstGeom>
          <a:solidFill>
            <a:srgbClr val="E9F0FB">
              <a:alpha val="5000"/>
            </a:srgbClr>
          </a:solidFill>
          <a:ln w="12700">
            <a:solidFill>
              <a:srgbClr val="E9F0FB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1" name=""/>
          <p:cNvSpPr/>
          <p:nvPr/>
        </p:nvSpPr>
        <p:spPr>
          <a:xfrm rot="0" flipH="0" flipV="0">
            <a:off x="8191500" y="1181100"/>
            <a:ext cx="3429000" cy="323850"/>
          </a:xfrm>
          <a:custGeom>
            <a:pathLst>
              <a:path w="360" h="34">
                <a:moveTo>
                  <a:pt x="348" y="0"/>
                </a:moveTo>
                <a:cubicBezTo>
                  <a:pt x="355" y="0"/>
                  <a:pt x="360" y="5"/>
                  <a:pt x="360" y="12"/>
                </a:cubicBezTo>
                <a:lnTo>
                  <a:pt x="360" y="34"/>
                </a:lnTo>
                <a:lnTo>
                  <a:pt x="0" y="34"/>
                </a:ln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348" y="0"/>
                </a:lnTo>
                <a:close/>
              </a:path>
            </a:pathLst>
          </a:custGeom>
          <a:solidFill>
            <a:srgbClr val="E9F0FB">
              <a:alpha val="6000"/>
            </a:srgbClr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8324850" y="1304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9F0FB">
              <a:alpha val="25000"/>
            </a:srgbClr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8458200" y="1304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9F0FB">
              <a:alpha val="25000"/>
            </a:srgbClr>
          </a:solidFill>
          <a:ln/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8591550" y="1304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9F0FB">
              <a:alpha val="25000"/>
            </a:srgbClr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8801100" y="1276350"/>
            <a:ext cx="1314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E9F0FB">
                    <a:alpha val="55000"/>
                  </a:srgbClr>
                </a:solidFill>
                <a:latin typeface="Menlo"/>
                <a:ea typeface="Menlo"/>
              </a:rPr>
              <a:t>cron · train-deploy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8324850" y="1638300"/>
            <a:ext cx="3162300" cy="304800"/>
          </a:xfrm>
          <a:prstGeom prst="roundRect">
            <a:avLst>
              <a:gd name="adj" fmla="val 25000"/>
            </a:avLst>
          </a:prstGeom>
          <a:solidFill>
            <a:srgbClr val="E9F0FB">
              <a:alpha val="5000"/>
            </a:srgbClr>
          </a:solidFill>
          <a:ln/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8420100" y="17145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0891B2"/>
                </a:solidFill>
                <a:latin typeface="Menlo"/>
                <a:ea typeface="Menlo"/>
              </a:rPr>
              <a:t>0 6 * * * → train → validate → deploy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8324850" y="2028825"/>
            <a:ext cx="3162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E9F0FB">
                    <a:alpha val="45000"/>
                  </a:srgbClr>
                </a:solidFill>
                <a:latin typeface="Menlo"/>
                <a:ea typeface="Menlo"/>
              </a:rPr>
              <a:t>[08-28 06:41]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v07 </a:t>
            </a:r>
            <a:r>
              <a:rPr lang="zh-CN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训练完成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8324850" y="2257425"/>
            <a:ext cx="3162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 WAPE 3.71% → </a:t>
            </a:r>
            <a:r>
              <a:rPr lang="en-US" sz="938" b="1">
                <a:solidFill>
                  <a:srgbClr val="0891B2"/>
                </a:solidFill>
                <a:latin typeface="Menlo"/>
                <a:ea typeface="Menlo"/>
              </a:rPr>
              <a:t>3.67%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✓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8324850" y="2486025"/>
            <a:ext cx="3162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 </a:t>
            </a:r>
            <a:r>
              <a:rPr lang="zh-CN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发布通过验证</a:t>
            </a:r>
            <a:r>
              <a:rPr lang="en-US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 · </a:t>
            </a:r>
            <a:r>
              <a:rPr lang="zh-CN" sz="938">
                <a:solidFill>
                  <a:srgbClr val="E9F0FB">
                    <a:alpha val="75000"/>
                  </a:srgbClr>
                </a:solidFill>
                <a:latin typeface="Menlo"/>
                <a:ea typeface="Menlo"/>
              </a:rPr>
              <a:t>切换版本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8324850" y="38576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E9F0FB">
                    <a:alpha val="55000"/>
                  </a:srgbClr>
                </a:solidFill>
                <a:latin typeface="PingFang SC"/>
                <a:ea typeface="PingFang SC"/>
              </a:rPr>
              <a:t>当前版本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8877300" y="3790950"/>
            <a:ext cx="1085850" cy="266700"/>
          </a:xfrm>
          <a:prstGeom prst="roundRect">
            <a:avLst>
              <a:gd name="adj" fmla="val 21429"/>
            </a:avLst>
          </a:prstGeom>
          <a:solidFill>
            <a:srgbClr val="C2620A">
              <a:alpha val="18000"/>
            </a:srgbClr>
          </a:solidFill>
          <a:ln w="12700">
            <a:solidFill>
              <a:srgbClr val="C2620A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8972550" y="3848100"/>
            <a:ext cx="895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C2620A"/>
                </a:solidFill>
                <a:latin typeface="Menlo"/>
                <a:ea typeface="Menlo"/>
              </a:rPr>
              <a:t>● active v07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571500" y="4324350"/>
            <a:ext cx="684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 spc="150">
                <a:solidFill>
                  <a:srgbClr val="C2620A"/>
                </a:solidFill>
                <a:latin typeface="PingFang SC"/>
                <a:ea typeface="PingFang SC"/>
              </a:rPr>
              <a:t>产业客户看到的是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571500" y="4543425"/>
            <a:ext cx="6848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9F0FB"/>
                </a:solidFill>
                <a:latin typeface="PingFang SC"/>
                <a:ea typeface="PingFang SC"/>
              </a:rPr>
              <a:t>可用</a:t>
            </a:r>
            <a:r>
              <a:rPr lang="en-US" sz="1650" b="1">
                <a:solidFill>
                  <a:srgbClr val="E9F0FB"/>
                </a:solidFill>
                <a:latin typeface="PingFang SC"/>
                <a:ea typeface="PingFang SC"/>
              </a:rPr>
              <a:t> · </a:t>
            </a:r>
            <a:r>
              <a:rPr lang="zh-CN" sz="1650" b="1">
                <a:solidFill>
                  <a:srgbClr val="E9F0FB"/>
                </a:solidFill>
                <a:latin typeface="PingFang SC"/>
                <a:ea typeface="PingFang SC"/>
              </a:rPr>
              <a:t>可查</a:t>
            </a:r>
            <a:r>
              <a:rPr lang="en-US" sz="1650" b="1">
                <a:solidFill>
                  <a:srgbClr val="E9F0FB"/>
                </a:solidFill>
                <a:latin typeface="PingFang SC"/>
                <a:ea typeface="PingFang SC"/>
              </a:rPr>
              <a:t> · </a:t>
            </a:r>
            <a:r>
              <a:rPr lang="zh-CN" sz="1650" b="1">
                <a:solidFill>
                  <a:srgbClr val="E9F0FB"/>
                </a:solidFill>
                <a:latin typeface="PingFang SC"/>
                <a:ea typeface="PingFang SC"/>
              </a:rPr>
              <a:t>可审计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71500" y="4933950"/>
            <a:ext cx="6848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88">
                <a:solidFill>
                  <a:srgbClr val="0891B2"/>
                </a:solidFill>
                <a:latin typeface="PingFang SC"/>
                <a:ea typeface="PingFang SC"/>
              </a:rPr>
              <a:t>●</a:t>
            </a:r>
            <a:r>
              <a:rPr lang="en-US" sz="1088">
                <a:solidFill>
                  <a:srgbClr val="E9F0FB">
                    <a:alpha val="75000"/>
                  </a:srgbClr>
                </a:solidFill>
                <a:latin typeface="PingFang SC"/>
                <a:ea typeface="PingFang SC"/>
              </a:rPr>
              <a:t>  </a:t>
            </a:r>
            <a:r>
              <a:rPr lang="zh-CN" sz="1088">
                <a:solidFill>
                  <a:srgbClr val="E9F0FB">
                    <a:alpha val="75000"/>
                  </a:srgbClr>
                </a:solidFill>
                <a:latin typeface="PingFang SC"/>
                <a:ea typeface="PingFang SC"/>
              </a:rPr>
              <a:t>可用——自然语言发起分析，不需要算法团队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571500" y="5181600"/>
            <a:ext cx="6848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88">
                <a:solidFill>
                  <a:srgbClr val="0891B2"/>
                </a:solidFill>
                <a:latin typeface="PingFang SC"/>
                <a:ea typeface="PingFang SC"/>
              </a:rPr>
              <a:t>●</a:t>
            </a:r>
            <a:r>
              <a:rPr lang="en-US" sz="1088">
                <a:solidFill>
                  <a:srgbClr val="E9F0FB">
                    <a:alpha val="75000"/>
                  </a:srgbClr>
                </a:solidFill>
                <a:latin typeface="PingFang SC"/>
                <a:ea typeface="PingFang SC"/>
              </a:rPr>
              <a:t>  </a:t>
            </a:r>
            <a:r>
              <a:rPr lang="zh-CN" sz="1088">
                <a:solidFill>
                  <a:srgbClr val="E9F0FB">
                    <a:alpha val="75000"/>
                  </a:srgbClr>
                </a:solidFill>
                <a:latin typeface="PingFang SC"/>
                <a:ea typeface="PingFang SC"/>
              </a:rPr>
              <a:t>可查——每次</a:t>
            </a:r>
            <a:r>
              <a:rPr lang="en-US" sz="1088">
                <a:solidFill>
                  <a:srgbClr val="E9F0FB">
                    <a:alpha val="75000"/>
                  </a:srgbClr>
                </a:solidFill>
                <a:latin typeface="PingFang SC"/>
                <a:ea typeface="PingFang SC"/>
              </a:rPr>
              <a:t> EDM </a:t>
            </a:r>
            <a:r>
              <a:rPr lang="zh-CN" sz="1088">
                <a:solidFill>
                  <a:srgbClr val="E9F0FB">
                    <a:alpha val="75000"/>
                  </a:srgbClr>
                </a:solidFill>
                <a:latin typeface="PingFang SC"/>
                <a:ea typeface="PingFang SC"/>
              </a:rPr>
              <a:t>结论沉淀为日志与上下文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71500" y="5429250"/>
            <a:ext cx="6848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88">
                <a:solidFill>
                  <a:srgbClr val="0891B2"/>
                </a:solidFill>
                <a:latin typeface="PingFang SC"/>
                <a:ea typeface="PingFang SC"/>
              </a:rPr>
              <a:t>●</a:t>
            </a:r>
            <a:r>
              <a:rPr lang="en-US" sz="1088">
                <a:solidFill>
                  <a:srgbClr val="E9F0FB">
                    <a:alpha val="75000"/>
                  </a:srgbClr>
                </a:solidFill>
                <a:latin typeface="PingFang SC"/>
                <a:ea typeface="PingFang SC"/>
              </a:rPr>
              <a:t>  </a:t>
            </a:r>
            <a:r>
              <a:rPr lang="zh-CN" sz="1088">
                <a:solidFill>
                  <a:srgbClr val="E9F0FB">
                    <a:alpha val="75000"/>
                  </a:srgbClr>
                </a:solidFill>
                <a:latin typeface="PingFang SC"/>
                <a:ea typeface="PingFang SC"/>
              </a:rPr>
              <a:t>可审计——模型版本与验证指标全程留痕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7677150" y="4324350"/>
            <a:ext cx="3971925" cy="2000250"/>
          </a:xfrm>
          <a:prstGeom prst="roundRect">
            <a:avLst>
              <a:gd name="adj" fmla="val 4762"/>
            </a:avLst>
          </a:prstGeom>
          <a:solidFill>
            <a:srgbClr val="0891B2">
              <a:alpha val="7000"/>
            </a:srgbClr>
          </a:solidFill>
          <a:ln/>
        </p:spPr>
        <p:txBody>
          <a:bodyPr/>
          <a:p/>
        </p:txBody>
      </p:sp>
      <p:sp>
        <p:nvSpPr>
          <p:cNvPr id="120" name=""/>
          <p:cNvSpPr/>
          <p:nvPr/>
        </p:nvSpPr>
        <p:spPr>
          <a:xfrm rot="0" flipH="0" flipV="0">
            <a:off x="7677150" y="4324350"/>
            <a:ext cx="3971925" cy="2000250"/>
          </a:xfrm>
          <a:custGeom>
            <a:pathLst>
              <a:path w="417" h="210">
                <a:moveTo>
                  <a:pt x="9" y="0"/>
                </a:moveTo>
                <a:cubicBezTo>
                  <a:pt x="6" y="0"/>
                  <a:pt x="3" y="3"/>
                  <a:pt x="3" y="7"/>
                </a:cubicBezTo>
                <a:lnTo>
                  <a:pt x="3" y="203"/>
                </a:lnTo>
                <a:cubicBezTo>
                  <a:pt x="3" y="206"/>
                  <a:pt x="5" y="209"/>
                  <a:pt x="8" y="210"/>
                </a:cubicBezTo>
                <a:cubicBezTo>
                  <a:pt x="3" y="209"/>
                  <a:pt x="0" y="205"/>
                  <a:pt x="0" y="20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891B2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7867650" y="4514850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 spc="150">
                <a:solidFill>
                  <a:srgbClr val="0891B2"/>
                </a:solidFill>
                <a:latin typeface="PingFang SC"/>
                <a:ea typeface="PingFang SC"/>
              </a:rPr>
              <a:t>投资人看到的是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7867650" y="4733925"/>
            <a:ext cx="3562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9F0FB"/>
                </a:solidFill>
                <a:latin typeface="PingFang SC"/>
                <a:ea typeface="PingFang SC"/>
              </a:rPr>
              <a:t>可复制的产品闭环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7867650" y="5057775"/>
            <a:ext cx="356235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E9F0FB">
                    <a:alpha val="70000"/>
                  </a:srgbClr>
                </a:solidFill>
                <a:latin typeface="PingFang SC"/>
                <a:ea typeface="PingFang SC"/>
              </a:rPr>
              <a:t>聊天与</a:t>
            </a:r>
            <a:r>
              <a:rPr lang="en-US" sz="1013">
                <a:solidFill>
                  <a:srgbClr val="E9F0FB">
                    <a:alpha val="70000"/>
                  </a:srgbClr>
                </a:solidFill>
                <a:latin typeface="PingFang SC"/>
                <a:ea typeface="PingFang SC"/>
              </a:rPr>
              <a:t> Cron </a:t>
            </a:r>
            <a:r>
              <a:rPr lang="zh-CN" sz="1013">
                <a:solidFill>
                  <a:srgbClr val="E9F0FB">
                    <a:alpha val="70000"/>
                  </a:srgbClr>
                </a:solidFill>
                <a:latin typeface="PingFang SC"/>
                <a:ea typeface="PingFang SC"/>
              </a:rPr>
              <a:t>不是功能点缀，而是持续学习的运营入口——每一次交互，都在让模型变好。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571500" y="6515100"/>
            <a:ext cx="57150" cy="5715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704850" y="6467475"/>
            <a:ext cx="828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烛龙</a:t>
            </a:r>
            <a:r>
              <a:rPr lang="en-US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 ZHULONG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1134725" y="6467475"/>
            <a:ext cx="485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E9F0FB">
                    <a:alpha val="40000"/>
                  </a:srgbClr>
                </a:solidFill>
                <a:latin typeface="Menlo"/>
                <a:ea typeface="Menlo"/>
              </a:rPr>
              <a:t>05 / 07</a:t>
            </a:r>
            <a:endParaRPr/>
          </a:p>
        </p:txBody>
      </p:sp>
    </p:spTree>
  </p:cSld>
</p:sld>
</file>

<file path=ppt/slides/slide6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7" name="" descr="&lt;Slide style={{ width: '1280px', height: '720px', background: '#0B1730', padding: '20px 60px 16px 60px', fontFamily: &quot;'PingFang SC','Noto Sans SC',sans-serif&quot;, display: 'flex', flexDirection: 'column' }}&gt;&#10;&#10;  {/* A · 标题块 */}&#10;  &lt;Box style={{ height: 92, marginBottom: 12, flexShrink: 0 }}&gt;&#10;    &lt;Text style={{ fontSize: 34, fontWeight: 'bold', color: '#E9F0FB', lineHeight: 1.3 }}&gt;相同数据、相同模型，持续学习让误差再降 5.6%&lt;/Text&gt;&#10;    &lt;Box style={{ width: 44, height: 3, background: '#0891B2', marginTop: 6, marginBottom: 8, borderRadius: 2 }} /&gt;&#10;    &lt;Text style={{ fontSize: 16, color: 'rgba(233,240,251,0.62)' }}&gt;31 个月逐月对账 · 2016-01 至 2018-08 · 同一模型仅学习方式不同&lt;/Text&gt;&#10;  &lt;/Box&gt;&#10;&#10;  {/* B · 内容区 */}&#10;  &lt;Box style={{ height: 540, marginBottom: 10, flexShrink: 0, flexDirection: 'row', gap: 32 }}&gt;&#10;&#10;    {/* 左 · 巨型数字与对账 */}&#10;    &lt;Box style={{ width: 396, flexShrink: 0, flexDirection: 'column' }}&gt;&#10;      &lt;Box style={{ position: 'relative', height: 190 }}&gt;&#10;        &lt;Box style={{ position: 'absolute', width: 320, height: 320, top: -70, left: 10, background: 'radial-gradient(circle, rgba(194,98,10,0.20) 0%, rgba(194,98,10,0) 70%)' }} /&gt;&#10;        &lt;Text style={{ position: 'relative', fontSize: 100, fontWeight: 'bold', color: '#C2620A', fontFamily: &quot;'Menlo','Courier New',monospace&quot;, lineHeight: 1.1 }}&gt;−5.6%&lt;/Text&gt;&#10;        &lt;Text style={{ position: 'relative', fontSize: 16, color: 'rgba(233,240,251,0.75)', marginTop: 6 }}&gt;WAPE 相对改善（整体口径）&lt;/Text&gt;&#10;      &lt;/Box&gt;&#10;&#10;      &lt;Box style={{ marginTop: 18, flexDirection: 'column' }}&gt;&#10;        &lt;Box style={{ borderTop: '1px solid rgba(233,240,251,0.14)', paddingTop: 12, flexDirection: 'column', gap: 4 }}&gt;&#10;          &lt;Text style={{ fontSize: 13, color: 'rgba(233,240,251,0.50)' }}&gt;WAPE（加权绝对百分比误差）&lt;/Text&gt;&#10;          &lt;Text style={{ fontSize: 19, color: '#E9F0FB', fontFamily: &quot;'Menlo','Courier New',monospace&quot; }}&gt;3.8876% &lt;span style={{ color: '#C2620A' }}&gt;→&lt;/span&gt; &lt;span style={{ color: '#0891B2', fontWeight: 'bold' }}&gt;3.6700%&lt;/span&gt; &lt;span style={{ fontSize: 14, color: '#C2620A' }}&gt;−0.2176 pp&lt;/span&gt;&lt;/Text&gt;&#10;        &lt;/Box&gt;&#10;        &lt;Box style={{ borderTop: '1px solid rgba(233,240,251,0.14)', paddingTop: 12, marginTop: 12, flexDirection: 'column', gap: 4 }}&gt;&#10;          &lt;Text style={{ fontSize: 13, color: 'rgba(233,240,251,0.50)' }}&gt;MAE（平均绝对误差）&lt;/Text&gt;&#10;          &lt;Text style={{ fontSize: 19, color: '#E9F0FB', fontFamily: &quot;'Menlo','Courier New',monospace&quot; }}&gt;363.33 &lt;span style={{ color: '#C2620A' }}&gt;→&lt;/span&gt; &lt;span style={{ color: '#0891B2', fontWeight: 'bold' }}&gt;342.99&lt;/span&gt; MW &lt;span style={{ fontSize: 14, color: '#C2620A' }}&gt;−20.34&lt;/span&gt;&lt;/Text&gt;&#10;        &lt;/Box&gt;&#10;        &lt;Box style={{ borderTop: '1px solid rgba(233,240,251,0.14)', paddingTop: 12, marginTop: 12, flexDirection: 'column', gap: 4 }}&gt;&#10;          &lt;Text style={{ fontSize: 13, color: 'rgba(233,240,251,0.50)' }}&gt;逐月对账&lt;/Text&gt;&#10;          &lt;Text style={{ fontSize: 17, color: '#E9F0FB' }}&gt;31 个月 · &lt;span style={{ color: '#0891B2', fontWeight: 'bold' }}&gt;30 个月持续学习更优&lt;/span&gt;（仅 1 个月略差）&lt;/Text&gt;&#10;        &lt;/Box&gt;&#10;      &lt;/Box&gt;&#10;&#10;      &lt;Text style={{ marginTop: 'auto', fontSize: 12, color: 'rgba(233,240,251,0.40)', lineHeight: 1.5 }}&gt;验证集结果，非生产承诺；月度明细见 monthly_static_dynamic_validation_metrics.csv（68,040 个共有预测主键，按纽约本地预测月份统计）&lt;/Text&gt;&#10;    &lt;/Box&gt;&#10;&#10;    {/* 右 · 双柱图组 */}&#10;    &lt;Box style={{ flex: 1, flexDirection: 'column' }}&gt;&#10;      &lt;Box style={{ height: 24, flexDirection: 'row', alignItems: 'center', gap: 24 }}&gt;&#10;        &lt;Box style={{ flexDirection: 'row', alignItems: 'center', gap: 8 }}&gt;&#10;          &lt;Box style={{ width: 12, height: 12, background: '#C2620A', borderRadius: 3 }} /&gt;&#10;          &lt;Text style={{ fontSize: 14, color: 'rgba(233,240,251,0.70)' }}&gt;静态模型（初始）&lt;/Text&gt;&#10;        &lt;/Box&gt;&#10;        &lt;Box style={{ flexDirection: 'row', alignItems: 'center', gap: 8 }}&gt;&#10;          &lt;Box style={{ width: 12, height: 12, background: '#0891B2', borderRadius: 3 }} /&gt;&#10;          &lt;Text style={{ fontSize: 14, color: 'rgba(233,240,251,0.70)' }}&gt;持续学习模型&lt;/Text&gt;&#10;        &lt;/Box&gt;&#10;        &lt;Text style={{ flex: 1, textAlign: 'right', fontSize: 12, color: 'rgba(233,240,251,0.45)' }}&gt;不是换更大的模型，而是让同一个模型持续变好&lt;/Text&gt;&#10;      &lt;/Box&gt;&#10;      &lt;Box style={{ flex: 1, marginTop: 10, flexDirection: 'row', gap: 20 }}&gt;&#10;        &lt;Chart&#10;          chartType='barChart'&#10;          barDirection='bar'&#10;          title='WAPE（%）'&#10;          titleColor='#E9F0FB'&#10;          showLegend={false}&#10;          showDataLabels={true}&#10;          dataLabelColor='#E9F0FB'&#10;          axisColor='rgba(233,240,251,0.50)'&#10;          colors={['#C2620A', '#0891B2']}&#10;          background='#0B1730'&#10;          style={{ flex: 1, height: 460 }}&#10;          data={[&#10;            ['', '静态模型', '持续学习'],&#10;            ['整体', 3.8876, 3.67],&#10;          ]}&#10;        /&gt;&#10;        &lt;Chart&#10;          chartType='barChart'&#10;          barDirection='bar'&#10;          title='MAE（MW）'&#10;          titleColor='#E9F0FB'&#10;          showLegend={false}&#10;          showDataLabels={true}&#10;          dataLabelColor='#E9F0FB'&#10;          axisColor='rgba(233,240,251,0.50)'&#10;          colors={['#C2620A', '#0891B2']}&#10;          background='#0B1730'&#10;          style={{ flex: 1, height: 460 }}&#10;          data={[&#10;            ['', '静态模型', '持续学习'],&#10;            ['整体', 363.33, 342.99],&#10;          ]}&#10;        /&gt;&#10;      &lt;/Box&gt;&#10;    &lt;/Box&gt;&#10;  &lt;/Box&gt;&#10;&#10;  {/* C · 页脚条 */}&#10;  &lt;Box style={{ height: 24, flexDirection: 'row', justifyContent: 'space-between', alignItems: 'center', flexShrink: 0 }}&gt;&#10;    &lt;Box style={{ flexDirection: 'row', alignItems: 'center', gap: 8 }}&gt;&#10;      &lt;Box style={{ width: 6, height: 6, background: '#0891B2' }} /&gt;&#10;      &lt;Text style={{ fontSize: 12, color: 'rgba(233,240,251,0.40)' }}&gt;烛龙 ZHULONG&lt;/Text&gt;&#10;    &lt;/Box&gt;&#10;    &lt;Text style={{ fontSize: 12, color: 'rgba(233,240,251,0.40)', fontFamily: &quot;'Menlo','Courier New',monospace&quot; }}&gt;06 / 07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730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571500" y="190500"/>
            <a:ext cx="110490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E9F0FB"/>
                </a:solidFill>
                <a:latin typeface="PingFang SC"/>
                <a:ea typeface="PingFang SC"/>
              </a:rPr>
              <a:t>相同数据、相同模型，持续学习让误差再降</a:t>
            </a:r>
            <a:r>
              <a:rPr lang="en-US" sz="2550" b="1">
                <a:solidFill>
                  <a:srgbClr val="E9F0FB"/>
                </a:solidFill>
                <a:latin typeface="PingFang SC"/>
                <a:ea typeface="PingFang SC"/>
              </a:rPr>
              <a:t> 5.6%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571500" y="762000"/>
            <a:ext cx="419100" cy="28575"/>
          </a:xfrm>
          <a:prstGeom prst="roundRect">
            <a:avLst>
              <a:gd name="adj" fmla="val 66667"/>
            </a:avLst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71500" y="866775"/>
            <a:ext cx="11049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31 </a:t>
            </a:r>
            <a:r>
              <a:rPr lang="zh-CN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个月逐月对账</a:t>
            </a:r>
            <a:r>
              <a:rPr lang="en-US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 · 2016-01 </a:t>
            </a:r>
            <a:r>
              <a:rPr lang="zh-CN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至</a:t>
            </a:r>
            <a:r>
              <a:rPr lang="en-US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 2018-08 · </a:t>
            </a:r>
            <a:r>
              <a:rPr lang="zh-CN" sz="1200">
                <a:solidFill>
                  <a:srgbClr val="E9F0FB">
                    <a:alpha val="62000"/>
                  </a:srgbClr>
                </a:solidFill>
                <a:latin typeface="PingFang SC"/>
                <a:ea typeface="PingFang SC"/>
              </a:rPr>
              <a:t>同一模型仅学习方式不同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571500" y="3162300"/>
            <a:ext cx="3771900" cy="542925"/>
          </a:xfrm>
          <a:custGeom>
            <a:pathLst>
              <a:path w="396" h="57">
                <a:moveTo>
                  <a:pt x="0" y="0"/>
                </a:moveTo>
                <a:lnTo>
                  <a:pt x="396" y="0"/>
                </a:lnTo>
                <a:lnTo>
                  <a:pt x="396" y="1"/>
                </a:lnTo>
                <a:lnTo>
                  <a:pt x="0" y="1"/>
                </a:lnTo>
                <a:close/>
              </a:path>
            </a:pathLst>
          </a:custGeom>
          <a:solidFill>
            <a:srgbClr val="E9F0FB">
              <a:alpha val="14000"/>
            </a:srgbClr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571500" y="3286125"/>
            <a:ext cx="3771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E9F0FB">
                    <a:alpha val="50000"/>
                  </a:srgbClr>
                </a:solidFill>
                <a:latin typeface="PingFang SC"/>
                <a:ea typeface="PingFang SC"/>
              </a:rPr>
              <a:t>WAPE</a:t>
            </a:r>
            <a:r>
              <a:rPr lang="zh-CN" sz="975">
                <a:solidFill>
                  <a:srgbClr val="E9F0FB">
                    <a:alpha val="50000"/>
                  </a:srgbClr>
                </a:solidFill>
                <a:latin typeface="PingFang SC"/>
                <a:ea typeface="PingFang SC"/>
              </a:rPr>
              <a:t>（加权绝对百分比误差）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571500" y="3476625"/>
            <a:ext cx="3771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E9F0FB"/>
                </a:solidFill>
                <a:latin typeface="Menlo"/>
                <a:ea typeface="Menlo"/>
              </a:rPr>
              <a:t>3.8876% </a:t>
            </a:r>
            <a:r>
              <a:rPr sz="1425">
                <a:solidFill>
                  <a:srgbClr val="C2620A"/>
                </a:solidFill>
                <a:latin typeface="Menlo"/>
                <a:ea typeface="Menlo"/>
              </a:rPr>
              <a:t>→</a:t>
            </a:r>
            <a:r>
              <a:rPr lang="en-US" sz="1425">
                <a:solidFill>
                  <a:srgbClr val="E9F0FB"/>
                </a:solidFill>
                <a:latin typeface="Menlo"/>
                <a:ea typeface="Menlo"/>
              </a:rPr>
              <a:t> </a:t>
            </a:r>
            <a:r>
              <a:rPr lang="en-US" sz="1425" b="1">
                <a:solidFill>
                  <a:srgbClr val="0891B2"/>
                </a:solidFill>
                <a:latin typeface="Menlo"/>
                <a:ea typeface="Menlo"/>
              </a:rPr>
              <a:t>3.6700%</a:t>
            </a:r>
            <a:r>
              <a:rPr lang="en-US" sz="1425">
                <a:solidFill>
                  <a:srgbClr val="E9F0FB"/>
                </a:solidFill>
                <a:latin typeface="Menlo"/>
                <a:ea typeface="Menlo"/>
              </a:rPr>
              <a:t> </a:t>
            </a:r>
            <a:r>
              <a:rPr lang="en-US" sz="1050">
                <a:solidFill>
                  <a:srgbClr val="C2620A"/>
                </a:solidFill>
                <a:latin typeface="Menlo"/>
                <a:ea typeface="Menlo"/>
              </a:rPr>
              <a:t>−0.2176 pp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571500" y="3810000"/>
            <a:ext cx="3771900" cy="542925"/>
          </a:xfrm>
          <a:custGeom>
            <a:pathLst>
              <a:path w="396" h="57">
                <a:moveTo>
                  <a:pt x="0" y="0"/>
                </a:moveTo>
                <a:lnTo>
                  <a:pt x="396" y="0"/>
                </a:lnTo>
                <a:lnTo>
                  <a:pt x="396" y="1"/>
                </a:lnTo>
                <a:lnTo>
                  <a:pt x="0" y="1"/>
                </a:lnTo>
                <a:close/>
              </a:path>
            </a:pathLst>
          </a:custGeom>
          <a:solidFill>
            <a:srgbClr val="E9F0FB">
              <a:alpha val="14000"/>
            </a:srgbClr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71500" y="3933825"/>
            <a:ext cx="3771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E9F0FB">
                    <a:alpha val="50000"/>
                  </a:srgbClr>
                </a:solidFill>
                <a:latin typeface="PingFang SC"/>
                <a:ea typeface="PingFang SC"/>
              </a:rPr>
              <a:t>MAE</a:t>
            </a:r>
            <a:r>
              <a:rPr lang="zh-CN" sz="975">
                <a:solidFill>
                  <a:srgbClr val="E9F0FB">
                    <a:alpha val="50000"/>
                  </a:srgbClr>
                </a:solidFill>
                <a:latin typeface="PingFang SC"/>
                <a:ea typeface="PingFang SC"/>
              </a:rPr>
              <a:t>（平均绝对误差）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71500" y="4124325"/>
            <a:ext cx="3771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E9F0FB"/>
                </a:solidFill>
                <a:latin typeface="Menlo"/>
                <a:ea typeface="Menlo"/>
              </a:rPr>
              <a:t>363.33 </a:t>
            </a:r>
            <a:r>
              <a:rPr sz="1425">
                <a:solidFill>
                  <a:srgbClr val="C2620A"/>
                </a:solidFill>
                <a:latin typeface="Menlo"/>
                <a:ea typeface="Menlo"/>
              </a:rPr>
              <a:t>→</a:t>
            </a:r>
            <a:r>
              <a:rPr lang="en-US" sz="1425">
                <a:solidFill>
                  <a:srgbClr val="E9F0FB"/>
                </a:solidFill>
                <a:latin typeface="Menlo"/>
                <a:ea typeface="Menlo"/>
              </a:rPr>
              <a:t> </a:t>
            </a:r>
            <a:r>
              <a:rPr lang="en-US" sz="1425" b="1">
                <a:solidFill>
                  <a:srgbClr val="0891B2"/>
                </a:solidFill>
                <a:latin typeface="Menlo"/>
                <a:ea typeface="Menlo"/>
              </a:rPr>
              <a:t>342.99</a:t>
            </a:r>
            <a:r>
              <a:rPr lang="en-US" sz="1425">
                <a:solidFill>
                  <a:srgbClr val="E9F0FB"/>
                </a:solidFill>
                <a:latin typeface="Menlo"/>
                <a:ea typeface="Menlo"/>
              </a:rPr>
              <a:t> MW </a:t>
            </a:r>
            <a:r>
              <a:rPr lang="en-US" sz="1050">
                <a:solidFill>
                  <a:srgbClr val="C2620A"/>
                </a:solidFill>
                <a:latin typeface="Menlo"/>
                <a:ea typeface="Menlo"/>
              </a:rPr>
              <a:t>−20.34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571500" y="4457700"/>
            <a:ext cx="3771900" cy="523875"/>
          </a:xfrm>
          <a:custGeom>
            <a:pathLst>
              <a:path w="396" h="55">
                <a:moveTo>
                  <a:pt x="0" y="0"/>
                </a:moveTo>
                <a:lnTo>
                  <a:pt x="396" y="0"/>
                </a:lnTo>
                <a:lnTo>
                  <a:pt x="396" y="1"/>
                </a:lnTo>
                <a:lnTo>
                  <a:pt x="0" y="1"/>
                </a:lnTo>
                <a:close/>
              </a:path>
            </a:pathLst>
          </a:custGeom>
          <a:solidFill>
            <a:srgbClr val="E9F0FB">
              <a:alpha val="14000"/>
            </a:srgbClr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571500" y="4581525"/>
            <a:ext cx="3771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E9F0FB">
                    <a:alpha val="50000"/>
                  </a:srgbClr>
                </a:solidFill>
                <a:latin typeface="PingFang SC"/>
                <a:ea typeface="PingFang SC"/>
              </a:rPr>
              <a:t>逐月对账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571500" y="4772025"/>
            <a:ext cx="377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E9F0FB"/>
                </a:solidFill>
                <a:latin typeface="PingFang SC"/>
                <a:ea typeface="PingFang SC"/>
              </a:rPr>
              <a:t>31 </a:t>
            </a:r>
            <a:r>
              <a:rPr lang="zh-CN" sz="1275">
                <a:solidFill>
                  <a:srgbClr val="E9F0FB"/>
                </a:solidFill>
                <a:latin typeface="PingFang SC"/>
                <a:ea typeface="PingFang SC"/>
              </a:rPr>
              <a:t>个月</a:t>
            </a:r>
            <a:r>
              <a:rPr lang="en-US" sz="1275">
                <a:solidFill>
                  <a:srgbClr val="E9F0FB"/>
                </a:solidFill>
                <a:latin typeface="PingFang SC"/>
                <a:ea typeface="PingFang SC"/>
              </a:rPr>
              <a:t> · </a:t>
            </a:r>
            <a:r>
              <a:rPr lang="en-US" sz="1275" b="1">
                <a:solidFill>
                  <a:srgbClr val="0891B2"/>
                </a:solidFill>
                <a:latin typeface="PingFang SC"/>
                <a:ea typeface="PingFang SC"/>
              </a:rPr>
              <a:t>30 </a:t>
            </a:r>
            <a:r>
              <a:rPr lang="zh-CN" sz="1275" b="1">
                <a:solidFill>
                  <a:srgbClr val="0891B2"/>
                </a:solidFill>
                <a:latin typeface="PingFang SC"/>
                <a:ea typeface="PingFang SC"/>
              </a:rPr>
              <a:t>个月持续学习更优</a:t>
            </a:r>
            <a:r>
              <a:rPr lang="zh-CN" sz="1275">
                <a:solidFill>
                  <a:srgbClr val="E9F0FB"/>
                </a:solidFill>
                <a:latin typeface="PingFang SC"/>
                <a:ea typeface="PingFang SC"/>
              </a:rPr>
              <a:t>（仅</a:t>
            </a:r>
            <a:r>
              <a:rPr lang="en-US" sz="1275">
                <a:solidFill>
                  <a:srgbClr val="E9F0FB"/>
                </a:solidFill>
                <a:latin typeface="PingFang SC"/>
                <a:ea typeface="PingFang SC"/>
              </a:rPr>
              <a:t> 1 </a:t>
            </a:r>
            <a:r>
              <a:rPr lang="zh-CN" sz="1275">
                <a:solidFill>
                  <a:srgbClr val="E9F0FB"/>
                </a:solidFill>
                <a:latin typeface="PingFang SC"/>
                <a:ea typeface="PingFang SC"/>
              </a:rPr>
              <a:t>个月略差）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571500" y="5705475"/>
            <a:ext cx="37719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验证集结果，非生产承诺；月度明细见</a:t>
            </a:r>
            <a:r>
              <a:rPr lang="en-US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 monthly_static_dynamic_validation_metrics.csv</a:t>
            </a:r>
            <a:r>
              <a:rPr lang="zh-CN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（</a:t>
            </a:r>
            <a:r>
              <a:rPr lang="en-US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68,040 </a:t>
            </a:r>
            <a:r>
              <a:rPr lang="zh-CN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个共有预测主键，按纽约本地预测月份统计）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4648200" y="124777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C2620A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838700" y="1219200"/>
            <a:ext cx="1066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9F0FB">
                    <a:alpha val="70000"/>
                  </a:srgbClr>
                </a:solidFill>
                <a:latin typeface="PingFang SC"/>
                <a:ea typeface="PingFang SC"/>
              </a:rPr>
              <a:t>静态模型（初始）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6134100" y="124777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6324600" y="1219200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9F0FB">
                    <a:alpha val="70000"/>
                  </a:srgbClr>
                </a:solidFill>
                <a:latin typeface="PingFang SC"/>
                <a:ea typeface="PingFang SC"/>
              </a:rPr>
              <a:t>持续学习模型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7353300" y="1228725"/>
            <a:ext cx="4267200" cy="1428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900">
                <a:solidFill>
                  <a:srgbClr val="E9F0FB">
                    <a:alpha val="45000"/>
                  </a:srgbClr>
                </a:solidFill>
                <a:latin typeface="PingFang SC"/>
                <a:ea typeface="PingFang SC"/>
              </a:rPr>
              <a:t>不是换更大的模型，而是让同一个模型持续变好</a:t>
            </a:r>
            <a:endParaRPr/>
          </a:p>
        </p:txBody>
      </p:sp>
      <p:graphicFrame>
        <p:nvGraphicFramePr>
          <p:cNvPr id="147" name="147"/>
          <p:cNvGraphicFramePr/>
          <p:nvPr/>
        </p:nvGraphicFramePr>
        <p:xfrm rot="0" flipH="0" flipV="0">
          <a:off x="4648200" y="1504950"/>
          <a:ext cx="3390900" cy="4381500"/>
        </p:xfrm>
        <a:graphic>
          <a:graphicData uri="http://schemas.openxmlformats.org/drawingml/2006/chart">
            <c:chart r:id="rId0"/>
          </a:graphicData>
        </a:graphic>
      </p:graphicFrame>
      <p:graphicFrame>
        <p:nvGraphicFramePr>
          <p:cNvPr id="148" name="148"/>
          <p:cNvGraphicFramePr/>
          <p:nvPr/>
        </p:nvGraphicFramePr>
        <p:xfrm rot="0" flipH="0" flipV="0">
          <a:off x="8229600" y="1504950"/>
          <a:ext cx="3390900" cy="4381500"/>
        </p:xfrm>
        <a:graphic>
          <a:graphicData uri="http://schemas.openxmlformats.org/drawingml/2006/chart">
            <c:chart r:id="rId1"/>
          </a:graphicData>
        </a:graphic>
      </p:graphicFrame>
      <p:sp>
        <p:nvSpPr>
          <p:cNvPr id="149" name=""/>
          <p:cNvSpPr/>
          <p:nvPr/>
        </p:nvSpPr>
        <p:spPr>
          <a:xfrm rot="0" flipH="0" flipV="0">
            <a:off x="571500" y="6515100"/>
            <a:ext cx="57150" cy="5715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04850" y="6467475"/>
            <a:ext cx="828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烛龙</a:t>
            </a:r>
            <a:r>
              <a:rPr lang="en-US" sz="900">
                <a:solidFill>
                  <a:srgbClr val="E9F0FB">
                    <a:alpha val="40000"/>
                  </a:srgbClr>
                </a:solidFill>
                <a:latin typeface="PingFang SC"/>
                <a:ea typeface="PingFang SC"/>
              </a:rPr>
              <a:t> ZHULONG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11134725" y="6467475"/>
            <a:ext cx="485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E9F0FB">
                    <a:alpha val="40000"/>
                  </a:srgbClr>
                </a:solidFill>
                <a:latin typeface="Menlo"/>
                <a:ea typeface="Menlo"/>
              </a:rPr>
              <a:t>06 / 07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66750" y="514350"/>
            <a:ext cx="3048000" cy="3048000"/>
          </a:xfrm>
          <a:prstGeom prst="rect">
            <a:avLst/>
          </a:prstGeom>
          <a:gradFill>
            <a:gsLst>
              <a:gs pos="0">
                <a:srgbClr val="C2620A">
                  <a:alpha val="20000"/>
                </a:srgbClr>
              </a:gs>
              <a:gs pos="70000">
                <a:srgbClr val="C2620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571500" y="1181100"/>
            <a:ext cx="3771900" cy="125730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7500" b="1">
                <a:solidFill>
                  <a:srgbClr val="C2620A"/>
                </a:solidFill>
                <a:latin typeface="Menlo"/>
                <a:ea typeface="Menlo"/>
              </a:rPr>
              <a:t>−5.6%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571500" y="2495550"/>
            <a:ext cx="3771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E9F0FB">
                    <a:alpha val="75000"/>
                  </a:srgbClr>
                </a:solidFill>
                <a:latin typeface="PingFang SC"/>
                <a:ea typeface="PingFang SC"/>
              </a:rPr>
              <a:t>WAPE </a:t>
            </a:r>
            <a:r>
              <a:rPr lang="zh-CN" sz="1200">
                <a:solidFill>
                  <a:srgbClr val="E9F0FB">
                    <a:alpha val="75000"/>
                  </a:srgbClr>
                </a:solidFill>
                <a:latin typeface="PingFang SC"/>
                <a:ea typeface="PingFang SC"/>
              </a:rPr>
              <a:t>相对改善（整体口径）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5" name="" descr="&lt;Slide style={{ width: '1280px', height: '720px', background: '#0B1730', padding: '48px 60px 40px 60px', fontFamily: &quot;'PingFang SC','Noto Sans SC',sans-serif&quot;, display: 'flex', flexDirection: 'column', alignItems: 'center', position: 'relative' }}&gt;&#10;&#10;  &lt;Box style={{ position: 'absolute', top: -80, left: -60, width: 380, height: 380, background: 'radial-gradient(circle, rgba(8,145,178,0.10) 0%, rgba(8,145,178,0) 70%)' }} /&gt;&#10;  &lt;Box style={{ position: 'absolute', bottom: -100, right: -40, width: 420, height: 420, background: 'radial-gradient(circle, rgba(194,98,10,0.10) 0%, rgba(194,98,10,0) 70%)' }} /&gt;&#10;&#10;  {/* 未来 100 天 · 双路径 */}&#10;  &lt;svg width={1160} height={290} viewBox=&quot;0 0 1160 290&quot; fontFamily=&quot;'PingFang SC',sans-serif&quot; style={{ flexShrink: 0 }}&gt;&#10;    {/* 技术路径标签 */}&#10;    &lt;rect x=&quot;8&quot; y=&quot;26&quot; width=&quot;112&quot; height=&quot;84&quot; rx=&quot;10&quot; fill=&quot;rgba(8,145,178,0.12)&quot; stroke=&quot;rgba(8,145,178,0.5)&quot; strokeWidth=&quot;1&quot; /&gt;&#10;    &lt;text x=&quot;64&quot; y=&quot;60&quot; fontSize=&quot;16&quot; fontWeight=&quot;bold&quot; fill=&quot;#0891B2&quot; textAnchor=&quot;middle&quot;&gt;技术&lt;/text&gt;&#10;    &lt;text x=&quot;64&quot; y=&quot;84&quot; fontSize=&quot;16&quot; fontWeight=&quot;bold&quot; fill=&quot;#0891B2&quot; textAnchor=&quot;middle&quot;&gt;路径&lt;/text&gt;&#10;&#10;    &lt;rect x=&quot;140&quot; y=&quot;26&quot; width=&quot;250&quot; height=&quot;84&quot; rx=&quot;10&quot; fill=&quot;rgba(233,240,251,0.05)&quot; stroke=&quot;rgba(233,240,251,0.20)&quot; strokeWidth=&quot;1&quot; /&gt;&#10;    &lt;text x=&quot;265&quot; y=&quot;60&quot; fontSize=&quot;16.5&quot; fontWeight=&quot;bold&quot; fill=&quot;#E9F0FB&quot; textAnchor=&quot;middle&quot;&gt;EDM / 训练工具补强&lt;/text&gt;&#10;    &lt;text x=&quot;265&quot; y=&quot;86&quot; fontSize=&quot;12.5&quot; fill=&quot;rgba(233,240,251,0.55)&quot; textAnchor=&quot;middle&quot;&gt;丰富可调用的方法&lt;/text&gt;&#10;&#10;    &lt;rect x=&quot;440&quot; y=&quot;26&quot; width=&quot;250&quot; height=&quot;84&quot; rx=&quot;10&quot; fill=&quot;rgba(233,240,251,0.05)&quot; stroke=&quot;rgba(233,240,251,0.20)&quot; strokeWidth=&quot;1&quot; /&gt;&#10;    &lt;text x=&quot;565&quot; y=&quot;60&quot; fontSize=&quot;16.5&quot; fontWeight=&quot;bold&quot; fill=&quot;#E9F0FB&quot; textAnchor=&quot;middle&quot;&gt;自然语言调用更多工具&lt;/text&gt;&#10;    &lt;text x=&quot;565&quot; y=&quot;86&quot; fontSize=&quot;12.5&quot; fill=&quot;rgba(233,240,251,0.55)&quot; textAnchor=&quot;middle&quot;&gt;用户张口，即可分析&lt;/text&gt;&#10;&#10;    &lt;rect x=&quot;740&quot; y=&quot;26&quot; width=&quot;250&quot; height=&quot;84&quot; rx=&quot;10&quot; fill=&quot;rgba(233,240,251,0.05)&quot; stroke=&quot;rgba(233,240,251,0.20)&quot; strokeWidth=&quot;1&quot; /&gt;&#10;    &lt;text x=&quot;865&quot; y=&quot;60&quot; fontSize=&quot;16.5&quot; fontWeight=&quot;bold&quot; fill=&quot;#E9F0FB&quot; textAnchor=&quot;middle&quot;&gt;统一时序验证&lt;/text&gt;&#10;    &lt;text x=&quot;865&quot; y=&quot;86&quot; fontSize=&quot;12.5&quot; fill=&quot;rgba(233,240,251,0.55)&quot; textAnchor=&quot;middle&quot;&gt;同一口径比较候选方案&lt;/text&gt;&#10;&#10;    &lt;g stroke=&quot;#0891B2&quot; strokeWidth=&quot;2&quot;&gt;&#10;      &lt;line x1=&quot;390&quot; y1=&quot;68&quot; x2=&quot;432&quot; y2=&quot;68&quot; /&gt;&#10;      &lt;line x1=&quot;690&quot; y1=&quot;68&quot; x2=&quot;732&quot; y2=&quot;68&quot; /&gt;&#10;    &lt;/g&gt;&#10;    &lt;g fill=&quot;#0891B2&quot;&gt;&#10;      &lt;path d=&quot;M 440 68 L 430 63 L 430 73 Z&quot; /&gt;&#10;      &lt;path d=&quot;M 740 68 L 730 63 L 730 73 Z&quot; /&gt;&#10;    &lt;/g&gt;&#10;&#10;    {/* 商业路径标签 */}&#10;    &lt;rect x=&quot;8&quot; y=&quot;182&quot; width=&quot;112&quot; height=&quot;84&quot; rx=&quot;10&quot; fill=&quot;rgba(194,98,10,0.10)&quot; stroke=&quot;rgba(194,98,10,0.5)&quot; strokeWidth=&quot;1&quot; /&gt;&#10;    &lt;text x=&quot;64&quot; y=&quot;216&quot; fontSize=&quot;16&quot; fontWeight=&quot;bold&quot; fill=&quot;#C2620A&quot; textAnchor=&quot;middle&quot;&gt;商业&lt;/text&gt;&#10;    &lt;text x=&quot;64&quot; y=&quot;240&quot; fontSize=&quot;16&quot; fontWeight=&quot;bold&quot; fill=&quot;#C2620A&quot; textAnchor=&quot;middle&quot;&gt;路径&lt;/text&gt;&#10;&#10;    &lt;rect x=&quot;140&quot; y=&quot;182&quot; width=&quot;180&quot; height=&quot;84&quot; rx=&quot;10&quot; fill=&quot;rgba(233,240,251,0.05)&quot; stroke=&quot;rgba(233,240,251,0.20)&quot; strokeWidth=&quot;1&quot; /&gt;&#10;    &lt;text x=&quot;230&quot; y=&quot;216&quot; fontSize=&quot;15.5&quot; fontWeight=&quot;bold&quot; fill=&quot;#E9F0FB&quot; textAnchor=&quot;middle&quot;&gt;科研项目合作&lt;/text&gt;&#10;    &lt;text x=&quot;230&quot; y=&quot;242&quot; fontSize=&quot;12&quot; fill=&quot;rgba(233,240,251,0.55)&quot; textAnchor=&quot;middle&quot;&gt;电科院 · 数研院&lt;/text&gt;&#10;&#10;    &lt;rect x=&quot;360&quot; y=&quot;182&quot; width=&quot;180&quot; height=&quot;84&quot; rx=&quot;10&quot; fill=&quot;rgba(233,240,251,0.05)&quot; stroke=&quot;rgba(233,240,251,0.20)&quot; strokeWidth=&quot;1&quot; /&gt;&#10;    &lt;text x=&quot;450&quot; y=&quot;216&quot; fontSize=&quot;15.5&quot; fontWeight=&quot;bold&quot; fill=&quot;#E9F0FB&quot; textAnchor=&quot;middle&quot;&gt;影子模式验证&lt;/text&gt;&#10;    &lt;text x=&quot;450&quot; y=&quot;242&quot; fontSize=&quot;12&quot; fill=&quot;rgba(233,240,251,0.55)&quot; textAnchor=&quot;middle&quot;&gt;接入真实数据&lt;/text&gt;&#10;&#10;    &lt;rect x=&quot;580&quot; y=&quot;182&quot; width=&quot;180&quot; height=&quot;84&quot; rx=&quot;10&quot; fill=&quot;rgba(233,240,251,0.05)&quot; stroke=&quot;rgba(233,240,251,0.20)&quot; strokeWidth=&quot;1&quot; /&gt;&#10;    &lt;text x=&quot;670&quot; y=&quot;216&quot; fontSize=&quot;15.5&quot; fontWeight=&quot;bold&quot; fill=&quot;#E9F0FB&quot; textAnchor=&quot;middle&quot;&gt;局部试点&lt;/text&gt;&#10;    &lt;text x=&quot;670&quot; y=&quot;242&quot; fontSize=&quot;12&quot; fill=&quot;rgba(233,240,251,0.55)&quot; textAnchor=&quot;middle&quot;&gt;量化收益&lt;/text&gt;&#10;&#10;    &lt;rect x=&quot;800&quot; y=&quot;182&quot; width=&quot;180&quot; height=&quot;84&quot; rx=&quot;10&quot; fill=&quot;rgba(194,98,10,0.10)&quot; stroke=&quot;rgba(194,98,10,0.55)&quot; strokeWidth=&quot;1&quot; /&gt;&#10;    &lt;text x=&quot;890&quot; y=&quot;216&quot; fontSize=&quot;15.5&quot; fontWeight=&quot;bold&quot; fill=&quot;#E9F0FB&quot; textAnchor=&quot;middle&quot;&gt;灰度发布&lt;/text&gt;&#10;    &lt;text x=&quot;890&quot; y=&quot;242&quot; fontSize=&quot;12&quot; fill=&quot;rgba(233,240,251,0.55)&quot; textAnchor=&quot;middle&quot;&gt;验证后再放大&lt;/text&gt;&#10;&#10;    &lt;g stroke=&quot;rgba(233,240,251,0.45)&quot; strokeWidth=&quot;2&quot;&gt;&#10;      &lt;line x1=&quot;320&quot; y1=&quot;224&quot; x2=&quot;352&quot; y2=&quot;224&quot; /&gt;&#10;      &lt;line x1=&quot;540&quot; y1=&quot;224&quot; x2=&quot;572&quot; y2=&quot;224&quot; /&gt;&#10;      &lt;line x1=&quot;760&quot; y1=&quot;224&quot; x2=&quot;792&quot; y2=&quot;224&quot; /&gt;&#10;    &lt;/g&gt;&#10;    &lt;g fill=&quot;rgba(233,240,251,0.45)&quot;&gt;&#10;      &lt;path d=&quot;M 360 224 L 350 219 L 350 229 Z&quot; /&gt;&#10;      &lt;path d=&quot;M 580 224 L 570 219 L 570 229 Z&quot; /&gt;&#10;      &lt;path d=&quot;M 800 224 L 790 219 L 790 229 Z&quot; /&gt;&#10;    &lt;/g&gt;&#10;&#10;    {/* 汇聚 */}&#10;    &lt;path d=&quot;M 990 68 C 1030 68, 1050 100, 1058 128&quot; stroke=&quot;rgba(8,145,178,0.6)&quot; strokeWidth=&quot;2&quot; fill=&quot;none&quot; /&gt;&#10;    &lt;path d=&quot;M 980 224 C 1020 224, 1050 195, 1058 166&quot; stroke=&quot;rgba(194,98,10,0.6)&quot; strokeWidth=&quot;2&quot; fill=&quot;none&quot; /&gt;&#10;    &lt;circle cx=&quot;1062&quot; cy=&quot;147&quot; r=&quot;26&quot; fill=&quot;rgba(8,145,178,0.15)&quot; /&gt;&#10;    &lt;path d=&quot;M 1062 127 L 1082 147 L 1062 167 L 1042 147 Z&quot; fill=&quot;#0891B2&quot; /&gt;&#10;    &lt;path d=&quot;M 1062 173 L 1062 240&quot; stroke=&quot;rgba(8,145,178,0.45)&quot; strokeWidth=&quot;1.5&quot; strokeDasharray=&quot;5 4&quot; /&gt;&#10;    &lt;path d=&quot;M 1062 248 L 1057 238 L 1067 238 Z&quot; fill=&quot;rgba(8,145,178,0.45)&quot; /&gt;&#10;  &lt;/svg&gt;&#10;&#10;  {/* 收束金句 */}&#10;  &lt;Box style={{ alignItems: 'center', marginTop: 40 }}&gt;&#10;    &lt;Text style={{ fontSize: 44, fontWeight: 'bold', color: '#E9F0FB', textAlign: 'center', lineHeight: 1.45 }}&gt;让负荷预测从一次性项目，&lt;br/&gt;变成 &lt;span style={{ color: '#0891B2' }}&gt;持续自我适应&lt;/span&gt; 的基础能力&lt;/Text&gt;&#10;    &lt;Box style={{ width: 64, height: 4, background: '#C2620A', marginTop: 22, borderRadius: 2 }} /&gt;&#10;    &lt;Text style={{ fontSize: 18, color: 'rgba(233,240,251,0.70)', marginTop: 18 }}&gt;烛龙 ZHULONG —— 让 Agent 指导小模型持续学习&lt;/Text&gt;&#10;    &lt;Text style={{ fontSize: 15, color: 'rgba(233,240,251,0.50)', marginTop: 24 }}&gt;期待以科技项目形式，与电科院、数字电网研究院共建真实数据验证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730"/>
          </a:solidFill>
          <a:ln/>
        </p:spPr>
        <p:txBody>
          <a:bodyPr/>
          <a:p/>
        </p:txBody>
      </p:sp>
      <p:pic>
        <p:nvPicPr>
          <p:cNvPr id="1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457200"/>
            <a:ext cx="11049000" cy="2762250"/>
          </a:xfrm>
          <a:prstGeom prst="rect">
            <a:avLst/>
          </a:prstGeom>
          <a:ln/>
        </p:spPr>
      </p:pic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3228975" y="3600450"/>
            <a:ext cx="5734050" cy="1466850"/>
          </a:xfrm>
          <a:prstGeom prst="rect"/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zh-CN" sz="3300" b="1">
                <a:solidFill>
                  <a:srgbClr val="E9F0FB"/>
                </a:solidFill>
                <a:latin typeface="PingFang SC"/>
                <a:ea typeface="PingFang SC"/>
              </a:rPr>
              <a:t>让负荷预测从一次性项目，</a:t>
            </a:r>
            <a:endParaRPr/>
          </a:p>
          <a:p>
            <a:pPr algn="ctr">
              <a:lnSpc>
                <a:spcPct val="145000"/>
              </a:lnSpc>
            </a:pPr>
            <a:r>
              <a:rPr lang="zh-CN" sz="3300" b="1">
                <a:solidFill>
                  <a:srgbClr val="E9F0FB"/>
                </a:solidFill>
                <a:latin typeface="PingFang SC"/>
                <a:ea typeface="PingFang SC"/>
              </a:rPr>
              <a:t>变成</a:t>
            </a:r>
            <a:r>
              <a:rPr lang="en-US" sz="3300" b="1">
                <a:solidFill>
                  <a:srgbClr val="E9F0FB"/>
                </a:solidFill>
                <a:latin typeface="PingFang SC"/>
                <a:ea typeface="PingFang SC"/>
              </a:rPr>
              <a:t> </a:t>
            </a:r>
            <a:r>
              <a:rPr lang="zh-CN" sz="3300" b="1">
                <a:solidFill>
                  <a:srgbClr val="0891B2"/>
                </a:solidFill>
                <a:latin typeface="PingFang SC"/>
                <a:ea typeface="PingFang SC"/>
              </a:rPr>
              <a:t>持续自我适应</a:t>
            </a:r>
            <a:r>
              <a:rPr lang="en-US" sz="3300" b="1">
                <a:solidFill>
                  <a:srgbClr val="E9F0FB"/>
                </a:solidFill>
                <a:latin typeface="PingFang SC"/>
                <a:ea typeface="PingFang SC"/>
              </a:rPr>
              <a:t> </a:t>
            </a:r>
            <a:r>
              <a:rPr lang="zh-CN" sz="3300" b="1">
                <a:solidFill>
                  <a:srgbClr val="E9F0FB"/>
                </a:solidFill>
                <a:latin typeface="PingFang SC"/>
                <a:ea typeface="PingFang SC"/>
              </a:rPr>
              <a:t>的基础能力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5791200" y="527685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C2620A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105275" y="5486400"/>
            <a:ext cx="39909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9F0FB">
                    <a:alpha val="70000"/>
                  </a:srgbClr>
                </a:solidFill>
                <a:latin typeface="PingFang SC"/>
                <a:ea typeface="PingFang SC"/>
              </a:rPr>
              <a:t>烛龙</a:t>
            </a:r>
            <a:r>
              <a:rPr lang="en-US" sz="1350">
                <a:solidFill>
                  <a:srgbClr val="E9F0FB">
                    <a:alpha val="70000"/>
                  </a:srgbClr>
                </a:solidFill>
                <a:latin typeface="PingFang SC"/>
                <a:ea typeface="PingFang SC"/>
              </a:rPr>
              <a:t> ZHULONG —— </a:t>
            </a:r>
            <a:r>
              <a:rPr lang="zh-CN" sz="1350">
                <a:solidFill>
                  <a:srgbClr val="E9F0FB">
                    <a:alpha val="70000"/>
                  </a:srgbClr>
                </a:solidFill>
                <a:latin typeface="PingFang SC"/>
                <a:ea typeface="PingFang SC"/>
              </a:rPr>
              <a:t>让</a:t>
            </a:r>
            <a:r>
              <a:rPr lang="en-US" sz="1350">
                <a:solidFill>
                  <a:srgbClr val="E9F0FB">
                    <a:alpha val="70000"/>
                  </a:srgbClr>
                </a:solidFill>
                <a:latin typeface="PingFang SC"/>
                <a:ea typeface="PingFang SC"/>
              </a:rPr>
              <a:t> Agent </a:t>
            </a:r>
            <a:r>
              <a:rPr lang="zh-CN" sz="1350">
                <a:solidFill>
                  <a:srgbClr val="E9F0FB">
                    <a:alpha val="70000"/>
                  </a:srgbClr>
                </a:solidFill>
                <a:latin typeface="PingFang SC"/>
                <a:ea typeface="PingFang SC"/>
              </a:rPr>
              <a:t>指导小模型持续学习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3952875" y="5924550"/>
            <a:ext cx="4286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9F0FB">
                    <a:alpha val="50000"/>
                  </a:srgbClr>
                </a:solidFill>
                <a:latin typeface="PingFang SC"/>
                <a:ea typeface="PingFang SC"/>
              </a:rPr>
              <a:t>期待以科技项目形式，与电科院、数字电网研究院共建真实数据验证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-571500" y="-762000"/>
            <a:ext cx="3619500" cy="3619500"/>
          </a:xfrm>
          <a:prstGeom prst="rect">
            <a:avLst/>
          </a:prstGeom>
          <a:gradFill>
            <a:gsLst>
              <a:gs pos="0">
                <a:srgbClr val="0891B2">
                  <a:alpha val="10000"/>
                </a:srgbClr>
              </a:gs>
              <a:gs pos="70000">
                <a:srgbClr val="0891B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8572500" y="3810000"/>
            <a:ext cx="4000500" cy="4000500"/>
          </a:xfrm>
          <a:prstGeom prst="rect">
            <a:avLst/>
          </a:prstGeom>
          <a:gradFill>
            <a:gsLst>
              <a:gs pos="0">
                <a:srgbClr val="C2620A">
                  <a:alpha val="10000"/>
                </a:srgbClr>
              </a:gs>
              <a:gs pos="70000">
                <a:srgbClr val="C2620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/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2026-08-29T23:19:27Z</dcterms:created>
  <dcterms:modified xsi:type="dcterms:W3CDTF">2026-08-29T23:19:27Z</dcterms:modified>
</cp:coreProperties>
</file>