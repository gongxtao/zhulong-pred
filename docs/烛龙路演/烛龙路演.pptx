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viewProps" Target="viewProps.xml" /><Relationship Id="rId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 '1280px', height: '720px', background: '#0B1730', position: 'relative', fontFamily: &quot;'PingFang SC','Noto Sans SC',sans-serif&quot;, padding: 0 }}&gt;&#10;&#10;  &lt;svg width={1280} height={720} viewBox=&quot;0 0 1280 720&quot; style={{ position: 'absolute', top: 0, left: 0 }}&gt;&#10;    {/* 夜航微光网格 */}&#10;    &lt;g stroke=&quot;rgba(233,240,251,0.05)&quot; strokeWidth=&quot;1&quot;&gt;&#10;      &lt;line x1=&quot;60&quot; y1=&quot;80&quot; x2=&quot;1220&quot; y2=&quot;80&quot; /&gt;&#10;      &lt;line x1=&quot;60&quot; y1=&quot;170&quot; x2=&quot;1220&quot; y2=&quot;170&quot; /&gt;&#10;      &lt;line x1=&quot;60&quot; y1=&quot;350&quot; x2=&quot;1220&quot; y2=&quot;350&quot; /&gt;&#10;      &lt;line x1=&quot;60&quot; y1=&quot;440&quot; x2=&quot;1220&quot; y2=&quot;440&quot; /&gt;&#10;      &lt;line x1=&quot;60&quot; y1=&quot;530&quot; x2=&quot;1220&quot; y2=&quot;530&quot; /&gt;&#10;      &lt;line x1=&quot;236&quot; y1=&quot;60&quot; x2=&quot;236&quot; y2=&quot;545&quot; /&gt;&#10;      &lt;line x1=&quot;412&quot; y1=&quot;60&quot; x2=&quot;412&quot; y2=&quot;545&quot; /&gt;&#10;      &lt;line x1=&quot;588&quot; y1=&quot;60&quot; x2=&quot;588&quot; y2=&quot;545&quot; /&gt;&#10;      &lt;line x1=&quot;764&quot; y1=&quot;60&quot; x2=&quot;764&quot; y2=&quot;545&quot; /&gt;&#10;      &lt;line x1=&quot;940&quot; y1=&quot;60&quot; x2=&quot;940&quot; y2=&quot;545&quot; /&gt;&#10;      &lt;line x1=&quot;1116&quot; y1=&quot;60&quot; x2=&quot;1116&quot; y2=&quot;545&quot; /&gt;&#10;    &lt;/g&gt;&#10;    {/* 星点 */}&#10;    &lt;g fill=&quot;rgba(233,240,251,0.14)&quot;&gt;&#10;      &lt;circle cx=&quot;180&quot; cy=&quot;70&quot; r=&quot;1.6&quot; /&gt;&#10;      &lt;circle cx=&quot;520&quot; cy=&quot;55&quot; r=&quot;1.3&quot; /&gt;&#10;      &lt;circle cx=&quot;700&quot; cy=&quot;95&quot; r=&quot;1.8&quot; /&gt;&#10;      &lt;circle cx=&quot;1180&quot; cy=&quot;60&quot; r=&quot;1.4&quot; /&gt;&#10;      &lt;circle cx=&quot;90&quot; cy=&quot;120&quot; r=&quot;1.4&quot; /&gt;&#10;    &lt;/g&gt;&#10;    {/* 实际负荷下方淡填充 */}&#10;    &lt;path d=&quot;M 60 470 C 120 500, 160 510, 220 505 C 300 498, 340 440, 420 400 C 500 360, 560 350, 640 330 C 700 315, 760 300, 820 268 C 850 252, 870 246, 880 244 C 900 248, 940 300, 1000 380 C 1060 450, 1120 480, 1220 500 L 1220 560 L 60 560 Z&quot; fill=&quot;rgba(8,145,178,0.07)&quot; /&gt;&#10;    {/* 变压器重过载阈值 */}&#10;    &lt;line x1=&quot;60&quot; y1=&quot;300&quot; x2=&quot;1220&quot; y2=&quot;300&quot; stroke=&quot;rgba(233,240,251,0.35)&quot; strokeWidth=&quot;1.5&quot; strokeDasharray=&quot;10 6&quot; /&gt;&#10;    &lt;text x=&quot;66&quot; y=&quot;292&quot; fontSize=&quot;14&quot; fill=&quot;rgba(233,240,251,0.55)&quot; fontFamily=&quot;'PingFang SC',sans-serif&quot;&gt;变压器重过载阈值&lt;/text&gt;&#10;    {/* 预测低估的实际峰值区域 */}&#10;    &lt;path d=&quot;M 700 342 C 760 327, 820 295, 880 255 C 900 259, 940 311, 1000 391 L 1000 396 C 940 341, 900 305, 880 301 C 820 323, 760 331, 700 341 Z&quot; fill=&quot;rgba(194,98,10,0.18)&quot; /&gt;&#10;    {/* 预测负荷（琥珀虚线，峰值被低估） */}&#10;    &lt;path d=&quot;M 60 470 C 120 500, 160 510, 220 505 C 300 498, 340 442, 420 402 C 500 364, 560 354, 640 340 C 700 330, 760 322, 820 310 C 850 306, 870 302, 880 300 C 900 304, 940 340, 1000 395 C 1060 455, 1120 482, 1220 500&quot; fill=&quot;none&quot; stroke=&quot;#C2620A&quot; strokeWidth=&quot;2.5&quot; strokeDasharray=&quot;12 8&quot; /&gt;&#10;    {/* 实际负荷（青实线，冲过阈值） */}&#10;    &lt;path d=&quot;M 60 470 C 120 500, 160 510, 220 505 C 300 498, 340 440, 420 400 C 500 360, 560 350, 640 330 C 700 315, 760 300, 820 268 C 850 252, 870 246, 880 244 C 900 248, 940 300, 1000 380 C 1060 450, 1120 480, 1220 500&quot; fill=&quot;none&quot; stroke=&quot;#0891B2&quot; strokeWidth=&quot;3&quot; /&gt;&#10;    {/* 曲线标签 */}&#10;    &lt;text x=&quot;1010&quot; y=&quot;360&quot; fontSize=&quot;16&quot; fontWeight=&quot;bold&quot; fill=&quot;#0891B2&quot; fontFamily=&quot;'PingFang SC',sans-serif&quot;&gt;实际负荷&lt;/text&gt;&#10;    &lt;text x=&quot;1010&quot; y=&quot;432&quot; fontSize=&quot;16&quot; fontWeight=&quot;bold&quot; fill=&quot;#C2620A&quot; fontFamily=&quot;'PingFang SC',sans-serif&quot;&gt;预测负荷&lt;/text&gt;&#10;    {/* 峰值标记 */}&#10;    &lt;circle cx=&quot;880&quot; cy=&quot;244&quot; r=&quot;12&quot; fill=&quot;rgba(194,98,10,0.25)&quot; /&gt;&#10;    &lt;path d=&quot;M 880 226 L 891 244 L 869 244 Z&quot; fill=&quot;#C2620A&quot; /&gt;&#10;    &lt;text x=&quot;898&quot; y=&quot;238&quot; fontSize=&quot;15&quot; fontWeight=&quot;bold&quot; fill=&quot;#E9F0FB&quot; fontFamily=&quot;'PingFang SC',sans-serif&quot;&gt;未预见的实际峰值&lt;/text&gt;&#10;    {/* 风险链连接线 */}&#10;    &lt;path d=&quot;M 950 148 L 890 220&quot; stroke=&quot;rgba(194,98,10,0.5)&quot; strokeWidth=&quot;1.5&quot; strokeDasharray=&quot;4 4&quot; fill=&quot;none&quot; /&gt;&#10;    {/* 风险链三节 */}&#10;    &lt;text x=&quot;690&quot; y=&quot;90&quot; fontSize=&quot;13&quot; fill=&quot;rgba(233,240,251,0.55)&quot; letterSpacing=&quot;3&quot; fontFamily=&quot;'PingFang SC',sans-serif&quot;&gt;风 险 链&lt;/text&gt;&#10;    &lt;g fontFamily=&quot;'PingFang SC',sans-serif&quot;&gt;&#10;      &lt;rect x=&quot;690&quot; y=&quot;102&quot; width=&quot;150&quot; height=&quot;46&quot; rx=&quot;8&quot; fill=&quot;rgba(194,98,10,0.10)&quot; stroke=&quot;rgba(194,98,10,0.55)&quot; strokeWidth=&quot;1&quot; /&gt;&#10;      &lt;text x=&quot;765&quot; y=&quot;131&quot; fontSize=&quot;16&quot; fill=&quot;#E9F0FB&quot; textAnchor=&quot;middle&quot;&gt;未预见峰值&lt;/text&gt;&#10;      &lt;path d=&quot;M 848 125 L 866 125 L 860 120 L 866 125 L 860 130 Z&quot; fill=&quot;rgba(194,98,10,0.8)&quot; /&gt;&#10;      &lt;rect x=&quot;872&quot; y=&quot;102&quot; width=&quot;150&quot; height=&quot;46&quot; rx=&quot;8&quot; fill=&quot;rgba(194,98,10,0.16)&quot; stroke=&quot;rgba(194,98,10,0.65)&quot; strokeWidth=&quot;1&quot; /&gt;&#10;      &lt;text x=&quot;947&quot; y=&quot;131&quot; fontSize=&quot;16&quot; fill=&quot;#E9F0FB&quot; textAnchor=&quot;middle&quot;&gt;持续重过载&lt;/text&gt;&#10;      &lt;path d=&quot;M 1030 125 L 1048 125 L 1042 120 L 1048 125 L 1042 130 Z&quot; fill=&quot;rgba(194,98,10,0.8)&quot; /&gt;&#10;      &lt;rect x=&quot;1054&quot; y=&quot;102&quot; width=&quot;140&quot; height=&quot;46&quot; rx=&quot;8&quot; fill=&quot;rgba(194,98,10,0.30)&quot; stroke=&quot;#C2620A&quot; strokeWidth=&quot;1.5&quot; /&gt;&#10;      &lt;text x=&quot;1124&quot; y=&quot;131&quot; fontSize=&quot;16&quot; fontWeight=&quot;bold&quot; fill=&quot;#E9F0FB&quot; textAnchor=&quot;middle&quot;&gt;设备损坏&lt;/text&gt;&#10;    &lt;/g&gt;&#10;  &lt;/svg&gt;&#10;&#10;  {/* 骑线主标题区 */}&#10;  &lt;Box style={{ position: 'absolute', left: 60, top: 540, width: 820 }}&gt;&#10;    &lt;Text style={{ fontSize: 64, fontWeight: 'bold', color: '#E9F0FB', lineHeight: 1.15, letterSpacing: 6 }}&gt;烛龙 ZHULONG&lt;/Text&gt;&#10;    &lt;Box style={{ width: 56, height: 4, background: '#0891B2', marginTop: 12, borderRadius: 2 }} /&gt;&#10;    &lt;Text style={{ fontSize: 22, color: 'rgba(233,240,251,0.80)', marginTop: 14 }}&gt;面向电力负荷预测持续学习的智能引擎&lt;/Text&gt;&#10;    &lt;Text style={{ fontSize: 17, color: 'rgba(233,240,251,0.60)', marginTop: 8 }}&gt;让 Agent 指导小模型持续学习&lt;/Text&gt;&#10;  &lt;/Box&gt;&#10;&#10;  {/* 落款 */}&#10;  &lt;Text style={{ position: 'absolute', right: 60, bottom: 26, fontSize: 12, color: 'rgba(233,240,251,0.40)' }}&gt;贵州黑客松 · 赛道二 · 2026.0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73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5143500"/>
            <a:ext cx="78105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 spc="450">
                <a:solidFill>
                  <a:srgbClr val="E9F0FB"/>
                </a:solidFill>
                <a:latin typeface="PingFang SC"/>
                <a:ea typeface="PingFang SC"/>
              </a:rPr>
              <a:t>烛龙</a:t>
            </a:r>
            <a:r>
              <a:rPr lang="en-US" sz="4800" b="1" spc="450">
                <a:solidFill>
                  <a:srgbClr val="E9F0FB"/>
                </a:solidFill>
                <a:latin typeface="PingFang SC"/>
                <a:ea typeface="PingFang SC"/>
              </a:rPr>
              <a:t> ZHULONG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571500" y="61055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6276975"/>
            <a:ext cx="781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9F0FB">
                    <a:alpha val="80000"/>
                  </a:srgbClr>
                </a:solidFill>
                <a:latin typeface="PingFang SC"/>
                <a:ea typeface="PingFang SC"/>
              </a:rPr>
              <a:t>面向电力负荷预测持续学习的智能引擎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6610350"/>
            <a:ext cx="781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0FB">
                    <a:alpha val="60000"/>
                  </a:srgbClr>
                </a:solidFill>
                <a:latin typeface="PingFang SC"/>
                <a:ea typeface="PingFang SC"/>
              </a:rPr>
              <a:t>让</a:t>
            </a:r>
            <a:r>
              <a:rPr lang="en-US" sz="1275">
                <a:solidFill>
                  <a:srgbClr val="E9F0FB">
                    <a:alpha val="60000"/>
                  </a:srgbClr>
                </a:solidFill>
                <a:latin typeface="PingFang SC"/>
                <a:ea typeface="PingFang SC"/>
              </a:rPr>
              <a:t> Agent </a:t>
            </a:r>
            <a:r>
              <a:rPr lang="zh-CN" sz="1275">
                <a:solidFill>
                  <a:srgbClr val="E9F0FB">
                    <a:alpha val="60000"/>
                  </a:srgbClr>
                </a:solidFill>
                <a:latin typeface="PingFang SC"/>
                <a:ea typeface="PingFang SC"/>
              </a:rPr>
              <a:t>指导小模型持续学习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991725" y="6467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9F0FB">
                    <a:alpha val="40000"/>
                  </a:srgbClr>
                </a:solidFill>
                <a:latin typeface="PingFang SC"/>
                <a:ea typeface="PingFang SC"/>
              </a:rPr>
              <a:t>贵州黑客松</a:t>
            </a:r>
            <a:r>
              <a:rPr lang="en-US" sz="900">
                <a:solidFill>
                  <a:srgbClr val="E9F0FB">
                    <a:alpha val="4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00">
                <a:solidFill>
                  <a:srgbClr val="E9F0FB">
                    <a:alpha val="40000"/>
                  </a:srgbClr>
                </a:solidFill>
                <a:latin typeface="PingFang SC"/>
                <a:ea typeface="PingFang SC"/>
              </a:rPr>
              <a:t>赛道二</a:t>
            </a:r>
            <a:r>
              <a:rPr lang="en-US" sz="900">
                <a:solidFill>
                  <a:srgbClr val="E9F0FB">
                    <a:alpha val="40000"/>
                  </a:srgbClr>
                </a:solidFill>
                <a:latin typeface="PingFang SC"/>
                <a:ea typeface="PingFang SC"/>
              </a:rPr>
              <a:t> · 2026.08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2026-08-29T22:59:04Z</dcterms:created>
  <dcterms:modified xsi:type="dcterms:W3CDTF">2026-08-29T22:59:04Z</dcterms:modified>
</cp:coreProperties>
</file>